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DEC"/>
    <a:srgbClr val="CB00CC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8A259-EC5C-486F-8E25-9A7145B17D3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84B5D-137E-4885-9181-B35E089F3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7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084B5D-137E-4885-9181-B35E089F35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3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28BA-F2F2-AA9B-85C4-BE88A748B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8453A-AE22-B256-30C8-A64C8C05B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BF810-265E-36E0-C941-6A005F14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181B7-F75B-4CAC-910F-B825BC47056C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610A0-4144-CB70-B4B8-1080F8ED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A858-95D0-80B4-AEDA-415AF441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C31A-25EE-5F27-3E99-8BB74BDA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CFDF4-34B8-DDD0-73C3-D00F97809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AFACB-13F9-74BA-F81F-516B542E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9B5B-CA09-42CB-83E9-BBBFD42ED5F0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3A8DF-8C00-8ECA-0A62-22B90FE6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B4735-219D-8E53-14C0-40A9F773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2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3F49-2B4E-2B7F-3D1B-74B33A21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16C52-E706-DBB0-3BA4-C11CA954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C4408-C7A5-A98D-418E-96D471D7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EE328-8190-4917-B253-C41479A4C94E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491E7-0912-6CEB-462E-C4E80416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176C1-A3BD-5F68-F615-D77FDDAA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7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8B60-124A-705D-CDF9-67B0D1D2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28E2-5B64-1C6E-6D8A-16DDE85B2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71486-48B3-630A-E450-9795DEE19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52B4F-756A-1D81-6B9E-F28FD02A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81B23-06A0-4217-9ACE-3776A71895D9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12180-853E-6718-FFE4-71A59D29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63474-2CDD-F14E-2EC6-8F54A9CB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0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D403-EF0E-FCA8-F71A-A1380DBD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9ED11-04A9-230B-7BCA-2E8619524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3BE01-6D94-B4D1-36A3-B90CEE4FE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F8835-9358-0D7A-6AA5-980C1F26B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0BD4A-9307-078C-1B03-7C9301865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FEEB5-F0F6-A764-2C54-F692E932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4569-0034-4FF7-9171-BCAFBDFA9C15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1F987-CFE4-4A4E-2A3E-C7EB947B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1E885-D3A2-262A-9196-6FFABA16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8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2CDF-7353-4B17-154F-14C6C36D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DAABE-6F8B-4926-6134-1FE1B9F8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5D85F-DE8E-4A97-AB1E-4602C448F99D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A9D91-8321-3637-2369-DB55AD21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A7C1A-612E-EC85-324D-6D3225C6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5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48C74-10E0-9161-8EFD-5EFA3BAB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ED3B-7404-42DF-BCD9-1F3D4B6539AD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4B529-9C51-F80E-0161-FE3CD3C7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134FD-548C-D5C7-7EE9-E84B8A3D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8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BE4D-8AE0-7D76-B9E2-8C11C350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D3A5-7511-6E96-FA9F-C0B7D9FF2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AF36E-7A2D-615C-E80B-B4EEA006E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7EF8E-D1CE-6894-CC4A-ABE89C47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DA05B-F832-4EBA-9D1C-89D893943A8C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D7909-52CA-9EC1-A145-53D793E8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F8DD3-FF0D-0C69-977F-E4BF82AA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0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BBD1-32E4-07CD-677A-4234179B6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BD5DC-E384-246E-166E-96400D5E5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D1C13-F534-BBA9-B6A7-1C002AF3B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A9117-EBE5-09A6-7CD9-836018D5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E1073-9904-45D5-8D36-9A7A2DCD4ECD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980C7-88FB-E343-E142-CD61BBB9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25CAE-EC46-6BAF-B71B-8F837184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0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9FA-0F20-6BE4-27C4-85AA0F5B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EEA0D-556C-5DC9-FBDC-1A0FA928D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B377-4F08-3F3F-726E-ED4B6BB7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8E73-191B-4B89-9848-0B7D314020B6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8D4C-A882-18EA-3304-4A938D33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4DD9A-8CF4-81A2-B3F2-0E0BB0CF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4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E2187-8BED-D821-B049-E81FE34EC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FD67E-C3AB-7B2A-A2CA-A73631C6C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89B3A-EE6F-BEBE-743A-431AA78F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131E-0066-4490-9B2D-BA13FDF09EE7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9BF4B-39A0-90C7-6779-958C7A7C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FE8C-539C-9DE2-9D2B-FDA80BEB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0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45761-6FC6-27BF-C01E-640D24654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C0511-7138-CFC9-6BE8-A46F0069C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8992D-B164-28C2-5A77-9D2B6507B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07FC7-4E78-4155-AEE4-1AE0FFA4173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7344-E586-A80A-9E34-D4E4B770B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244D-CD63-B26C-B970-26DF2F937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34812-C56D-238D-2A78-9B68B232731F}"/>
              </a:ext>
            </a:extLst>
          </p:cNvPr>
          <p:cNvSpPr txBox="1"/>
          <p:nvPr/>
        </p:nvSpPr>
        <p:spPr>
          <a:xfrm>
            <a:off x="2583139" y="2684947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Scope: replication of the static optimizers, NSGA-II parameters, and SLA constraints.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4F897-EB58-F7FF-BE39-037C18CD2CF4}"/>
              </a:ext>
            </a:extLst>
          </p:cNvPr>
          <p:cNvSpPr txBox="1"/>
          <p:nvPr/>
        </p:nvSpPr>
        <p:spPr>
          <a:xfrm>
            <a:off x="2583139" y="4377832"/>
            <a:ext cx="793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Reference: Agoran: An Agentic Open Marketplace for 6G RAN Automation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29C517-0F66-3D13-01B1-B150F5BF1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99A00-B249-2A80-BBF5-40736F4F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1C693-F217-7AD1-647D-DD4EFDA549D9}"/>
              </a:ext>
            </a:extLst>
          </p:cNvPr>
          <p:cNvSpPr txBox="1"/>
          <p:nvPr/>
        </p:nvSpPr>
        <p:spPr>
          <a:xfrm>
            <a:off x="2583139" y="3136428"/>
            <a:ext cx="6094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Multi-objective optimization is used when improving one objective may degrade another. NSGA-II helps identify tradeoffs among throughput, latency, cost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06D836-7704-8D9A-FDA8-F464667B0499}"/>
              </a:ext>
            </a:extLst>
          </p:cNvPr>
          <p:cNvSpPr txBox="1"/>
          <p:nvPr/>
        </p:nvSpPr>
        <p:spPr>
          <a:xfrm>
            <a:off x="2583139" y="1720542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1" dirty="0"/>
            </a:br>
            <a:r>
              <a:rPr lang="en-US" b="1" i="0" dirty="0">
                <a:solidFill>
                  <a:srgbClr val="1A1C1F"/>
                </a:solidFill>
                <a:effectLst/>
                <a:latin typeface="ui-monospace"/>
              </a:rPr>
              <a:t>NSGA-II Baseline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2EC67B-DA38-E039-768A-1867DAF24EBC}"/>
              </a:ext>
            </a:extLst>
          </p:cNvPr>
          <p:cNvSpPr txBox="1"/>
          <p:nvPr/>
        </p:nvSpPr>
        <p:spPr>
          <a:xfrm>
            <a:off x="4645403" y="6444476"/>
            <a:ext cx="6094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NSGA-II (Non-Dominated Sorting Genetic Algorithm II)</a:t>
            </a:r>
          </a:p>
        </p:txBody>
      </p:sp>
    </p:spTree>
    <p:extLst>
      <p:ext uri="{BB962C8B-B14F-4D97-AF65-F5344CB8AC3E}">
        <p14:creationId xmlns:p14="http://schemas.microsoft.com/office/powerpoint/2010/main" val="3430978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7F9029-DFE4-EC50-6688-69F11DC7812A}"/>
              </a:ext>
            </a:extLst>
          </p:cNvPr>
          <p:cNvSpPr txBox="1"/>
          <p:nvPr/>
        </p:nvSpPr>
        <p:spPr>
          <a:xfrm>
            <a:off x="2183674" y="970643"/>
            <a:ext cx="1117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 dirty="0"/>
              <a:t>Global Resource Limits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79691D-5FD8-46E8-3222-E82EB2CB5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40101"/>
              </p:ext>
            </p:extLst>
          </p:nvPr>
        </p:nvGraphicFramePr>
        <p:xfrm>
          <a:off x="2183674" y="1705429"/>
          <a:ext cx="8138160" cy="3703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355745354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235555237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r>
                        <a:rPr lang="en-US" sz="1400" b="1" dirty="0"/>
                        <a:t>Resource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Max Limit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99839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400" b="1" dirty="0"/>
                        <a:t>Bandwidth (MHz)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300.0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463388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400" b="1" dirty="0"/>
                        <a:t>Compute (units)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500.0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6644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Power (W)</a:t>
                      </a:r>
                    </a:p>
                    <a:p>
                      <a:endParaRPr lang="en-US" sz="14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100.0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36920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400" b="1" dirty="0"/>
                        <a:t>Storage MB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300.0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83749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01220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F2609-C94B-F26D-9BDA-CCE8BDF9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E696F1C-CA2E-E308-20E5-72A1BEAF3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32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CC087-3411-ECA4-EE41-483E597D1C33}"/>
              </a:ext>
            </a:extLst>
          </p:cNvPr>
          <p:cNvSpPr txBox="1"/>
          <p:nvPr/>
        </p:nvSpPr>
        <p:spPr>
          <a:xfrm>
            <a:off x="2269067" y="729464"/>
            <a:ext cx="1117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 dirty="0"/>
              <a:t>SLA Constraints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ABFC58-E852-2CEF-CB7D-B90A0E7D8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58396"/>
              </p:ext>
            </p:extLst>
          </p:nvPr>
        </p:nvGraphicFramePr>
        <p:xfrm>
          <a:off x="2269067" y="1481667"/>
          <a:ext cx="7780624" cy="3703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45156">
                  <a:extLst>
                    <a:ext uri="{9D8B030D-6E8A-4147-A177-3AD203B41FA5}">
                      <a16:colId xmlns:a16="http://schemas.microsoft.com/office/drawing/2014/main" val="2093915880"/>
                    </a:ext>
                  </a:extLst>
                </a:gridCol>
                <a:gridCol w="2003697">
                  <a:extLst>
                    <a:ext uri="{9D8B030D-6E8A-4147-A177-3AD203B41FA5}">
                      <a16:colId xmlns:a16="http://schemas.microsoft.com/office/drawing/2014/main" val="366024741"/>
                    </a:ext>
                  </a:extLst>
                </a:gridCol>
                <a:gridCol w="1886615">
                  <a:extLst>
                    <a:ext uri="{9D8B030D-6E8A-4147-A177-3AD203B41FA5}">
                      <a16:colId xmlns:a16="http://schemas.microsoft.com/office/drawing/2014/main" val="2627093633"/>
                    </a:ext>
                  </a:extLst>
                </a:gridCol>
                <a:gridCol w="1945156">
                  <a:extLst>
                    <a:ext uri="{9D8B030D-6E8A-4147-A177-3AD203B41FA5}">
                      <a16:colId xmlns:a16="http://schemas.microsoft.com/office/drawing/2014/main" val="3617304390"/>
                    </a:ext>
                  </a:extLst>
                </a:gridCol>
              </a:tblGrid>
              <a:tr h="740664">
                <a:tc>
                  <a:txBody>
                    <a:bodyPr/>
                    <a:lstStyle/>
                    <a:p>
                      <a:r>
                        <a:rPr lang="en-US" sz="1400" b="1" dirty="0"/>
                        <a:t>Slice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Throughput Min (Mbps)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Latency Max (ms)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Cost Max (EUR)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858746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US" sz="1400" b="1" dirty="0"/>
                        <a:t>eMBB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60.0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10.0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200.0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315965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US" sz="1400" b="1"/>
                        <a:t>URLLC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200.0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234320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US" sz="1400" b="1" dirty="0"/>
                        <a:t>mMTC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20.0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10.0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30.0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23762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13292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BF4F-F1E8-0B9D-7B0D-3020AB46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02FA48A-BAB0-CF00-4332-CA52A9E25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70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8D3C87-0086-0A9C-7B36-08FEBBFCB14F}"/>
              </a:ext>
            </a:extLst>
          </p:cNvPr>
          <p:cNvSpPr txBox="1"/>
          <p:nvPr/>
        </p:nvSpPr>
        <p:spPr>
          <a:xfrm>
            <a:off x="2128543" y="821872"/>
            <a:ext cx="1117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 dirty="0"/>
              <a:t>KPIs of Best Solution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681D2E-F0F9-91BD-6799-8629D5317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167253"/>
              </p:ext>
            </p:extLst>
          </p:nvPr>
        </p:nvGraphicFramePr>
        <p:xfrm>
          <a:off x="2187810" y="1655839"/>
          <a:ext cx="7781545" cy="3703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56309">
                  <a:extLst>
                    <a:ext uri="{9D8B030D-6E8A-4147-A177-3AD203B41FA5}">
                      <a16:colId xmlns:a16="http://schemas.microsoft.com/office/drawing/2014/main" val="2629997357"/>
                    </a:ext>
                  </a:extLst>
                </a:gridCol>
                <a:gridCol w="1556309">
                  <a:extLst>
                    <a:ext uri="{9D8B030D-6E8A-4147-A177-3AD203B41FA5}">
                      <a16:colId xmlns:a16="http://schemas.microsoft.com/office/drawing/2014/main" val="1837638165"/>
                    </a:ext>
                  </a:extLst>
                </a:gridCol>
                <a:gridCol w="1556309">
                  <a:extLst>
                    <a:ext uri="{9D8B030D-6E8A-4147-A177-3AD203B41FA5}">
                      <a16:colId xmlns:a16="http://schemas.microsoft.com/office/drawing/2014/main" val="1410994504"/>
                    </a:ext>
                  </a:extLst>
                </a:gridCol>
                <a:gridCol w="1556309">
                  <a:extLst>
                    <a:ext uri="{9D8B030D-6E8A-4147-A177-3AD203B41FA5}">
                      <a16:colId xmlns:a16="http://schemas.microsoft.com/office/drawing/2014/main" val="3778708650"/>
                    </a:ext>
                  </a:extLst>
                </a:gridCol>
                <a:gridCol w="1556309">
                  <a:extLst>
                    <a:ext uri="{9D8B030D-6E8A-4147-A177-3AD203B41FA5}">
                      <a16:colId xmlns:a16="http://schemas.microsoft.com/office/drawing/2014/main" val="272728272"/>
                    </a:ext>
                  </a:extLst>
                </a:gridCol>
              </a:tblGrid>
              <a:tr h="740664">
                <a:tc>
                  <a:txBody>
                    <a:bodyPr/>
                    <a:lstStyle/>
                    <a:p>
                      <a:r>
                        <a:rPr lang="en-US" sz="1400" b="1" dirty="0"/>
                        <a:t>Slice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Throughput (Mbps)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Latency (ms)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Cost EUR (EUR)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Energy (W)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154845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US" sz="1200" b="1" dirty="0"/>
                        <a:t>eMBB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730.6518</a:t>
                      </a:r>
                    </a:p>
                    <a:p>
                      <a:endParaRPr lang="en-US" sz="1200" b="1" dirty="0"/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0.03286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10.0226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11.1520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15324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US" sz="1200" b="1" dirty="0"/>
                        <a:t>URLLC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212.4432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0.03395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38.24082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1.4455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85770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US" sz="1200" b="1" dirty="0"/>
                        <a:t>mMTC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415.9288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4.0881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58.8746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469432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47868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A58E6-5358-411F-9D3C-A7B39C4E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BAE3F7-1F5F-B569-13E7-44E87547D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49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7E6E-D05E-6AB2-41F5-376EFA6C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592" y="501559"/>
            <a:ext cx="7933265" cy="1325563"/>
          </a:xfrm>
        </p:spPr>
        <p:txBody>
          <a:bodyPr>
            <a:normAutofit/>
          </a:bodyPr>
          <a:lstStyle/>
          <a:p>
            <a:r>
              <a:rPr lang="fr-FR" sz="3000" b="1" dirty="0"/>
              <a:t>Front 0 Pareto Solutions: Slice KPIs</a:t>
            </a:r>
            <a:endParaRPr lang="en-US" sz="30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6D2988-C95B-3C9D-1D3F-037F552BA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192966"/>
              </p:ext>
            </p:extLst>
          </p:nvPr>
        </p:nvGraphicFramePr>
        <p:xfrm>
          <a:off x="2026798" y="1594033"/>
          <a:ext cx="8858916" cy="461494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6259">
                  <a:extLst>
                    <a:ext uri="{9D8B030D-6E8A-4147-A177-3AD203B41FA5}">
                      <a16:colId xmlns:a16="http://schemas.microsoft.com/office/drawing/2014/main" val="639448806"/>
                    </a:ext>
                  </a:extLst>
                </a:gridCol>
                <a:gridCol w="1549541">
                  <a:extLst>
                    <a:ext uri="{9D8B030D-6E8A-4147-A177-3AD203B41FA5}">
                      <a16:colId xmlns:a16="http://schemas.microsoft.com/office/drawing/2014/main" val="793081608"/>
                    </a:ext>
                  </a:extLst>
                </a:gridCol>
                <a:gridCol w="1946172">
                  <a:extLst>
                    <a:ext uri="{9D8B030D-6E8A-4147-A177-3AD203B41FA5}">
                      <a16:colId xmlns:a16="http://schemas.microsoft.com/office/drawing/2014/main" val="1132428735"/>
                    </a:ext>
                  </a:extLst>
                </a:gridCol>
                <a:gridCol w="1509772">
                  <a:extLst>
                    <a:ext uri="{9D8B030D-6E8A-4147-A177-3AD203B41FA5}">
                      <a16:colId xmlns:a16="http://schemas.microsoft.com/office/drawing/2014/main" val="4122116979"/>
                    </a:ext>
                  </a:extLst>
                </a:gridCol>
                <a:gridCol w="1310979">
                  <a:extLst>
                    <a:ext uri="{9D8B030D-6E8A-4147-A177-3AD203B41FA5}">
                      <a16:colId xmlns:a16="http://schemas.microsoft.com/office/drawing/2014/main" val="2408932298"/>
                    </a:ext>
                  </a:extLst>
                </a:gridCol>
                <a:gridCol w="1006193">
                  <a:extLst>
                    <a:ext uri="{9D8B030D-6E8A-4147-A177-3AD203B41FA5}">
                      <a16:colId xmlns:a16="http://schemas.microsoft.com/office/drawing/2014/main" val="2548138328"/>
                    </a:ext>
                  </a:extLst>
                </a:gridCol>
              </a:tblGrid>
              <a:tr h="33666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Slice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Throughput </a:t>
                      </a:r>
                      <a:r>
                        <a:rPr lang="en-US" sz="1400" b="1" dirty="0"/>
                        <a:t>(Mbps)</a:t>
                      </a:r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Latency (ms)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Cost </a:t>
                      </a:r>
                      <a:r>
                        <a:rPr lang="en-US" sz="1400" b="1" dirty="0"/>
                        <a:t>(EUR)</a:t>
                      </a:r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Energy </a:t>
                      </a:r>
                      <a:r>
                        <a:rPr lang="en-US" sz="1400" b="1" dirty="0"/>
                        <a:t>(W)</a:t>
                      </a:r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99082"/>
                  </a:ext>
                </a:extLst>
              </a:tr>
              <a:tr h="336665">
                <a:tc rowSpan="3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eMBB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559.3714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0.0429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1.6172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60.3036</a:t>
                      </a:r>
                    </a:p>
                  </a:txBody>
                  <a:tcP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76959"/>
                  </a:ext>
                </a:extLst>
              </a:tr>
              <a:tr h="3366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URLLC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344.6937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 0.0209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2.2034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1.4455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846006"/>
                  </a:ext>
                </a:extLst>
              </a:tr>
              <a:tr h="33666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mMTC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415.9288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0.1155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11.7710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31.7038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562325"/>
                  </a:ext>
                </a:extLst>
              </a:tr>
              <a:tr h="336665">
                <a:tc rowSpan="3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eMBB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454.9465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0.0528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5.1339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2.0864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393198"/>
                  </a:ext>
                </a:extLst>
              </a:tr>
              <a:tr h="3366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URLLC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 206.6346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0.0349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2.2034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1.4455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62394"/>
                  </a:ext>
                </a:extLst>
              </a:tr>
              <a:tr h="33666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mMTC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209.5738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0.2296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12.9685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2.6128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854285"/>
                  </a:ext>
                </a:extLst>
              </a:tr>
              <a:tr h="336665">
                <a:tc rowSpan="3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eMBB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523.1036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0.0459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1.6172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60.3036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54559"/>
                  </a:ext>
                </a:extLst>
              </a:tr>
              <a:tr h="3366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URLLC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344.6937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0.0209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59.0540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48.8602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94641"/>
                  </a:ext>
                </a:extLst>
              </a:tr>
              <a:tr h="33666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mMTC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415.9288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0.1156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0.7999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12.8241</a:t>
                      </a:r>
                      <a:endParaRPr lang="en-US" sz="12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42701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CB00CC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2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05601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2B728-60F6-8F5B-0436-C23CD3F3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55DAE70-507C-75A8-D4DB-57F08DF5A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4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5BF8-4218-AC24-662B-2E6D24D2A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38999"/>
            <a:ext cx="10515600" cy="1325563"/>
          </a:xfrm>
        </p:spPr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FD21B-C6CA-3992-E7CD-6F1FDE869FA3}"/>
              </a:ext>
            </a:extLst>
          </p:cNvPr>
          <p:cNvSpPr txBox="1"/>
          <p:nvPr/>
        </p:nvSpPr>
        <p:spPr>
          <a:xfrm>
            <a:off x="762000" y="1270000"/>
            <a:ext cx="76200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dirty="0"/>
              <a:t>The NSGA-II configuration used in this implementation includes:</a:t>
            </a:r>
          </a:p>
          <a:p>
            <a:endParaRPr lang="en-US" sz="2000" dirty="0"/>
          </a:p>
          <a:p>
            <a:r>
              <a:rPr lang="en-US" sz="2000" dirty="0"/>
              <a:t>- num_generations = 100</a:t>
            </a:r>
          </a:p>
          <a:p>
            <a:r>
              <a:rPr lang="en-US" sz="2000" dirty="0"/>
              <a:t>- sol_per_pop = 60</a:t>
            </a:r>
          </a:p>
          <a:p>
            <a:r>
              <a:rPr lang="en-US" sz="2000" dirty="0"/>
              <a:t>- num_parents_mating = 10</a:t>
            </a:r>
          </a:p>
          <a:p>
            <a:r>
              <a:rPr lang="en-US" sz="2000" dirty="0"/>
              <a:t>- parent_selection_type = "nsga2"</a:t>
            </a:r>
          </a:p>
          <a:p>
            <a:r>
              <a:rPr lang="en-US" sz="2000" dirty="0"/>
              <a:t>- mutation_percent_genes = 10</a:t>
            </a:r>
          </a:p>
          <a:p>
            <a:r>
              <a:rPr lang="en-US" sz="2000" dirty="0"/>
              <a:t>- crossover_probability = 0.1</a:t>
            </a:r>
          </a:p>
          <a:p>
            <a:r>
              <a:rPr lang="en-US" sz="2000" dirty="0"/>
              <a:t>- pygad == 3.2.0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177E7-4A8B-8EE6-15AC-F9638A35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80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294</Words>
  <Application>Microsoft Office PowerPoint</Application>
  <PresentationFormat>Widescreen</PresentationFormat>
  <Paragraphs>137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Front 0 Pareto Solutions: Slice KPIs</vt:lpstr>
      <vt:lpstr>Experimental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Al Rawass</dc:creator>
  <cp:lastModifiedBy>Adnan Al Rawass</cp:lastModifiedBy>
  <cp:revision>4</cp:revision>
  <dcterms:created xsi:type="dcterms:W3CDTF">2026-04-24T09:03:09Z</dcterms:created>
  <dcterms:modified xsi:type="dcterms:W3CDTF">2026-05-07T09:10:53Z</dcterms:modified>
</cp:coreProperties>
</file>