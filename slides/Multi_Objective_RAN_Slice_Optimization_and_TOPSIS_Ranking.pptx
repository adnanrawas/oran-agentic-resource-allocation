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67" r:id="rId3"/>
    <p:sldId id="268" r:id="rId4"/>
    <p:sldId id="26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62DEC"/>
    <a:srgbClr val="4472C4"/>
    <a:srgbClr val="CB00CC"/>
    <a:srgbClr val="FFFFFF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37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8A8A259-EC5C-486F-8E25-9A7145B17D36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084B5D-137E-4885-9181-B35E089F35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48709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E828BA-F2F2-AA9B-85C4-BE88A748B9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A68453A-AE22-B256-30C8-A64C8C05B8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2BF810-265E-36E0-C941-6A005F142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3181B7-F75B-4CAC-910F-B825BC47056C}" type="datetime1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4610A0-4144-CB70-B4B8-1080F8ED19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9DA858-95D0-80B4-AEDA-415AF441AB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A14CD1-B2ED-44D0-9C35-0F6E1DE20A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58756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91C31A-25EE-5F27-3E99-8BB74BDAAE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0CFDF4-34B8-DDD0-73C3-D00F978099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3AFACB-13F9-74BA-F81F-516B542EEE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5D9B5B-CA09-42CB-83E9-BBBFD42ED5F0}" type="datetime1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93A8DF-8C00-8ECA-0A62-22B90FE671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2B4735-219D-8E53-14C0-40A9F77354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A14CD1-B2ED-44D0-9C35-0F6E1DE20A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35200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DC3F49-2B4E-2B7F-3D1B-74B33A21BD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216C52-E706-DBB0-3BA4-C11CA954D9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6C4408-C7A5-A98D-418E-96D471D7F6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4EE328-8190-4917-B253-C41479A4C94E}" type="datetime1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B491E7-0912-6CEB-462E-C4E8041678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4176C1-A3BD-5F68-F615-D77FDDAAA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A14CD1-B2ED-44D0-9C35-0F6E1DE20A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05726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338B60-124A-705D-CDF9-67B0D1D2B8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7828E2-5B64-1C6E-6D8A-16DDE85B2B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D071486-48B3-630A-E450-9795DEE190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852B4F-756A-1D81-6B9E-F28FD02AD7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781B23-06A0-4217-9ACE-3776A71895D9}" type="datetime1">
              <a:rPr lang="en-US" smtClean="0"/>
              <a:t>5/27/2026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F12180-853E-6718-FFE4-71A59D2956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E63474-2CDD-F14E-2EC6-8F54A9CB0C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A14CD1-B2ED-44D0-9C35-0F6E1DE20A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4036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7ED403-EF0E-FCA8-F71A-A1380DBDE8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39ED11-04A9-230B-7BCA-2E86195241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483BE01-6D94-B4D1-36A3-B90CEE4FE3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5EF8835-9358-0D7A-6AA5-980C1F26BD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780BD4A-9307-078C-1B03-7C930186589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11FEEB5-F0F6-A764-2C54-F692E9328E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324569-0034-4FF7-9171-BCAFBDFA9C15}" type="datetime1">
              <a:rPr lang="en-US" smtClean="0"/>
              <a:t>5/27/2026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91F987-CFE4-4A4E-2A3E-C7EB947B62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001E885-D3A2-262A-9196-6FFABA1627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A14CD1-B2ED-44D0-9C35-0F6E1DE20A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387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B82CDF-7353-4B17-154F-14C6C36D9C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D8DAABE-6F8B-4926-6134-1FE1B9F83B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D5D85F-DE8E-4A97-AB1E-4602C448F99D}" type="datetime1">
              <a:rPr lang="en-US" smtClean="0"/>
              <a:t>5/27/2026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D7A9D91-8321-3637-2369-DB55AD214C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8A7C1A-612E-EC85-324D-6D3225C6B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A14CD1-B2ED-44D0-9C35-0F6E1DE20A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54567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E348C74-10E0-9161-8EFD-5EFA3BABF5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2ED3B-7404-42DF-BCD9-1F3D4B6539AD}" type="datetime1">
              <a:rPr lang="en-US" smtClean="0"/>
              <a:t>5/27/2026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604B529-9C51-F80E-0161-FE3CD3C7D0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6134FD-548C-D5C7-7EE9-E84B8A3DE4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A14CD1-B2ED-44D0-9C35-0F6E1DE20A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34852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3ABE4D-8AE0-7D76-B9E2-8C11C350E5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1CD3A5-7511-6E96-FA9F-C0B7D9FF27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CAF36E-7A2D-615C-E80B-B4EEA006ED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B7EF8E-D1CE-6894-CC4A-ABE89C47D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0DA05B-F832-4EBA-9D1C-89D893943A8C}" type="datetime1">
              <a:rPr lang="en-US" smtClean="0"/>
              <a:t>5/27/2026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AD7909-52CA-9EC1-A145-53D793E8FC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9F8DD3-FF0D-0C69-977F-E4BF82AA41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A14CD1-B2ED-44D0-9C35-0F6E1DE20A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24095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08BBD1-32E4-07CD-677A-4234179B6D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3DBD5DC-E384-246E-166E-96400D5E51C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CD1C13-F534-BBA9-B6A7-1C002AF3B1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73A9117-EBE5-09A6-7CD9-836018D579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EE1073-9904-45D5-8D36-9A7A2DCD4ECD}" type="datetime1">
              <a:rPr lang="en-US" smtClean="0"/>
              <a:t>5/27/2026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1980C7-88FB-E343-E142-CD61BBB9B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B25CAE-EC46-6BAF-B71B-8F8371840D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A14CD1-B2ED-44D0-9C35-0F6E1DE20A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29058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1BB9FA-0F20-6BE4-27C4-85AA0F5B7E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A2EEA0D-556C-5DC9-FBDC-1A0FA928D1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4CB377-4F08-3F3F-726E-ED4B6BB79E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78E73-191B-4B89-9848-0B7D314020B6}" type="datetime1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578D4C-A882-18EA-3304-4A938D33E5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C4DD9A-8CF4-81A2-B3F2-0E0BB0CFF3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A14CD1-B2ED-44D0-9C35-0F6E1DE20A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31431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2CE2187-8BED-D821-B049-E81FE34ECB1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92FD67E-C3AB-7B2A-A2CA-A73631C6C7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A89B3A-EE6F-BEBE-743A-431AA78F1D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56131E-0066-4490-9B2D-BA13FDF09EE7}" type="datetime1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59BF4B-39A0-90C7-6779-958C7A7C60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CBFE8C-539C-9DE2-9D2B-FDA80BEBA6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A14CD1-B2ED-44D0-9C35-0F6E1DE20A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80801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663394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FC45761-6FC6-27BF-C01E-640D246549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0C0511-7138-CFC9-6BE8-A46F0069CE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98992D-B164-28C2-5A77-9D2B6507BE2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A07FC7-4E78-4155-AEE4-1AE0FFA41734}" type="datetime1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587344-E586-A80A-9E34-D4E4B770BCF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E5244D-CD63-B26C-B970-26DF2F9371D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A14CD1-B2ED-44D0-9C35-0F6E1DE20A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080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F6FDB"/>
          </a:solidFill>
          <a:ln w="12700">
            <a:solidFill>
              <a:srgbClr val="2F6FD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811099" y="283464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F6FDB"/>
                </a:solidFill>
              </a:rPr>
              <a:t>TOPSIS Algorithm • eMBB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02920" y="64008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11827"/>
                </a:solidFill>
              </a:rPr>
              <a:t>Media-Flex — best ranked offer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9098280" y="347472"/>
            <a:ext cx="2514600" cy="402336"/>
          </a:xfrm>
          <a:prstGeom prst="roundRect">
            <a:avLst>
              <a:gd name="adj" fmla="val 18182"/>
            </a:avLst>
          </a:prstGeom>
          <a:solidFill>
            <a:srgbClr val="EAF2FF"/>
          </a:solidFill>
          <a:ln w="12700">
            <a:solidFill>
              <a:srgbClr val="2F6FDB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189720" y="457200"/>
            <a:ext cx="2331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F6FDB"/>
                </a:solidFill>
              </a:rPr>
              <a:t>slice = eMBB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1207008"/>
            <a:ext cx="11173968" cy="457200"/>
          </a:xfrm>
          <a:prstGeom prst="roundRect">
            <a:avLst>
              <a:gd name="adj" fmla="val 16000"/>
            </a:avLst>
          </a:prstGeom>
          <a:solidFill>
            <a:srgbClr val="EAF2FF"/>
          </a:solidFill>
          <a:ln w="12700">
            <a:solidFill>
              <a:srgbClr val="EAF2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85800" y="1298448"/>
            <a:ext cx="10835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180" b="1" dirty="0">
                <a:solidFill>
                  <a:srgbClr val="2F6FDB"/>
                </a:solidFill>
              </a:rPr>
              <a:t>User Intent: User wants a media-oriented eMBB slice with high throughput (≥ 60) while respecting latency (≤ 10), cost (≤ 200), and energy (≤ 100) limits.</a:t>
            </a:r>
            <a:endParaRPr lang="en-US" sz="1180" dirty="0"/>
          </a:p>
        </p:txBody>
      </p:sp>
      <p:sp>
        <p:nvSpPr>
          <p:cNvPr id="9" name="Text 7"/>
          <p:cNvSpPr/>
          <p:nvPr/>
        </p:nvSpPr>
        <p:spPr>
          <a:xfrm>
            <a:off x="685800" y="192938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</a:rPr>
              <a:t>Best TOPSIS score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85800" y="216712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chemeClr val="accent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0.7801</a:t>
            </a:r>
            <a:endParaRPr lang="en-US" sz="3100" dirty="0">
              <a:solidFill>
                <a:schemeClr val="accent1"/>
              </a:solidFill>
            </a:endParaRPr>
          </a:p>
        </p:txBody>
      </p:sp>
      <p:sp>
        <p:nvSpPr>
          <p:cNvPr id="11" name="Text 9"/>
          <p:cNvSpPr/>
          <p:nvPr/>
        </p:nvSpPr>
        <p:spPr>
          <a:xfrm>
            <a:off x="685800" y="2779776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Rank 1 • Offer 6 • Feasible: true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17720" y="1938528"/>
            <a:ext cx="2240280" cy="384048"/>
          </a:xfrm>
          <a:prstGeom prst="rect">
            <a:avLst/>
          </a:prstGeom>
          <a:solidFill>
            <a:srgbClr val="2F6FDB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727448" y="1988820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Metric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858000" y="1938528"/>
            <a:ext cx="3794760" cy="384048"/>
          </a:xfrm>
          <a:prstGeom prst="rect">
            <a:avLst/>
          </a:prstGeom>
          <a:solidFill>
            <a:srgbClr val="2F6FDB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967728" y="1988820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Value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617720" y="2322576"/>
            <a:ext cx="22402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727448" y="2372868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Rank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858000" y="2322576"/>
            <a:ext cx="37947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967728" y="2372868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617720" y="2706624"/>
            <a:ext cx="2240280" cy="384048"/>
          </a:xfrm>
          <a:prstGeom prst="rect">
            <a:avLst/>
          </a:prstGeom>
          <a:solidFill>
            <a:srgbClr val="F9FAFB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727448" y="2756916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Offer ID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858000" y="2706624"/>
            <a:ext cx="3794760" cy="384048"/>
          </a:xfrm>
          <a:prstGeom prst="rect">
            <a:avLst/>
          </a:prstGeom>
          <a:solidFill>
            <a:srgbClr val="F9FAFB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967728" y="2756916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617720" y="3090672"/>
            <a:ext cx="22402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727448" y="3140964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TOPSIS score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858000" y="3090672"/>
            <a:ext cx="37947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6967728" y="3140964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100" dirty="0">
                <a:latin typeface="Aptos" pitchFamily="34" charset="0"/>
                <a:ea typeface="Aptos" pitchFamily="34" charset="-122"/>
                <a:cs typeface="Aptos" pitchFamily="34" charset="-120"/>
              </a:rPr>
              <a:t>0.7801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617720" y="3474720"/>
            <a:ext cx="2240280" cy="384048"/>
          </a:xfrm>
          <a:prstGeom prst="rect">
            <a:avLst/>
          </a:prstGeom>
          <a:solidFill>
            <a:srgbClr val="F9FAFB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727448" y="3525012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Throughput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858000" y="3474720"/>
            <a:ext cx="3794760" cy="384048"/>
          </a:xfrm>
          <a:prstGeom prst="rect">
            <a:avLst/>
          </a:prstGeom>
          <a:solidFill>
            <a:srgbClr val="F9FAFB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6967728" y="3525012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100" dirty="0">
                <a:latin typeface="Aptos" pitchFamily="34" charset="0"/>
                <a:ea typeface="Aptos" pitchFamily="34" charset="-122"/>
                <a:cs typeface="Aptos" pitchFamily="34" charset="-120"/>
              </a:rPr>
              <a:t>743.6 Mbps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617720" y="3858768"/>
            <a:ext cx="22402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4727448" y="3909060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Latency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858000" y="3858768"/>
            <a:ext cx="37947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6967728" y="3909060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100" dirty="0">
                <a:latin typeface="Aptos" pitchFamily="34" charset="0"/>
                <a:ea typeface="Aptos" pitchFamily="34" charset="-122"/>
                <a:cs typeface="Aptos" pitchFamily="34" charset="-120"/>
              </a:rPr>
              <a:t>0.0323 ms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4617720" y="4242816"/>
            <a:ext cx="2240280" cy="384048"/>
          </a:xfrm>
          <a:prstGeom prst="rect">
            <a:avLst/>
          </a:prstGeom>
          <a:solidFill>
            <a:srgbClr val="F9FAFB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4727448" y="4293108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858000" y="4242816"/>
            <a:ext cx="3794760" cy="384048"/>
          </a:xfrm>
          <a:prstGeom prst="rect">
            <a:avLst/>
          </a:prstGeom>
          <a:solidFill>
            <a:srgbClr val="F9FAFB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6967728" y="4293108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100" dirty="0">
                <a:latin typeface="Aptos" pitchFamily="34" charset="0"/>
                <a:ea typeface="Aptos" pitchFamily="34" charset="-122"/>
                <a:cs typeface="Aptos" pitchFamily="34" charset="-120"/>
              </a:rPr>
              <a:t>€28.41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4617720" y="4626864"/>
            <a:ext cx="22402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4727448" y="4677156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Energy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6858000" y="4626864"/>
            <a:ext cx="37947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6967728" y="4677156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100" dirty="0">
                <a:latin typeface="Aptos" pitchFamily="34" charset="0"/>
                <a:ea typeface="Aptos" pitchFamily="34" charset="-122"/>
                <a:cs typeface="Aptos" pitchFamily="34" charset="-120"/>
              </a:rPr>
              <a:t>0.4931 W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617720" y="5010912"/>
            <a:ext cx="2240280" cy="384048"/>
          </a:xfrm>
          <a:prstGeom prst="rect">
            <a:avLst/>
          </a:prstGeom>
          <a:solidFill>
            <a:srgbClr val="F9FAFB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4727448" y="5061204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Feasible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6858000" y="5010912"/>
            <a:ext cx="3794760" cy="384048"/>
          </a:xfrm>
          <a:prstGeom prst="rect">
            <a:avLst/>
          </a:prstGeom>
          <a:solidFill>
            <a:srgbClr val="F9FAFB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6967728" y="5061204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true</a:t>
            </a:r>
            <a:endParaRPr lang="en-US" sz="1100" dirty="0"/>
          </a:p>
        </p:txBody>
      </p:sp>
      <p:sp>
        <p:nvSpPr>
          <p:cNvPr id="62" name="Shape 49">
            <a:extLst>
              <a:ext uri="{FF2B5EF4-FFF2-40B4-BE49-F238E27FC236}">
                <a16:creationId xmlns:a16="http://schemas.microsoft.com/office/drawing/2014/main" id="{C889E59B-37A1-35B1-5DFA-D3231B287E16}"/>
              </a:ext>
            </a:extLst>
          </p:cNvPr>
          <p:cNvSpPr/>
          <p:nvPr/>
        </p:nvSpPr>
        <p:spPr>
          <a:xfrm>
            <a:off x="531707" y="5632704"/>
            <a:ext cx="2670048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Text 50">
            <a:extLst>
              <a:ext uri="{FF2B5EF4-FFF2-40B4-BE49-F238E27FC236}">
                <a16:creationId xmlns:a16="http://schemas.microsoft.com/office/drawing/2014/main" id="{F969C361-F8CA-E1B2-79E1-A4EA71D3923F}"/>
              </a:ext>
            </a:extLst>
          </p:cNvPr>
          <p:cNvSpPr/>
          <p:nvPr/>
        </p:nvSpPr>
        <p:spPr>
          <a:xfrm>
            <a:off x="696299" y="5742432"/>
            <a:ext cx="2340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</a:rPr>
              <a:t>Throughput min</a:t>
            </a:r>
            <a:endParaRPr lang="en-US" sz="850" dirty="0"/>
          </a:p>
        </p:txBody>
      </p:sp>
      <p:sp>
        <p:nvSpPr>
          <p:cNvPr id="64" name="Text 51">
            <a:extLst>
              <a:ext uri="{FF2B5EF4-FFF2-40B4-BE49-F238E27FC236}">
                <a16:creationId xmlns:a16="http://schemas.microsoft.com/office/drawing/2014/main" id="{46BF7055-0487-F1F2-EF40-4A8139173D23}"/>
              </a:ext>
            </a:extLst>
          </p:cNvPr>
          <p:cNvSpPr/>
          <p:nvPr/>
        </p:nvSpPr>
        <p:spPr>
          <a:xfrm>
            <a:off x="696299" y="5961888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F6FDB"/>
                </a:solidFill>
              </a:rPr>
              <a:t>60.0 Mbps</a:t>
            </a:r>
            <a:endParaRPr lang="en-US" sz="1700" dirty="0"/>
          </a:p>
        </p:txBody>
      </p:sp>
      <p:sp>
        <p:nvSpPr>
          <p:cNvPr id="65" name="Shape 52">
            <a:extLst>
              <a:ext uri="{FF2B5EF4-FFF2-40B4-BE49-F238E27FC236}">
                <a16:creationId xmlns:a16="http://schemas.microsoft.com/office/drawing/2014/main" id="{9F44B344-568D-CE21-BAED-EA5FF8F56024}"/>
              </a:ext>
            </a:extLst>
          </p:cNvPr>
          <p:cNvSpPr/>
          <p:nvPr/>
        </p:nvSpPr>
        <p:spPr>
          <a:xfrm>
            <a:off x="3366347" y="5632704"/>
            <a:ext cx="2670048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Text 53">
            <a:extLst>
              <a:ext uri="{FF2B5EF4-FFF2-40B4-BE49-F238E27FC236}">
                <a16:creationId xmlns:a16="http://schemas.microsoft.com/office/drawing/2014/main" id="{038B33B6-D97D-E9B2-4244-3E1A67D4FDB6}"/>
              </a:ext>
            </a:extLst>
          </p:cNvPr>
          <p:cNvSpPr/>
          <p:nvPr/>
        </p:nvSpPr>
        <p:spPr>
          <a:xfrm>
            <a:off x="3530939" y="5742432"/>
            <a:ext cx="2340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</a:rPr>
              <a:t>Latency max</a:t>
            </a:r>
            <a:endParaRPr lang="en-US" sz="850" dirty="0"/>
          </a:p>
        </p:txBody>
      </p:sp>
      <p:sp>
        <p:nvSpPr>
          <p:cNvPr id="67" name="Text 54">
            <a:extLst>
              <a:ext uri="{FF2B5EF4-FFF2-40B4-BE49-F238E27FC236}">
                <a16:creationId xmlns:a16="http://schemas.microsoft.com/office/drawing/2014/main" id="{1A31A2AC-3EA7-EDD3-35C6-7B7956D4403E}"/>
              </a:ext>
            </a:extLst>
          </p:cNvPr>
          <p:cNvSpPr/>
          <p:nvPr/>
        </p:nvSpPr>
        <p:spPr>
          <a:xfrm>
            <a:off x="3530939" y="5961888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F6FDB"/>
                </a:solidFill>
              </a:rPr>
              <a:t>10.0 ms</a:t>
            </a:r>
            <a:endParaRPr lang="en-US" sz="1700" dirty="0"/>
          </a:p>
        </p:txBody>
      </p:sp>
      <p:sp>
        <p:nvSpPr>
          <p:cNvPr id="68" name="Shape 55">
            <a:extLst>
              <a:ext uri="{FF2B5EF4-FFF2-40B4-BE49-F238E27FC236}">
                <a16:creationId xmlns:a16="http://schemas.microsoft.com/office/drawing/2014/main" id="{BC39B4F9-D550-C9CD-4435-9267C3854241}"/>
              </a:ext>
            </a:extLst>
          </p:cNvPr>
          <p:cNvSpPr/>
          <p:nvPr/>
        </p:nvSpPr>
        <p:spPr>
          <a:xfrm>
            <a:off x="6200987" y="5632704"/>
            <a:ext cx="2670048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Text 56">
            <a:extLst>
              <a:ext uri="{FF2B5EF4-FFF2-40B4-BE49-F238E27FC236}">
                <a16:creationId xmlns:a16="http://schemas.microsoft.com/office/drawing/2014/main" id="{3159F228-483C-DFF5-6D47-F88A687EBDF1}"/>
              </a:ext>
            </a:extLst>
          </p:cNvPr>
          <p:cNvSpPr/>
          <p:nvPr/>
        </p:nvSpPr>
        <p:spPr>
          <a:xfrm>
            <a:off x="6365579" y="5742432"/>
            <a:ext cx="2340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</a:rPr>
              <a:t>Cost max</a:t>
            </a:r>
            <a:endParaRPr lang="en-US" sz="850" dirty="0"/>
          </a:p>
        </p:txBody>
      </p:sp>
      <p:sp>
        <p:nvSpPr>
          <p:cNvPr id="70" name="Text 57">
            <a:extLst>
              <a:ext uri="{FF2B5EF4-FFF2-40B4-BE49-F238E27FC236}">
                <a16:creationId xmlns:a16="http://schemas.microsoft.com/office/drawing/2014/main" id="{2CFA8069-9DFF-F510-FCB6-346544BFF2EC}"/>
              </a:ext>
            </a:extLst>
          </p:cNvPr>
          <p:cNvSpPr/>
          <p:nvPr/>
        </p:nvSpPr>
        <p:spPr>
          <a:xfrm>
            <a:off x="6365579" y="5961888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F6FDB"/>
                </a:solidFill>
              </a:rPr>
              <a:t>€200.0</a:t>
            </a:r>
            <a:endParaRPr lang="en-US" sz="1700" dirty="0"/>
          </a:p>
        </p:txBody>
      </p:sp>
      <p:sp>
        <p:nvSpPr>
          <p:cNvPr id="71" name="Shape 58">
            <a:extLst>
              <a:ext uri="{FF2B5EF4-FFF2-40B4-BE49-F238E27FC236}">
                <a16:creationId xmlns:a16="http://schemas.microsoft.com/office/drawing/2014/main" id="{1E2FD2A5-A5AA-F124-1846-7ECD06195A03}"/>
              </a:ext>
            </a:extLst>
          </p:cNvPr>
          <p:cNvSpPr/>
          <p:nvPr/>
        </p:nvSpPr>
        <p:spPr>
          <a:xfrm>
            <a:off x="9035627" y="5632704"/>
            <a:ext cx="2670048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Text 59">
            <a:extLst>
              <a:ext uri="{FF2B5EF4-FFF2-40B4-BE49-F238E27FC236}">
                <a16:creationId xmlns:a16="http://schemas.microsoft.com/office/drawing/2014/main" id="{55A1178B-2808-4BE0-7E35-7577875F58C2}"/>
              </a:ext>
            </a:extLst>
          </p:cNvPr>
          <p:cNvSpPr/>
          <p:nvPr/>
        </p:nvSpPr>
        <p:spPr>
          <a:xfrm>
            <a:off x="9200219" y="5742432"/>
            <a:ext cx="2340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</a:rPr>
              <a:t>Energy max</a:t>
            </a:r>
            <a:endParaRPr lang="en-US" sz="850" dirty="0"/>
          </a:p>
        </p:txBody>
      </p:sp>
      <p:sp>
        <p:nvSpPr>
          <p:cNvPr id="73" name="Text 60">
            <a:extLst>
              <a:ext uri="{FF2B5EF4-FFF2-40B4-BE49-F238E27FC236}">
                <a16:creationId xmlns:a16="http://schemas.microsoft.com/office/drawing/2014/main" id="{E22C10AF-BC76-BACD-2688-4CBC90DD050E}"/>
              </a:ext>
            </a:extLst>
          </p:cNvPr>
          <p:cNvSpPr/>
          <p:nvPr/>
        </p:nvSpPr>
        <p:spPr>
          <a:xfrm>
            <a:off x="9200219" y="5961888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F6FDB"/>
                </a:solidFill>
              </a:rPr>
              <a:t>100.0 W</a:t>
            </a:r>
            <a:endParaRPr lang="en-US" sz="1700" dirty="0"/>
          </a:p>
        </p:txBody>
      </p:sp>
      <p:pic>
        <p:nvPicPr>
          <p:cNvPr id="74" name="Picture 2">
            <a:extLst>
              <a:ext uri="{FF2B5EF4-FFF2-40B4-BE49-F238E27FC236}">
                <a16:creationId xmlns:a16="http://schemas.microsoft.com/office/drawing/2014/main" id="{5CC2DBDA-6A30-D713-0BFA-A561FE30F2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6548" y="0"/>
            <a:ext cx="2446591" cy="7107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F6FDB"/>
          </a:solidFill>
          <a:ln w="12700">
            <a:solidFill>
              <a:srgbClr val="2F6FD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632807" y="603504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F6FD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TOPSIS Algorithm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9148572" y="859536"/>
            <a:ext cx="2240280" cy="384048"/>
          </a:xfrm>
          <a:prstGeom prst="roundRect">
            <a:avLst>
              <a:gd name="adj" fmla="val 14286"/>
            </a:avLst>
          </a:prstGeom>
          <a:solidFill>
            <a:srgbClr val="EAF2FF"/>
          </a:solidFill>
          <a:ln w="12700">
            <a:solidFill>
              <a:srgbClr val="2F6FDB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148572" y="978408"/>
            <a:ext cx="19933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20" b="1" dirty="0">
                <a:solidFill>
                  <a:srgbClr val="2F6FD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Media-Flex • eMBB</a:t>
            </a:r>
            <a:endParaRPr lang="en-US" sz="1020" dirty="0"/>
          </a:p>
        </p:txBody>
      </p:sp>
      <p:sp>
        <p:nvSpPr>
          <p:cNvPr id="7" name="Text 5"/>
          <p:cNvSpPr/>
          <p:nvPr/>
        </p:nvSpPr>
        <p:spPr>
          <a:xfrm>
            <a:off x="406908" y="128016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Media-Flex: all ranked offers</a:t>
            </a: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06908" y="2505456"/>
            <a:ext cx="7589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3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Criterion type: max, min, min, min • Weights: 1, 1, 1, 1</a:t>
            </a:r>
            <a:endParaRPr lang="en-US" sz="1030" dirty="0"/>
          </a:p>
        </p:txBody>
      </p:sp>
      <p:sp>
        <p:nvSpPr>
          <p:cNvPr id="11" name="Shape 9"/>
          <p:cNvSpPr/>
          <p:nvPr/>
        </p:nvSpPr>
        <p:spPr>
          <a:xfrm>
            <a:off x="406908" y="2816352"/>
            <a:ext cx="566928" cy="384048"/>
          </a:xfrm>
          <a:prstGeom prst="rect">
            <a:avLst/>
          </a:prstGeom>
          <a:solidFill>
            <a:srgbClr val="2F6FD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12" name="Text 10"/>
          <p:cNvSpPr/>
          <p:nvPr/>
        </p:nvSpPr>
        <p:spPr>
          <a:xfrm>
            <a:off x="457200" y="2889504"/>
            <a:ext cx="466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Rank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973836" y="2816352"/>
            <a:ext cx="749808" cy="384048"/>
          </a:xfrm>
          <a:prstGeom prst="rect">
            <a:avLst/>
          </a:prstGeom>
          <a:solidFill>
            <a:srgbClr val="2F6FD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14" name="Text 12"/>
          <p:cNvSpPr/>
          <p:nvPr/>
        </p:nvSpPr>
        <p:spPr>
          <a:xfrm>
            <a:off x="1024128" y="2889504"/>
            <a:ext cx="649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Offer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1723644" y="2816352"/>
            <a:ext cx="1115568" cy="384048"/>
          </a:xfrm>
          <a:prstGeom prst="rect">
            <a:avLst/>
          </a:prstGeom>
          <a:solidFill>
            <a:srgbClr val="2F6FD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16" name="Text 14"/>
          <p:cNvSpPr/>
          <p:nvPr/>
        </p:nvSpPr>
        <p:spPr>
          <a:xfrm>
            <a:off x="1773936" y="2889504"/>
            <a:ext cx="10149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Score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839212" y="2816352"/>
            <a:ext cx="1225296" cy="384048"/>
          </a:xfrm>
          <a:prstGeom prst="rect">
            <a:avLst/>
          </a:prstGeom>
          <a:solidFill>
            <a:srgbClr val="2F6FD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18" name="Text 16"/>
          <p:cNvSpPr/>
          <p:nvPr/>
        </p:nvSpPr>
        <p:spPr>
          <a:xfrm>
            <a:off x="2889504" y="2889504"/>
            <a:ext cx="112471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Throughput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064508" y="2816352"/>
            <a:ext cx="987552" cy="384048"/>
          </a:xfrm>
          <a:prstGeom prst="rect">
            <a:avLst/>
          </a:prstGeom>
          <a:solidFill>
            <a:srgbClr val="2F6FD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20" name="Text 18"/>
          <p:cNvSpPr/>
          <p:nvPr/>
        </p:nvSpPr>
        <p:spPr>
          <a:xfrm>
            <a:off x="4114800" y="2889504"/>
            <a:ext cx="88696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Latency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052060" y="2816352"/>
            <a:ext cx="932688" cy="384048"/>
          </a:xfrm>
          <a:prstGeom prst="rect">
            <a:avLst/>
          </a:prstGeom>
          <a:solidFill>
            <a:srgbClr val="2F6FD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22" name="Text 20"/>
          <p:cNvSpPr/>
          <p:nvPr/>
        </p:nvSpPr>
        <p:spPr>
          <a:xfrm>
            <a:off x="5102352" y="2889504"/>
            <a:ext cx="832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984748" y="2816352"/>
            <a:ext cx="932688" cy="384048"/>
          </a:xfrm>
          <a:prstGeom prst="rect">
            <a:avLst/>
          </a:prstGeom>
          <a:solidFill>
            <a:srgbClr val="2F6FD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24" name="Text 22"/>
          <p:cNvSpPr/>
          <p:nvPr/>
        </p:nvSpPr>
        <p:spPr>
          <a:xfrm>
            <a:off x="6035040" y="2889504"/>
            <a:ext cx="832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Energy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917436" y="2816352"/>
            <a:ext cx="749808" cy="384048"/>
          </a:xfrm>
          <a:prstGeom prst="rect">
            <a:avLst/>
          </a:prstGeom>
          <a:solidFill>
            <a:srgbClr val="2F6FD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26" name="Text 24"/>
          <p:cNvSpPr/>
          <p:nvPr/>
        </p:nvSpPr>
        <p:spPr>
          <a:xfrm>
            <a:off x="6967728" y="2889504"/>
            <a:ext cx="649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Feasible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06908" y="3200400"/>
            <a:ext cx="566928" cy="384048"/>
          </a:xfrm>
          <a:prstGeom prst="rect">
            <a:avLst/>
          </a:prstGeom>
          <a:solidFill>
            <a:srgbClr val="EAF2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28" name="Text 26"/>
          <p:cNvSpPr/>
          <p:nvPr/>
        </p:nvSpPr>
        <p:spPr>
          <a:xfrm>
            <a:off x="457200" y="3273552"/>
            <a:ext cx="466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F6FD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973836" y="3200400"/>
            <a:ext cx="749808" cy="384048"/>
          </a:xfrm>
          <a:prstGeom prst="rect">
            <a:avLst/>
          </a:prstGeom>
          <a:solidFill>
            <a:srgbClr val="EAF2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30" name="Text 28"/>
          <p:cNvSpPr/>
          <p:nvPr/>
        </p:nvSpPr>
        <p:spPr>
          <a:xfrm>
            <a:off x="1024128" y="3273552"/>
            <a:ext cx="649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F6FD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1723644" y="3200400"/>
            <a:ext cx="1115568" cy="384048"/>
          </a:xfrm>
          <a:prstGeom prst="rect">
            <a:avLst/>
          </a:prstGeom>
          <a:solidFill>
            <a:srgbClr val="EAF2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32" name="Text 30"/>
          <p:cNvSpPr/>
          <p:nvPr/>
        </p:nvSpPr>
        <p:spPr>
          <a:xfrm>
            <a:off x="1773936" y="3273552"/>
            <a:ext cx="10149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F6FD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0.7801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2839212" y="3200400"/>
            <a:ext cx="1225296" cy="384048"/>
          </a:xfrm>
          <a:prstGeom prst="rect">
            <a:avLst/>
          </a:prstGeom>
          <a:solidFill>
            <a:srgbClr val="EAF2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2889504" y="3273552"/>
            <a:ext cx="112471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F6FD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743.6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064508" y="3200400"/>
            <a:ext cx="987552" cy="384048"/>
          </a:xfrm>
          <a:prstGeom prst="rect">
            <a:avLst/>
          </a:prstGeom>
          <a:solidFill>
            <a:srgbClr val="EAF2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36" name="Text 34"/>
          <p:cNvSpPr/>
          <p:nvPr/>
        </p:nvSpPr>
        <p:spPr>
          <a:xfrm>
            <a:off x="4114800" y="3273552"/>
            <a:ext cx="88696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F6FD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0.0323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5052060" y="3200400"/>
            <a:ext cx="932688" cy="384048"/>
          </a:xfrm>
          <a:prstGeom prst="rect">
            <a:avLst/>
          </a:prstGeom>
          <a:solidFill>
            <a:srgbClr val="EAF2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38" name="Text 36"/>
          <p:cNvSpPr/>
          <p:nvPr/>
        </p:nvSpPr>
        <p:spPr>
          <a:xfrm>
            <a:off x="5102352" y="3273552"/>
            <a:ext cx="832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F6FD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28.41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984748" y="3200400"/>
            <a:ext cx="932688" cy="384048"/>
          </a:xfrm>
          <a:prstGeom prst="rect">
            <a:avLst/>
          </a:prstGeom>
          <a:solidFill>
            <a:srgbClr val="EAF2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40" name="Text 38"/>
          <p:cNvSpPr/>
          <p:nvPr/>
        </p:nvSpPr>
        <p:spPr>
          <a:xfrm>
            <a:off x="6035040" y="3273552"/>
            <a:ext cx="832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F6FD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0.4931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917436" y="3200400"/>
            <a:ext cx="749808" cy="384048"/>
          </a:xfrm>
          <a:prstGeom prst="rect">
            <a:avLst/>
          </a:prstGeom>
          <a:solidFill>
            <a:srgbClr val="EAF2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42" name="Text 40"/>
          <p:cNvSpPr/>
          <p:nvPr/>
        </p:nvSpPr>
        <p:spPr>
          <a:xfrm>
            <a:off x="6967728" y="3273552"/>
            <a:ext cx="649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F6FD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406908" y="3584448"/>
            <a:ext cx="56692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44" name="Text 42"/>
          <p:cNvSpPr/>
          <p:nvPr/>
        </p:nvSpPr>
        <p:spPr>
          <a:xfrm>
            <a:off x="457200" y="3657600"/>
            <a:ext cx="466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973836" y="3584448"/>
            <a:ext cx="74980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1024128" y="3657600"/>
            <a:ext cx="649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1723644" y="3584448"/>
            <a:ext cx="111556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48" name="Text 46"/>
          <p:cNvSpPr/>
          <p:nvPr/>
        </p:nvSpPr>
        <p:spPr>
          <a:xfrm>
            <a:off x="1773936" y="3657600"/>
            <a:ext cx="10149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0.7673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2839212" y="3584448"/>
            <a:ext cx="1225296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50" name="Text 48"/>
          <p:cNvSpPr/>
          <p:nvPr/>
        </p:nvSpPr>
        <p:spPr>
          <a:xfrm>
            <a:off x="2889504" y="3657600"/>
            <a:ext cx="112471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540.8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4064508" y="3584448"/>
            <a:ext cx="987552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52" name="Text 50"/>
          <p:cNvSpPr/>
          <p:nvPr/>
        </p:nvSpPr>
        <p:spPr>
          <a:xfrm>
            <a:off x="4114800" y="3657600"/>
            <a:ext cx="88696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0.0444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5052060" y="3584448"/>
            <a:ext cx="93268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54" name="Text 52"/>
          <p:cNvSpPr/>
          <p:nvPr/>
        </p:nvSpPr>
        <p:spPr>
          <a:xfrm>
            <a:off x="5102352" y="3657600"/>
            <a:ext cx="832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0.8945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5984748" y="3584448"/>
            <a:ext cx="93268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56" name="Text 54"/>
          <p:cNvSpPr/>
          <p:nvPr/>
        </p:nvSpPr>
        <p:spPr>
          <a:xfrm>
            <a:off x="6035040" y="3657600"/>
            <a:ext cx="832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0.4931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6917436" y="3584448"/>
            <a:ext cx="74980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58" name="Text 56"/>
          <p:cNvSpPr/>
          <p:nvPr/>
        </p:nvSpPr>
        <p:spPr>
          <a:xfrm>
            <a:off x="6967728" y="3657600"/>
            <a:ext cx="649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1050" dirty="0"/>
          </a:p>
        </p:txBody>
      </p:sp>
      <p:sp>
        <p:nvSpPr>
          <p:cNvPr id="75" name="Shape 73"/>
          <p:cNvSpPr/>
          <p:nvPr/>
        </p:nvSpPr>
        <p:spPr>
          <a:xfrm>
            <a:off x="406908" y="3922776"/>
            <a:ext cx="56692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76" name="Text 74"/>
          <p:cNvSpPr/>
          <p:nvPr/>
        </p:nvSpPr>
        <p:spPr>
          <a:xfrm>
            <a:off x="457200" y="3995928"/>
            <a:ext cx="466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050" dirty="0"/>
          </a:p>
        </p:txBody>
      </p:sp>
      <p:sp>
        <p:nvSpPr>
          <p:cNvPr id="77" name="Shape 75"/>
          <p:cNvSpPr/>
          <p:nvPr/>
        </p:nvSpPr>
        <p:spPr>
          <a:xfrm>
            <a:off x="973836" y="3922776"/>
            <a:ext cx="74980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78" name="Text 76"/>
          <p:cNvSpPr/>
          <p:nvPr/>
        </p:nvSpPr>
        <p:spPr>
          <a:xfrm>
            <a:off x="1024128" y="3995928"/>
            <a:ext cx="649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1050" dirty="0"/>
          </a:p>
        </p:txBody>
      </p:sp>
      <p:sp>
        <p:nvSpPr>
          <p:cNvPr id="79" name="Shape 77"/>
          <p:cNvSpPr/>
          <p:nvPr/>
        </p:nvSpPr>
        <p:spPr>
          <a:xfrm>
            <a:off x="1723644" y="3922776"/>
            <a:ext cx="111556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80" name="Text 78"/>
          <p:cNvSpPr/>
          <p:nvPr/>
        </p:nvSpPr>
        <p:spPr>
          <a:xfrm>
            <a:off x="1773936" y="3995928"/>
            <a:ext cx="10149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0.6972</a:t>
            </a:r>
            <a:endParaRPr lang="en-US" sz="1050" dirty="0"/>
          </a:p>
        </p:txBody>
      </p:sp>
      <p:sp>
        <p:nvSpPr>
          <p:cNvPr id="81" name="Shape 79"/>
          <p:cNvSpPr/>
          <p:nvPr/>
        </p:nvSpPr>
        <p:spPr>
          <a:xfrm>
            <a:off x="2839212" y="3922776"/>
            <a:ext cx="1225296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82" name="Text 80"/>
          <p:cNvSpPr/>
          <p:nvPr/>
        </p:nvSpPr>
        <p:spPr>
          <a:xfrm>
            <a:off x="2889504" y="3995928"/>
            <a:ext cx="112471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743.6</a:t>
            </a:r>
            <a:endParaRPr lang="en-US" sz="1050" dirty="0"/>
          </a:p>
        </p:txBody>
      </p:sp>
      <p:sp>
        <p:nvSpPr>
          <p:cNvPr id="83" name="Shape 81"/>
          <p:cNvSpPr/>
          <p:nvPr/>
        </p:nvSpPr>
        <p:spPr>
          <a:xfrm>
            <a:off x="4064508" y="3922776"/>
            <a:ext cx="987552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84" name="Text 82"/>
          <p:cNvSpPr/>
          <p:nvPr/>
        </p:nvSpPr>
        <p:spPr>
          <a:xfrm>
            <a:off x="4114800" y="3995928"/>
            <a:ext cx="88696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0.0323</a:t>
            </a:r>
            <a:endParaRPr lang="en-US" sz="1050" dirty="0"/>
          </a:p>
        </p:txBody>
      </p:sp>
      <p:sp>
        <p:nvSpPr>
          <p:cNvPr id="85" name="Shape 83"/>
          <p:cNvSpPr/>
          <p:nvPr/>
        </p:nvSpPr>
        <p:spPr>
          <a:xfrm>
            <a:off x="5052060" y="3922776"/>
            <a:ext cx="93268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86" name="Text 84"/>
          <p:cNvSpPr/>
          <p:nvPr/>
        </p:nvSpPr>
        <p:spPr>
          <a:xfrm>
            <a:off x="5102352" y="3995928"/>
            <a:ext cx="832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48.46</a:t>
            </a:r>
            <a:endParaRPr lang="en-US" sz="1050" dirty="0"/>
          </a:p>
        </p:txBody>
      </p:sp>
      <p:sp>
        <p:nvSpPr>
          <p:cNvPr id="87" name="Shape 85"/>
          <p:cNvSpPr/>
          <p:nvPr/>
        </p:nvSpPr>
        <p:spPr>
          <a:xfrm>
            <a:off x="5984748" y="3922776"/>
            <a:ext cx="93268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88" name="Text 86"/>
          <p:cNvSpPr/>
          <p:nvPr/>
        </p:nvSpPr>
        <p:spPr>
          <a:xfrm>
            <a:off x="6035040" y="3995928"/>
            <a:ext cx="832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0.4931</a:t>
            </a:r>
            <a:endParaRPr lang="en-US" sz="1050" dirty="0"/>
          </a:p>
        </p:txBody>
      </p:sp>
      <p:sp>
        <p:nvSpPr>
          <p:cNvPr id="89" name="Shape 87"/>
          <p:cNvSpPr/>
          <p:nvPr/>
        </p:nvSpPr>
        <p:spPr>
          <a:xfrm>
            <a:off x="6917436" y="3922776"/>
            <a:ext cx="74980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90" name="Text 88"/>
          <p:cNvSpPr/>
          <p:nvPr/>
        </p:nvSpPr>
        <p:spPr>
          <a:xfrm>
            <a:off x="6967728" y="3995928"/>
            <a:ext cx="649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1050" dirty="0"/>
          </a:p>
        </p:txBody>
      </p:sp>
      <p:sp>
        <p:nvSpPr>
          <p:cNvPr id="91" name="Shape 89"/>
          <p:cNvSpPr/>
          <p:nvPr/>
        </p:nvSpPr>
        <p:spPr>
          <a:xfrm>
            <a:off x="406908" y="4306824"/>
            <a:ext cx="566928" cy="384048"/>
          </a:xfrm>
          <a:prstGeom prst="rect">
            <a:avLst/>
          </a:prstGeom>
          <a:solidFill>
            <a:srgbClr val="F9FAF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92" name="Text 90"/>
          <p:cNvSpPr/>
          <p:nvPr/>
        </p:nvSpPr>
        <p:spPr>
          <a:xfrm>
            <a:off x="457200" y="4379976"/>
            <a:ext cx="466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050" dirty="0"/>
          </a:p>
        </p:txBody>
      </p:sp>
      <p:sp>
        <p:nvSpPr>
          <p:cNvPr id="93" name="Shape 91"/>
          <p:cNvSpPr/>
          <p:nvPr/>
        </p:nvSpPr>
        <p:spPr>
          <a:xfrm>
            <a:off x="973836" y="4306824"/>
            <a:ext cx="749808" cy="384048"/>
          </a:xfrm>
          <a:prstGeom prst="rect">
            <a:avLst/>
          </a:prstGeom>
          <a:solidFill>
            <a:srgbClr val="F9FAF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94" name="Text 92"/>
          <p:cNvSpPr/>
          <p:nvPr/>
        </p:nvSpPr>
        <p:spPr>
          <a:xfrm>
            <a:off x="1024128" y="4379976"/>
            <a:ext cx="649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050" dirty="0"/>
          </a:p>
        </p:txBody>
      </p:sp>
      <p:sp>
        <p:nvSpPr>
          <p:cNvPr id="95" name="Shape 93"/>
          <p:cNvSpPr/>
          <p:nvPr/>
        </p:nvSpPr>
        <p:spPr>
          <a:xfrm>
            <a:off x="1723644" y="4306824"/>
            <a:ext cx="1115568" cy="384048"/>
          </a:xfrm>
          <a:prstGeom prst="rect">
            <a:avLst/>
          </a:prstGeom>
          <a:solidFill>
            <a:srgbClr val="F9FAF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96" name="Text 94"/>
          <p:cNvSpPr/>
          <p:nvPr/>
        </p:nvSpPr>
        <p:spPr>
          <a:xfrm>
            <a:off x="1773936" y="4379976"/>
            <a:ext cx="10149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0.6443</a:t>
            </a:r>
            <a:endParaRPr lang="en-US" sz="1050" dirty="0"/>
          </a:p>
        </p:txBody>
      </p:sp>
      <p:sp>
        <p:nvSpPr>
          <p:cNvPr id="97" name="Shape 95"/>
          <p:cNvSpPr/>
          <p:nvPr/>
        </p:nvSpPr>
        <p:spPr>
          <a:xfrm>
            <a:off x="2839212" y="4306824"/>
            <a:ext cx="1225296" cy="384048"/>
          </a:xfrm>
          <a:prstGeom prst="rect">
            <a:avLst/>
          </a:prstGeom>
          <a:solidFill>
            <a:srgbClr val="F9FAF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98" name="Text 96"/>
          <p:cNvSpPr/>
          <p:nvPr/>
        </p:nvSpPr>
        <p:spPr>
          <a:xfrm>
            <a:off x="2889504" y="4379976"/>
            <a:ext cx="112471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295.0</a:t>
            </a:r>
            <a:endParaRPr lang="en-US" sz="1050" dirty="0"/>
          </a:p>
        </p:txBody>
      </p:sp>
      <p:sp>
        <p:nvSpPr>
          <p:cNvPr id="99" name="Shape 97"/>
          <p:cNvSpPr/>
          <p:nvPr/>
        </p:nvSpPr>
        <p:spPr>
          <a:xfrm>
            <a:off x="4064508" y="4306824"/>
            <a:ext cx="987552" cy="384048"/>
          </a:xfrm>
          <a:prstGeom prst="rect">
            <a:avLst/>
          </a:prstGeom>
          <a:solidFill>
            <a:srgbClr val="F9FAF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100" name="Text 98"/>
          <p:cNvSpPr/>
          <p:nvPr/>
        </p:nvSpPr>
        <p:spPr>
          <a:xfrm>
            <a:off x="4114800" y="4379976"/>
            <a:ext cx="88696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0.0815</a:t>
            </a:r>
            <a:endParaRPr lang="en-US" sz="1050" dirty="0"/>
          </a:p>
        </p:txBody>
      </p:sp>
      <p:sp>
        <p:nvSpPr>
          <p:cNvPr id="101" name="Shape 99"/>
          <p:cNvSpPr/>
          <p:nvPr/>
        </p:nvSpPr>
        <p:spPr>
          <a:xfrm>
            <a:off x="5052060" y="4306824"/>
            <a:ext cx="932688" cy="384048"/>
          </a:xfrm>
          <a:prstGeom prst="rect">
            <a:avLst/>
          </a:prstGeom>
          <a:solidFill>
            <a:srgbClr val="F9FAF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102" name="Text 100"/>
          <p:cNvSpPr/>
          <p:nvPr/>
        </p:nvSpPr>
        <p:spPr>
          <a:xfrm>
            <a:off x="5102352" y="4379976"/>
            <a:ext cx="832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0.8945</a:t>
            </a:r>
            <a:endParaRPr lang="en-US" sz="1050" dirty="0"/>
          </a:p>
        </p:txBody>
      </p:sp>
      <p:sp>
        <p:nvSpPr>
          <p:cNvPr id="103" name="Shape 101"/>
          <p:cNvSpPr/>
          <p:nvPr/>
        </p:nvSpPr>
        <p:spPr>
          <a:xfrm>
            <a:off x="5984748" y="4306824"/>
            <a:ext cx="932688" cy="384048"/>
          </a:xfrm>
          <a:prstGeom prst="rect">
            <a:avLst/>
          </a:prstGeom>
          <a:solidFill>
            <a:srgbClr val="F9FAF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104" name="Text 102"/>
          <p:cNvSpPr/>
          <p:nvPr/>
        </p:nvSpPr>
        <p:spPr>
          <a:xfrm>
            <a:off x="6035040" y="4379976"/>
            <a:ext cx="832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0.4931</a:t>
            </a:r>
            <a:endParaRPr lang="en-US" sz="1050" dirty="0"/>
          </a:p>
        </p:txBody>
      </p:sp>
      <p:sp>
        <p:nvSpPr>
          <p:cNvPr id="105" name="Shape 103"/>
          <p:cNvSpPr/>
          <p:nvPr/>
        </p:nvSpPr>
        <p:spPr>
          <a:xfrm>
            <a:off x="6917436" y="4306824"/>
            <a:ext cx="749808" cy="384048"/>
          </a:xfrm>
          <a:prstGeom prst="rect">
            <a:avLst/>
          </a:prstGeom>
          <a:solidFill>
            <a:srgbClr val="F9FAF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106" name="Text 104"/>
          <p:cNvSpPr/>
          <p:nvPr/>
        </p:nvSpPr>
        <p:spPr>
          <a:xfrm>
            <a:off x="6967728" y="4379976"/>
            <a:ext cx="649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1050" dirty="0"/>
          </a:p>
        </p:txBody>
      </p:sp>
      <p:sp>
        <p:nvSpPr>
          <p:cNvPr id="123" name="Shape 121"/>
          <p:cNvSpPr/>
          <p:nvPr/>
        </p:nvSpPr>
        <p:spPr>
          <a:xfrm>
            <a:off x="406908" y="4690872"/>
            <a:ext cx="566928" cy="384048"/>
          </a:xfrm>
          <a:prstGeom prst="rect">
            <a:avLst/>
          </a:prstGeom>
          <a:solidFill>
            <a:srgbClr val="F9FAF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124" name="Text 122"/>
          <p:cNvSpPr/>
          <p:nvPr/>
        </p:nvSpPr>
        <p:spPr>
          <a:xfrm>
            <a:off x="457200" y="4764024"/>
            <a:ext cx="466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050" dirty="0"/>
          </a:p>
        </p:txBody>
      </p:sp>
      <p:sp>
        <p:nvSpPr>
          <p:cNvPr id="125" name="Shape 123"/>
          <p:cNvSpPr/>
          <p:nvPr/>
        </p:nvSpPr>
        <p:spPr>
          <a:xfrm>
            <a:off x="973836" y="4690872"/>
            <a:ext cx="749808" cy="384048"/>
          </a:xfrm>
          <a:prstGeom prst="rect">
            <a:avLst/>
          </a:prstGeom>
          <a:solidFill>
            <a:srgbClr val="F9FAF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 dirty="0"/>
          </a:p>
        </p:txBody>
      </p:sp>
      <p:sp>
        <p:nvSpPr>
          <p:cNvPr id="126" name="Text 124"/>
          <p:cNvSpPr/>
          <p:nvPr/>
        </p:nvSpPr>
        <p:spPr>
          <a:xfrm>
            <a:off x="1024128" y="4764024"/>
            <a:ext cx="649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050" dirty="0"/>
          </a:p>
        </p:txBody>
      </p:sp>
      <p:sp>
        <p:nvSpPr>
          <p:cNvPr id="127" name="Shape 125"/>
          <p:cNvSpPr/>
          <p:nvPr/>
        </p:nvSpPr>
        <p:spPr>
          <a:xfrm>
            <a:off x="1723644" y="4690872"/>
            <a:ext cx="1115568" cy="384048"/>
          </a:xfrm>
          <a:prstGeom prst="rect">
            <a:avLst/>
          </a:prstGeom>
          <a:solidFill>
            <a:srgbClr val="F9FAF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128" name="Text 126"/>
          <p:cNvSpPr/>
          <p:nvPr/>
        </p:nvSpPr>
        <p:spPr>
          <a:xfrm>
            <a:off x="1773936" y="4764024"/>
            <a:ext cx="10149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0.4998</a:t>
            </a:r>
            <a:endParaRPr lang="en-US" sz="1050" dirty="0"/>
          </a:p>
        </p:txBody>
      </p:sp>
      <p:sp>
        <p:nvSpPr>
          <p:cNvPr id="129" name="Shape 127"/>
          <p:cNvSpPr/>
          <p:nvPr/>
        </p:nvSpPr>
        <p:spPr>
          <a:xfrm>
            <a:off x="2839212" y="4690872"/>
            <a:ext cx="1225296" cy="384048"/>
          </a:xfrm>
          <a:prstGeom prst="rect">
            <a:avLst/>
          </a:prstGeom>
          <a:solidFill>
            <a:srgbClr val="F9FAF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130" name="Text 128"/>
          <p:cNvSpPr/>
          <p:nvPr/>
        </p:nvSpPr>
        <p:spPr>
          <a:xfrm>
            <a:off x="2889504" y="4764024"/>
            <a:ext cx="112471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1096.4</a:t>
            </a:r>
            <a:endParaRPr lang="en-US" sz="1050" dirty="0"/>
          </a:p>
        </p:txBody>
      </p:sp>
      <p:sp>
        <p:nvSpPr>
          <p:cNvPr id="131" name="Shape 129"/>
          <p:cNvSpPr/>
          <p:nvPr/>
        </p:nvSpPr>
        <p:spPr>
          <a:xfrm>
            <a:off x="4064508" y="4690872"/>
            <a:ext cx="987552" cy="384048"/>
          </a:xfrm>
          <a:prstGeom prst="rect">
            <a:avLst/>
          </a:prstGeom>
          <a:solidFill>
            <a:srgbClr val="F9FAF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132" name="Text 130"/>
          <p:cNvSpPr/>
          <p:nvPr/>
        </p:nvSpPr>
        <p:spPr>
          <a:xfrm>
            <a:off x="4114800" y="4764024"/>
            <a:ext cx="88696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0.0219</a:t>
            </a:r>
            <a:endParaRPr lang="en-US" sz="1050" dirty="0"/>
          </a:p>
        </p:txBody>
      </p:sp>
      <p:sp>
        <p:nvSpPr>
          <p:cNvPr id="133" name="Shape 131"/>
          <p:cNvSpPr/>
          <p:nvPr/>
        </p:nvSpPr>
        <p:spPr>
          <a:xfrm>
            <a:off x="5052060" y="4690872"/>
            <a:ext cx="932688" cy="384048"/>
          </a:xfrm>
          <a:prstGeom prst="rect">
            <a:avLst/>
          </a:prstGeom>
          <a:solidFill>
            <a:srgbClr val="F9FAF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134" name="Text 132"/>
          <p:cNvSpPr/>
          <p:nvPr/>
        </p:nvSpPr>
        <p:spPr>
          <a:xfrm>
            <a:off x="5102352" y="4764024"/>
            <a:ext cx="832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121.0</a:t>
            </a:r>
            <a:endParaRPr lang="en-US" sz="1050" dirty="0"/>
          </a:p>
        </p:txBody>
      </p:sp>
      <p:sp>
        <p:nvSpPr>
          <p:cNvPr id="135" name="Shape 133"/>
          <p:cNvSpPr/>
          <p:nvPr/>
        </p:nvSpPr>
        <p:spPr>
          <a:xfrm>
            <a:off x="5984748" y="4690872"/>
            <a:ext cx="932688" cy="384048"/>
          </a:xfrm>
          <a:prstGeom prst="rect">
            <a:avLst/>
          </a:prstGeom>
          <a:solidFill>
            <a:srgbClr val="F9FAF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136" name="Text 134"/>
          <p:cNvSpPr/>
          <p:nvPr/>
        </p:nvSpPr>
        <p:spPr>
          <a:xfrm>
            <a:off x="6035040" y="4764024"/>
            <a:ext cx="832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0.4931</a:t>
            </a:r>
            <a:endParaRPr lang="en-US" sz="1050" dirty="0"/>
          </a:p>
        </p:txBody>
      </p:sp>
      <p:sp>
        <p:nvSpPr>
          <p:cNvPr id="137" name="Shape 135"/>
          <p:cNvSpPr/>
          <p:nvPr/>
        </p:nvSpPr>
        <p:spPr>
          <a:xfrm>
            <a:off x="6917436" y="4690872"/>
            <a:ext cx="749808" cy="384048"/>
          </a:xfrm>
          <a:prstGeom prst="rect">
            <a:avLst/>
          </a:prstGeom>
          <a:solidFill>
            <a:srgbClr val="F9FAF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138" name="Text 136"/>
          <p:cNvSpPr/>
          <p:nvPr/>
        </p:nvSpPr>
        <p:spPr>
          <a:xfrm>
            <a:off x="6967728" y="4764024"/>
            <a:ext cx="649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1050" dirty="0"/>
          </a:p>
        </p:txBody>
      </p:sp>
      <p:sp>
        <p:nvSpPr>
          <p:cNvPr id="139" name="Shape 137"/>
          <p:cNvSpPr/>
          <p:nvPr/>
        </p:nvSpPr>
        <p:spPr>
          <a:xfrm>
            <a:off x="406908" y="5074920"/>
            <a:ext cx="56692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140" name="Text 138"/>
          <p:cNvSpPr/>
          <p:nvPr/>
        </p:nvSpPr>
        <p:spPr>
          <a:xfrm>
            <a:off x="457200" y="5148072"/>
            <a:ext cx="466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1050" dirty="0"/>
          </a:p>
        </p:txBody>
      </p:sp>
      <p:sp>
        <p:nvSpPr>
          <p:cNvPr id="141" name="Shape 139"/>
          <p:cNvSpPr/>
          <p:nvPr/>
        </p:nvSpPr>
        <p:spPr>
          <a:xfrm>
            <a:off x="973836" y="5074920"/>
            <a:ext cx="74980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142" name="Text 140"/>
          <p:cNvSpPr/>
          <p:nvPr/>
        </p:nvSpPr>
        <p:spPr>
          <a:xfrm>
            <a:off x="1024128" y="5148072"/>
            <a:ext cx="649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050" dirty="0"/>
          </a:p>
        </p:txBody>
      </p:sp>
      <p:sp>
        <p:nvSpPr>
          <p:cNvPr id="143" name="Shape 141"/>
          <p:cNvSpPr/>
          <p:nvPr/>
        </p:nvSpPr>
        <p:spPr>
          <a:xfrm>
            <a:off x="1723644" y="5074920"/>
            <a:ext cx="111556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144" name="Text 142"/>
          <p:cNvSpPr/>
          <p:nvPr/>
        </p:nvSpPr>
        <p:spPr>
          <a:xfrm>
            <a:off x="1773936" y="5148072"/>
            <a:ext cx="10149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0.4885</a:t>
            </a:r>
            <a:endParaRPr lang="en-US" sz="1050" dirty="0"/>
          </a:p>
        </p:txBody>
      </p:sp>
      <p:sp>
        <p:nvSpPr>
          <p:cNvPr id="145" name="Shape 143"/>
          <p:cNvSpPr/>
          <p:nvPr/>
        </p:nvSpPr>
        <p:spPr>
          <a:xfrm>
            <a:off x="2839212" y="5074920"/>
            <a:ext cx="1225296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146" name="Text 144"/>
          <p:cNvSpPr/>
          <p:nvPr/>
        </p:nvSpPr>
        <p:spPr>
          <a:xfrm>
            <a:off x="2889504" y="5148072"/>
            <a:ext cx="112471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295.0</a:t>
            </a:r>
            <a:endParaRPr lang="en-US" sz="1050" dirty="0"/>
          </a:p>
        </p:txBody>
      </p:sp>
      <p:sp>
        <p:nvSpPr>
          <p:cNvPr id="147" name="Shape 145"/>
          <p:cNvSpPr/>
          <p:nvPr/>
        </p:nvSpPr>
        <p:spPr>
          <a:xfrm>
            <a:off x="4064508" y="5074920"/>
            <a:ext cx="987552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148" name="Text 146"/>
          <p:cNvSpPr/>
          <p:nvPr/>
        </p:nvSpPr>
        <p:spPr>
          <a:xfrm>
            <a:off x="4114800" y="5148072"/>
            <a:ext cx="88696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0.0815</a:t>
            </a:r>
            <a:endParaRPr lang="en-US" sz="1050" dirty="0"/>
          </a:p>
        </p:txBody>
      </p:sp>
      <p:sp>
        <p:nvSpPr>
          <p:cNvPr id="149" name="Shape 147"/>
          <p:cNvSpPr/>
          <p:nvPr/>
        </p:nvSpPr>
        <p:spPr>
          <a:xfrm>
            <a:off x="5052060" y="5074920"/>
            <a:ext cx="93268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150" name="Text 148"/>
          <p:cNvSpPr/>
          <p:nvPr/>
        </p:nvSpPr>
        <p:spPr>
          <a:xfrm>
            <a:off x="5102352" y="5148072"/>
            <a:ext cx="832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6.300</a:t>
            </a:r>
            <a:endParaRPr lang="en-US" sz="1050" dirty="0"/>
          </a:p>
        </p:txBody>
      </p:sp>
      <p:sp>
        <p:nvSpPr>
          <p:cNvPr id="151" name="Shape 149"/>
          <p:cNvSpPr/>
          <p:nvPr/>
        </p:nvSpPr>
        <p:spPr>
          <a:xfrm>
            <a:off x="5984748" y="5074920"/>
            <a:ext cx="93268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152" name="Text 150"/>
          <p:cNvSpPr/>
          <p:nvPr/>
        </p:nvSpPr>
        <p:spPr>
          <a:xfrm>
            <a:off x="6035040" y="5148072"/>
            <a:ext cx="832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4.252</a:t>
            </a:r>
            <a:endParaRPr lang="en-US" sz="1050" dirty="0"/>
          </a:p>
        </p:txBody>
      </p:sp>
      <p:sp>
        <p:nvSpPr>
          <p:cNvPr id="153" name="Shape 151"/>
          <p:cNvSpPr/>
          <p:nvPr/>
        </p:nvSpPr>
        <p:spPr>
          <a:xfrm>
            <a:off x="6917436" y="5074920"/>
            <a:ext cx="74980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154" name="Text 152"/>
          <p:cNvSpPr/>
          <p:nvPr/>
        </p:nvSpPr>
        <p:spPr>
          <a:xfrm>
            <a:off x="6967728" y="5148072"/>
            <a:ext cx="649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1050" dirty="0"/>
          </a:p>
        </p:txBody>
      </p:sp>
      <p:sp>
        <p:nvSpPr>
          <p:cNvPr id="155" name="Shape 153"/>
          <p:cNvSpPr/>
          <p:nvPr/>
        </p:nvSpPr>
        <p:spPr>
          <a:xfrm>
            <a:off x="8115300" y="2816352"/>
            <a:ext cx="3154680" cy="1234440"/>
          </a:xfrm>
          <a:prstGeom prst="roundRect">
            <a:avLst>
              <a:gd name="adj" fmla="val 5926"/>
            </a:avLst>
          </a:prstGeom>
          <a:solidFill>
            <a:srgbClr val="EAF2FF"/>
          </a:solidFill>
          <a:ln w="12700">
            <a:solidFill>
              <a:srgbClr val="EAF2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6" name="Text 154"/>
          <p:cNvSpPr/>
          <p:nvPr/>
        </p:nvSpPr>
        <p:spPr>
          <a:xfrm>
            <a:off x="8325612" y="307238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0" b="1" dirty="0">
                <a:solidFill>
                  <a:srgbClr val="2F6FD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Best score</a:t>
            </a:r>
            <a:endParaRPr lang="en-US" sz="1060" dirty="0"/>
          </a:p>
        </p:txBody>
      </p:sp>
      <p:sp>
        <p:nvSpPr>
          <p:cNvPr id="157" name="Text 155"/>
          <p:cNvSpPr/>
          <p:nvPr/>
        </p:nvSpPr>
        <p:spPr>
          <a:xfrm>
            <a:off x="8325612" y="341071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Offer 6  •  0.7801</a:t>
            </a:r>
            <a:endParaRPr lang="en-US" sz="1650" dirty="0"/>
          </a:p>
        </p:txBody>
      </p:sp>
      <p:sp>
        <p:nvSpPr>
          <p:cNvPr id="160" name="Shape 5">
            <a:extLst>
              <a:ext uri="{FF2B5EF4-FFF2-40B4-BE49-F238E27FC236}">
                <a16:creationId xmlns:a16="http://schemas.microsoft.com/office/drawing/2014/main" id="{2B795FB3-B281-745C-69B6-F6C581CBB84F}"/>
              </a:ext>
            </a:extLst>
          </p:cNvPr>
          <p:cNvSpPr/>
          <p:nvPr/>
        </p:nvSpPr>
        <p:spPr>
          <a:xfrm>
            <a:off x="347472" y="1755648"/>
            <a:ext cx="11173968" cy="457200"/>
          </a:xfrm>
          <a:prstGeom prst="roundRect">
            <a:avLst>
              <a:gd name="adj" fmla="val 16000"/>
            </a:avLst>
          </a:prstGeom>
          <a:solidFill>
            <a:srgbClr val="EAF2FF"/>
          </a:solidFill>
          <a:ln w="12700">
            <a:solidFill>
              <a:srgbClr val="EAF2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1" name="Text 6">
            <a:extLst>
              <a:ext uri="{FF2B5EF4-FFF2-40B4-BE49-F238E27FC236}">
                <a16:creationId xmlns:a16="http://schemas.microsoft.com/office/drawing/2014/main" id="{9212625A-505E-8C68-B4FD-C7FC5544E105}"/>
              </a:ext>
            </a:extLst>
          </p:cNvPr>
          <p:cNvSpPr/>
          <p:nvPr/>
        </p:nvSpPr>
        <p:spPr>
          <a:xfrm>
            <a:off x="530352" y="1847088"/>
            <a:ext cx="10835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180" b="1" dirty="0">
                <a:solidFill>
                  <a:srgbClr val="2F6FDB"/>
                </a:solidFill>
              </a:rPr>
              <a:t>User Intent: User wants a media-oriented eMBB slice with high throughput (≥ 60) while respecting latency (≤ 10), cost (≤ 200), and energy (≤ 100) </a:t>
            </a:r>
            <a:endParaRPr lang="en-US" sz="1180" dirty="0"/>
          </a:p>
        </p:txBody>
      </p:sp>
      <p:pic>
        <p:nvPicPr>
          <p:cNvPr id="162" name="Picture 2">
            <a:extLst>
              <a:ext uri="{FF2B5EF4-FFF2-40B4-BE49-F238E27FC236}">
                <a16:creationId xmlns:a16="http://schemas.microsoft.com/office/drawing/2014/main" id="{ADAFBE51-1DDC-7BD7-8F5A-BF2D382B21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17856"/>
            <a:ext cx="2446591" cy="7107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25" y="-5618"/>
            <a:ext cx="12204344" cy="126761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965497" y="52019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0392B"/>
                </a:solidFill>
              </a:rPr>
              <a:t>TOPSIS Algorithm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274625" y="97028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rgbClr val="111827"/>
                </a:solidFill>
              </a:rPr>
              <a:t>Factory-Ops — best ranked offer</a:t>
            </a: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8869985" y="677672"/>
            <a:ext cx="2514600" cy="402336"/>
          </a:xfrm>
          <a:prstGeom prst="roundRect">
            <a:avLst>
              <a:gd name="adj" fmla="val 18182"/>
            </a:avLst>
          </a:prstGeom>
          <a:solidFill>
            <a:srgbClr val="FFF0EE"/>
          </a:solidFill>
          <a:ln w="12700">
            <a:solidFill>
              <a:srgbClr val="C0392B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961425" y="787400"/>
            <a:ext cx="2331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C0392B"/>
                </a:solidFill>
              </a:rPr>
              <a:t>slice = URLLC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274624" y="1500632"/>
            <a:ext cx="11553613" cy="457200"/>
          </a:xfrm>
          <a:prstGeom prst="roundRect">
            <a:avLst>
              <a:gd name="adj" fmla="val 16000"/>
            </a:avLst>
          </a:prstGeom>
          <a:solidFill>
            <a:srgbClr val="FFF0EE"/>
          </a:solidFill>
          <a:ln w="12700">
            <a:solidFill>
              <a:srgbClr val="FFF0E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57505" y="1628648"/>
            <a:ext cx="10835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r>
              <a:rPr lang="en-US" sz="1180" b="1" dirty="0">
                <a:solidFill>
                  <a:srgbClr val="C0392B"/>
                </a:solidFill>
              </a:rPr>
              <a:t>User Intent: User wants a URLLC slice for factory operations with throughput (≥ 5), latency (≤ 2), cost (≤ 200), and energy (≤ 100) </a:t>
            </a:r>
            <a:endParaRPr lang="en-US" sz="1180" dirty="0"/>
          </a:p>
        </p:txBody>
      </p:sp>
      <p:sp>
        <p:nvSpPr>
          <p:cNvPr id="9" name="Text 7"/>
          <p:cNvSpPr/>
          <p:nvPr/>
        </p:nvSpPr>
        <p:spPr>
          <a:xfrm>
            <a:off x="457505" y="225958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</a:rPr>
              <a:t>Best TOPSIS score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505" y="249732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dirty="0">
                <a:solidFill>
                  <a:srgbClr val="C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0.6556</a:t>
            </a:r>
            <a:endParaRPr lang="en-US" sz="3100" dirty="0">
              <a:solidFill>
                <a:srgbClr val="C00000"/>
              </a:solidFill>
            </a:endParaRPr>
          </a:p>
        </p:txBody>
      </p:sp>
      <p:sp>
        <p:nvSpPr>
          <p:cNvPr id="11" name="Text 9"/>
          <p:cNvSpPr/>
          <p:nvPr/>
        </p:nvSpPr>
        <p:spPr>
          <a:xfrm>
            <a:off x="457505" y="3109976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Rank 1 • Offer 5 • Feasible: true</a:t>
            </a:r>
            <a:endParaRPr lang="en-US" sz="1300" dirty="0"/>
          </a:p>
        </p:txBody>
      </p:sp>
      <p:sp>
        <p:nvSpPr>
          <p:cNvPr id="57" name="Shape 49">
            <a:extLst>
              <a:ext uri="{FF2B5EF4-FFF2-40B4-BE49-F238E27FC236}">
                <a16:creationId xmlns:a16="http://schemas.microsoft.com/office/drawing/2014/main" id="{76D72182-A65A-B319-E573-43EEC42A7B3A}"/>
              </a:ext>
            </a:extLst>
          </p:cNvPr>
          <p:cNvSpPr/>
          <p:nvPr/>
        </p:nvSpPr>
        <p:spPr>
          <a:xfrm>
            <a:off x="274625" y="5962904"/>
            <a:ext cx="2670048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50">
            <a:extLst>
              <a:ext uri="{FF2B5EF4-FFF2-40B4-BE49-F238E27FC236}">
                <a16:creationId xmlns:a16="http://schemas.microsoft.com/office/drawing/2014/main" id="{C12DEB41-AD27-803D-0DC6-F93E75B2C710}"/>
              </a:ext>
            </a:extLst>
          </p:cNvPr>
          <p:cNvSpPr/>
          <p:nvPr/>
        </p:nvSpPr>
        <p:spPr>
          <a:xfrm>
            <a:off x="439217" y="6072632"/>
            <a:ext cx="2340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</a:rPr>
              <a:t>Throughput min</a:t>
            </a:r>
            <a:endParaRPr lang="en-US" sz="850" dirty="0"/>
          </a:p>
        </p:txBody>
      </p:sp>
      <p:sp>
        <p:nvSpPr>
          <p:cNvPr id="59" name="Text 51">
            <a:extLst>
              <a:ext uri="{FF2B5EF4-FFF2-40B4-BE49-F238E27FC236}">
                <a16:creationId xmlns:a16="http://schemas.microsoft.com/office/drawing/2014/main" id="{B853FC1C-C3E6-D885-9D97-EA0B333FF50B}"/>
              </a:ext>
            </a:extLst>
          </p:cNvPr>
          <p:cNvSpPr/>
          <p:nvPr/>
        </p:nvSpPr>
        <p:spPr>
          <a:xfrm>
            <a:off x="439217" y="6292088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C00000"/>
                </a:solidFill>
              </a:rPr>
              <a:t>5.0 Mbps</a:t>
            </a:r>
            <a:endParaRPr lang="en-US" sz="1700" dirty="0">
              <a:solidFill>
                <a:srgbClr val="C00000"/>
              </a:solidFill>
            </a:endParaRPr>
          </a:p>
        </p:txBody>
      </p:sp>
      <p:sp>
        <p:nvSpPr>
          <p:cNvPr id="60" name="Shape 52">
            <a:extLst>
              <a:ext uri="{FF2B5EF4-FFF2-40B4-BE49-F238E27FC236}">
                <a16:creationId xmlns:a16="http://schemas.microsoft.com/office/drawing/2014/main" id="{6456410F-5A14-EAC4-7E2C-7C85837B283C}"/>
              </a:ext>
            </a:extLst>
          </p:cNvPr>
          <p:cNvSpPr/>
          <p:nvPr/>
        </p:nvSpPr>
        <p:spPr>
          <a:xfrm>
            <a:off x="3109265" y="5962904"/>
            <a:ext cx="2670048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3">
            <a:extLst>
              <a:ext uri="{FF2B5EF4-FFF2-40B4-BE49-F238E27FC236}">
                <a16:creationId xmlns:a16="http://schemas.microsoft.com/office/drawing/2014/main" id="{0DBDB3AD-5143-39C1-17B4-90CA3EBE9A24}"/>
              </a:ext>
            </a:extLst>
          </p:cNvPr>
          <p:cNvSpPr/>
          <p:nvPr/>
        </p:nvSpPr>
        <p:spPr>
          <a:xfrm>
            <a:off x="3273857" y="6072632"/>
            <a:ext cx="2340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</a:rPr>
              <a:t>Latency max</a:t>
            </a:r>
            <a:endParaRPr lang="en-US" sz="850" dirty="0"/>
          </a:p>
        </p:txBody>
      </p:sp>
      <p:sp>
        <p:nvSpPr>
          <p:cNvPr id="62" name="Text 54">
            <a:extLst>
              <a:ext uri="{FF2B5EF4-FFF2-40B4-BE49-F238E27FC236}">
                <a16:creationId xmlns:a16="http://schemas.microsoft.com/office/drawing/2014/main" id="{EA37D563-A84A-FED6-4208-22C12147FC08}"/>
              </a:ext>
            </a:extLst>
          </p:cNvPr>
          <p:cNvSpPr/>
          <p:nvPr/>
        </p:nvSpPr>
        <p:spPr>
          <a:xfrm>
            <a:off x="3273857" y="6292088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C00000"/>
                </a:solidFill>
              </a:rPr>
              <a:t>2.0 ms</a:t>
            </a:r>
            <a:endParaRPr lang="en-US" sz="1700" dirty="0">
              <a:solidFill>
                <a:srgbClr val="C00000"/>
              </a:solidFill>
            </a:endParaRPr>
          </a:p>
        </p:txBody>
      </p:sp>
      <p:sp>
        <p:nvSpPr>
          <p:cNvPr id="63" name="Shape 55">
            <a:extLst>
              <a:ext uri="{FF2B5EF4-FFF2-40B4-BE49-F238E27FC236}">
                <a16:creationId xmlns:a16="http://schemas.microsoft.com/office/drawing/2014/main" id="{BD665870-218A-16DC-F7E2-097B7C59BF82}"/>
              </a:ext>
            </a:extLst>
          </p:cNvPr>
          <p:cNvSpPr/>
          <p:nvPr/>
        </p:nvSpPr>
        <p:spPr>
          <a:xfrm>
            <a:off x="5943905" y="5962904"/>
            <a:ext cx="2670048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56">
            <a:extLst>
              <a:ext uri="{FF2B5EF4-FFF2-40B4-BE49-F238E27FC236}">
                <a16:creationId xmlns:a16="http://schemas.microsoft.com/office/drawing/2014/main" id="{1A29103E-D8C0-34DC-7805-19AED5E5EE9A}"/>
              </a:ext>
            </a:extLst>
          </p:cNvPr>
          <p:cNvSpPr/>
          <p:nvPr/>
        </p:nvSpPr>
        <p:spPr>
          <a:xfrm>
            <a:off x="6108497" y="6072632"/>
            <a:ext cx="2340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</a:rPr>
              <a:t>Cost max</a:t>
            </a:r>
            <a:endParaRPr lang="en-US" sz="850" dirty="0"/>
          </a:p>
        </p:txBody>
      </p:sp>
      <p:sp>
        <p:nvSpPr>
          <p:cNvPr id="65" name="Text 57">
            <a:extLst>
              <a:ext uri="{FF2B5EF4-FFF2-40B4-BE49-F238E27FC236}">
                <a16:creationId xmlns:a16="http://schemas.microsoft.com/office/drawing/2014/main" id="{8FC13720-399E-976C-F94E-E8F5292A6B36}"/>
              </a:ext>
            </a:extLst>
          </p:cNvPr>
          <p:cNvSpPr/>
          <p:nvPr/>
        </p:nvSpPr>
        <p:spPr>
          <a:xfrm>
            <a:off x="6108497" y="6292088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C00000"/>
                </a:solidFill>
              </a:rPr>
              <a:t>€200.0</a:t>
            </a:r>
            <a:endParaRPr lang="en-US" sz="1700" dirty="0">
              <a:solidFill>
                <a:srgbClr val="C00000"/>
              </a:solidFill>
            </a:endParaRPr>
          </a:p>
        </p:txBody>
      </p:sp>
      <p:sp>
        <p:nvSpPr>
          <p:cNvPr id="66" name="Shape 58">
            <a:extLst>
              <a:ext uri="{FF2B5EF4-FFF2-40B4-BE49-F238E27FC236}">
                <a16:creationId xmlns:a16="http://schemas.microsoft.com/office/drawing/2014/main" id="{C82F3BE0-5BC0-B0FB-B6DF-01B326CEEA38}"/>
              </a:ext>
            </a:extLst>
          </p:cNvPr>
          <p:cNvSpPr/>
          <p:nvPr/>
        </p:nvSpPr>
        <p:spPr>
          <a:xfrm>
            <a:off x="8778545" y="5962904"/>
            <a:ext cx="2670048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59">
            <a:extLst>
              <a:ext uri="{FF2B5EF4-FFF2-40B4-BE49-F238E27FC236}">
                <a16:creationId xmlns:a16="http://schemas.microsoft.com/office/drawing/2014/main" id="{42094965-D1AA-1ADE-FD95-2F429BAB7776}"/>
              </a:ext>
            </a:extLst>
          </p:cNvPr>
          <p:cNvSpPr/>
          <p:nvPr/>
        </p:nvSpPr>
        <p:spPr>
          <a:xfrm>
            <a:off x="8943137" y="6072632"/>
            <a:ext cx="2340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</a:rPr>
              <a:t>Energy max</a:t>
            </a:r>
            <a:endParaRPr lang="en-US" sz="850" dirty="0"/>
          </a:p>
        </p:txBody>
      </p:sp>
      <p:sp>
        <p:nvSpPr>
          <p:cNvPr id="68" name="Text 60">
            <a:extLst>
              <a:ext uri="{FF2B5EF4-FFF2-40B4-BE49-F238E27FC236}">
                <a16:creationId xmlns:a16="http://schemas.microsoft.com/office/drawing/2014/main" id="{1D0E1542-7BE9-5FB1-4D65-3FB85703AFDA}"/>
              </a:ext>
            </a:extLst>
          </p:cNvPr>
          <p:cNvSpPr/>
          <p:nvPr/>
        </p:nvSpPr>
        <p:spPr>
          <a:xfrm>
            <a:off x="8943137" y="6292088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C00000"/>
                </a:solidFill>
              </a:rPr>
              <a:t>100.0 W</a:t>
            </a:r>
            <a:endParaRPr lang="en-US" sz="1700" dirty="0">
              <a:solidFill>
                <a:srgbClr val="C00000"/>
              </a:solidFill>
            </a:endParaRPr>
          </a:p>
        </p:txBody>
      </p:sp>
      <p:sp>
        <p:nvSpPr>
          <p:cNvPr id="105" name="Shape 18">
            <a:extLst>
              <a:ext uri="{FF2B5EF4-FFF2-40B4-BE49-F238E27FC236}">
                <a16:creationId xmlns:a16="http://schemas.microsoft.com/office/drawing/2014/main" id="{4BDAE512-F834-F09D-2BD3-FB018A1D886A}"/>
              </a:ext>
            </a:extLst>
          </p:cNvPr>
          <p:cNvSpPr/>
          <p:nvPr/>
        </p:nvSpPr>
        <p:spPr>
          <a:xfrm>
            <a:off x="4389425" y="2268728"/>
            <a:ext cx="2240280" cy="384048"/>
          </a:xfrm>
          <a:prstGeom prst="rect">
            <a:avLst/>
          </a:prstGeom>
          <a:solidFill>
            <a:srgbClr val="C0392B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6" name="Text 19">
            <a:extLst>
              <a:ext uri="{FF2B5EF4-FFF2-40B4-BE49-F238E27FC236}">
                <a16:creationId xmlns:a16="http://schemas.microsoft.com/office/drawing/2014/main" id="{8E547DBD-91A6-F05A-4096-D09794402AA1}"/>
              </a:ext>
            </a:extLst>
          </p:cNvPr>
          <p:cNvSpPr/>
          <p:nvPr/>
        </p:nvSpPr>
        <p:spPr>
          <a:xfrm>
            <a:off x="4499153" y="2319020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Metric</a:t>
            </a:r>
            <a:endParaRPr lang="en-US" sz="1150" dirty="0"/>
          </a:p>
        </p:txBody>
      </p:sp>
      <p:sp>
        <p:nvSpPr>
          <p:cNvPr id="107" name="Shape 20">
            <a:extLst>
              <a:ext uri="{FF2B5EF4-FFF2-40B4-BE49-F238E27FC236}">
                <a16:creationId xmlns:a16="http://schemas.microsoft.com/office/drawing/2014/main" id="{4EBEE671-3E75-3A80-D4B1-BA1FF9FC8A3D}"/>
              </a:ext>
            </a:extLst>
          </p:cNvPr>
          <p:cNvSpPr/>
          <p:nvPr/>
        </p:nvSpPr>
        <p:spPr>
          <a:xfrm>
            <a:off x="6629705" y="2268728"/>
            <a:ext cx="3794760" cy="384048"/>
          </a:xfrm>
          <a:prstGeom prst="rect">
            <a:avLst/>
          </a:prstGeom>
          <a:solidFill>
            <a:srgbClr val="C0392B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8" name="Text 21">
            <a:extLst>
              <a:ext uri="{FF2B5EF4-FFF2-40B4-BE49-F238E27FC236}">
                <a16:creationId xmlns:a16="http://schemas.microsoft.com/office/drawing/2014/main" id="{E1002072-65CE-A25B-EF41-3F66CA23501A}"/>
              </a:ext>
            </a:extLst>
          </p:cNvPr>
          <p:cNvSpPr/>
          <p:nvPr/>
        </p:nvSpPr>
        <p:spPr>
          <a:xfrm>
            <a:off x="6739433" y="2319020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Value</a:t>
            </a:r>
            <a:endParaRPr lang="en-US" sz="1150" dirty="0"/>
          </a:p>
        </p:txBody>
      </p:sp>
      <p:sp>
        <p:nvSpPr>
          <p:cNvPr id="109" name="Shape 22">
            <a:extLst>
              <a:ext uri="{FF2B5EF4-FFF2-40B4-BE49-F238E27FC236}">
                <a16:creationId xmlns:a16="http://schemas.microsoft.com/office/drawing/2014/main" id="{EE14E26D-2C62-B834-8721-DBBED51EC5A1}"/>
              </a:ext>
            </a:extLst>
          </p:cNvPr>
          <p:cNvSpPr/>
          <p:nvPr/>
        </p:nvSpPr>
        <p:spPr>
          <a:xfrm>
            <a:off x="4389425" y="2652776"/>
            <a:ext cx="22402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0" name="Text 23">
            <a:extLst>
              <a:ext uri="{FF2B5EF4-FFF2-40B4-BE49-F238E27FC236}">
                <a16:creationId xmlns:a16="http://schemas.microsoft.com/office/drawing/2014/main" id="{D6576451-2984-7E7B-0D4A-D86ECDA259E3}"/>
              </a:ext>
            </a:extLst>
          </p:cNvPr>
          <p:cNvSpPr/>
          <p:nvPr/>
        </p:nvSpPr>
        <p:spPr>
          <a:xfrm>
            <a:off x="4499153" y="2703068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Rank</a:t>
            </a:r>
            <a:endParaRPr lang="en-US" sz="1100" dirty="0"/>
          </a:p>
        </p:txBody>
      </p:sp>
      <p:sp>
        <p:nvSpPr>
          <p:cNvPr id="111" name="Shape 24">
            <a:extLst>
              <a:ext uri="{FF2B5EF4-FFF2-40B4-BE49-F238E27FC236}">
                <a16:creationId xmlns:a16="http://schemas.microsoft.com/office/drawing/2014/main" id="{89EF3396-ADB2-8B76-415E-E6EE356D9B14}"/>
              </a:ext>
            </a:extLst>
          </p:cNvPr>
          <p:cNvSpPr/>
          <p:nvPr/>
        </p:nvSpPr>
        <p:spPr>
          <a:xfrm>
            <a:off x="6629705" y="2652776"/>
            <a:ext cx="37947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12" name="Text 25">
            <a:extLst>
              <a:ext uri="{FF2B5EF4-FFF2-40B4-BE49-F238E27FC236}">
                <a16:creationId xmlns:a16="http://schemas.microsoft.com/office/drawing/2014/main" id="{F882ADAC-F42D-C1DD-0300-5CB00FEB2093}"/>
              </a:ext>
            </a:extLst>
          </p:cNvPr>
          <p:cNvSpPr/>
          <p:nvPr/>
        </p:nvSpPr>
        <p:spPr>
          <a:xfrm>
            <a:off x="6739433" y="2703068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113" name="Shape 26">
            <a:extLst>
              <a:ext uri="{FF2B5EF4-FFF2-40B4-BE49-F238E27FC236}">
                <a16:creationId xmlns:a16="http://schemas.microsoft.com/office/drawing/2014/main" id="{D836E5B4-4CAC-E8F5-0C2F-C6D609679EC6}"/>
              </a:ext>
            </a:extLst>
          </p:cNvPr>
          <p:cNvSpPr/>
          <p:nvPr/>
        </p:nvSpPr>
        <p:spPr>
          <a:xfrm>
            <a:off x="4389425" y="3036824"/>
            <a:ext cx="2240280" cy="384048"/>
          </a:xfrm>
          <a:prstGeom prst="rect">
            <a:avLst/>
          </a:prstGeom>
          <a:solidFill>
            <a:srgbClr val="F9FAFB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4" name="Text 27">
            <a:extLst>
              <a:ext uri="{FF2B5EF4-FFF2-40B4-BE49-F238E27FC236}">
                <a16:creationId xmlns:a16="http://schemas.microsoft.com/office/drawing/2014/main" id="{C9D6671D-1264-0393-720C-3DA1CCC75E4A}"/>
              </a:ext>
            </a:extLst>
          </p:cNvPr>
          <p:cNvSpPr/>
          <p:nvPr/>
        </p:nvSpPr>
        <p:spPr>
          <a:xfrm>
            <a:off x="4499153" y="3087116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Offer ID</a:t>
            </a:r>
            <a:endParaRPr lang="en-US" sz="1100" dirty="0"/>
          </a:p>
        </p:txBody>
      </p:sp>
      <p:sp>
        <p:nvSpPr>
          <p:cNvPr id="115" name="Shape 28">
            <a:extLst>
              <a:ext uri="{FF2B5EF4-FFF2-40B4-BE49-F238E27FC236}">
                <a16:creationId xmlns:a16="http://schemas.microsoft.com/office/drawing/2014/main" id="{D2D3ADC3-FFE7-2943-DF5D-5C51A65379C2}"/>
              </a:ext>
            </a:extLst>
          </p:cNvPr>
          <p:cNvSpPr/>
          <p:nvPr/>
        </p:nvSpPr>
        <p:spPr>
          <a:xfrm>
            <a:off x="6629705" y="3036824"/>
            <a:ext cx="3794760" cy="384048"/>
          </a:xfrm>
          <a:prstGeom prst="rect">
            <a:avLst/>
          </a:prstGeom>
          <a:solidFill>
            <a:srgbClr val="F9FAFB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16" name="Text 29">
            <a:extLst>
              <a:ext uri="{FF2B5EF4-FFF2-40B4-BE49-F238E27FC236}">
                <a16:creationId xmlns:a16="http://schemas.microsoft.com/office/drawing/2014/main" id="{94CF8969-7D8E-82C3-03A8-56DF3D836A45}"/>
              </a:ext>
            </a:extLst>
          </p:cNvPr>
          <p:cNvSpPr/>
          <p:nvPr/>
        </p:nvSpPr>
        <p:spPr>
          <a:xfrm>
            <a:off x="6739433" y="3087116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111827"/>
                </a:solidFill>
                <a:latin typeface="Aptos" pitchFamily="34" charset="0"/>
              </a:rPr>
              <a:t>5</a:t>
            </a:r>
            <a:endParaRPr lang="en-US" sz="1100" dirty="0"/>
          </a:p>
        </p:txBody>
      </p:sp>
      <p:sp>
        <p:nvSpPr>
          <p:cNvPr id="117" name="Shape 30">
            <a:extLst>
              <a:ext uri="{FF2B5EF4-FFF2-40B4-BE49-F238E27FC236}">
                <a16:creationId xmlns:a16="http://schemas.microsoft.com/office/drawing/2014/main" id="{EE00339E-AF9C-EE0D-7D30-FB12EEEBA435}"/>
              </a:ext>
            </a:extLst>
          </p:cNvPr>
          <p:cNvSpPr/>
          <p:nvPr/>
        </p:nvSpPr>
        <p:spPr>
          <a:xfrm>
            <a:off x="4389425" y="3420872"/>
            <a:ext cx="22402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8" name="Text 31">
            <a:extLst>
              <a:ext uri="{FF2B5EF4-FFF2-40B4-BE49-F238E27FC236}">
                <a16:creationId xmlns:a16="http://schemas.microsoft.com/office/drawing/2014/main" id="{26C50F00-A946-DD84-63EB-AF678AD496C5}"/>
              </a:ext>
            </a:extLst>
          </p:cNvPr>
          <p:cNvSpPr/>
          <p:nvPr/>
        </p:nvSpPr>
        <p:spPr>
          <a:xfrm>
            <a:off x="4499153" y="3471164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TOPSIS score</a:t>
            </a:r>
            <a:endParaRPr lang="en-US" sz="1100" dirty="0"/>
          </a:p>
        </p:txBody>
      </p:sp>
      <p:sp>
        <p:nvSpPr>
          <p:cNvPr id="119" name="Shape 32">
            <a:extLst>
              <a:ext uri="{FF2B5EF4-FFF2-40B4-BE49-F238E27FC236}">
                <a16:creationId xmlns:a16="http://schemas.microsoft.com/office/drawing/2014/main" id="{E26653AC-83C9-D3EC-4BC8-342B7F96EFF2}"/>
              </a:ext>
            </a:extLst>
          </p:cNvPr>
          <p:cNvSpPr/>
          <p:nvPr/>
        </p:nvSpPr>
        <p:spPr>
          <a:xfrm>
            <a:off x="6629705" y="3420872"/>
            <a:ext cx="37947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r>
              <a:rPr lang="en-US" sz="1100" dirty="0">
                <a:latin typeface="Aptos" pitchFamily="34" charset="0"/>
                <a:ea typeface="Aptos" pitchFamily="34" charset="-122"/>
                <a:cs typeface="Aptos" pitchFamily="34" charset="-120"/>
              </a:rPr>
              <a:t>0.6556</a:t>
            </a:r>
            <a:endParaRPr lang="en-US" sz="1100" dirty="0"/>
          </a:p>
        </p:txBody>
      </p:sp>
      <p:sp>
        <p:nvSpPr>
          <p:cNvPr id="120" name="Text 33">
            <a:extLst>
              <a:ext uri="{FF2B5EF4-FFF2-40B4-BE49-F238E27FC236}">
                <a16:creationId xmlns:a16="http://schemas.microsoft.com/office/drawing/2014/main" id="{16FF73E2-784A-C750-5A16-91852EF31D71}"/>
              </a:ext>
            </a:extLst>
          </p:cNvPr>
          <p:cNvSpPr/>
          <p:nvPr/>
        </p:nvSpPr>
        <p:spPr>
          <a:xfrm>
            <a:off x="6739433" y="3471164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0.6556</a:t>
            </a:r>
            <a:endParaRPr lang="en-US" sz="1100" dirty="0"/>
          </a:p>
        </p:txBody>
      </p:sp>
      <p:sp>
        <p:nvSpPr>
          <p:cNvPr id="121" name="Shape 34">
            <a:extLst>
              <a:ext uri="{FF2B5EF4-FFF2-40B4-BE49-F238E27FC236}">
                <a16:creationId xmlns:a16="http://schemas.microsoft.com/office/drawing/2014/main" id="{D021D50A-4045-166A-7FC4-012E17A9E4C7}"/>
              </a:ext>
            </a:extLst>
          </p:cNvPr>
          <p:cNvSpPr/>
          <p:nvPr/>
        </p:nvSpPr>
        <p:spPr>
          <a:xfrm>
            <a:off x="4389425" y="3804920"/>
            <a:ext cx="2240280" cy="384048"/>
          </a:xfrm>
          <a:prstGeom prst="rect">
            <a:avLst/>
          </a:prstGeom>
          <a:solidFill>
            <a:srgbClr val="F9FAFB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2" name="Text 35">
            <a:extLst>
              <a:ext uri="{FF2B5EF4-FFF2-40B4-BE49-F238E27FC236}">
                <a16:creationId xmlns:a16="http://schemas.microsoft.com/office/drawing/2014/main" id="{96CA77C0-BCF4-D254-CB8C-93042C80B540}"/>
              </a:ext>
            </a:extLst>
          </p:cNvPr>
          <p:cNvSpPr/>
          <p:nvPr/>
        </p:nvSpPr>
        <p:spPr>
          <a:xfrm>
            <a:off x="4499153" y="3855212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Throughput</a:t>
            </a:r>
            <a:endParaRPr lang="en-US" sz="1100" dirty="0"/>
          </a:p>
        </p:txBody>
      </p:sp>
      <p:sp>
        <p:nvSpPr>
          <p:cNvPr id="123" name="Shape 36">
            <a:extLst>
              <a:ext uri="{FF2B5EF4-FFF2-40B4-BE49-F238E27FC236}">
                <a16:creationId xmlns:a16="http://schemas.microsoft.com/office/drawing/2014/main" id="{FD277F39-F433-6A6A-AB95-3B452CE83011}"/>
              </a:ext>
            </a:extLst>
          </p:cNvPr>
          <p:cNvSpPr/>
          <p:nvPr/>
        </p:nvSpPr>
        <p:spPr>
          <a:xfrm>
            <a:off x="6629705" y="3811497"/>
            <a:ext cx="3794760" cy="384048"/>
          </a:xfrm>
          <a:prstGeom prst="rect">
            <a:avLst/>
          </a:prstGeom>
          <a:solidFill>
            <a:srgbClr val="F9FAFB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4" name="Text 37">
            <a:extLst>
              <a:ext uri="{FF2B5EF4-FFF2-40B4-BE49-F238E27FC236}">
                <a16:creationId xmlns:a16="http://schemas.microsoft.com/office/drawing/2014/main" id="{77CC5741-909D-E798-2297-CC8B2E5CEC18}"/>
              </a:ext>
            </a:extLst>
          </p:cNvPr>
          <p:cNvSpPr/>
          <p:nvPr/>
        </p:nvSpPr>
        <p:spPr>
          <a:xfrm>
            <a:off x="6739433" y="3855212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100" dirty="0">
                <a:latin typeface="Aptos" pitchFamily="34" charset="0"/>
                <a:ea typeface="Aptos" pitchFamily="34" charset="-122"/>
                <a:cs typeface="Aptos" pitchFamily="34" charset="-120"/>
              </a:rPr>
              <a:t>302.4 Mbps</a:t>
            </a:r>
            <a:endParaRPr lang="en-US" sz="1100" dirty="0"/>
          </a:p>
        </p:txBody>
      </p:sp>
      <p:sp>
        <p:nvSpPr>
          <p:cNvPr id="125" name="Shape 38">
            <a:extLst>
              <a:ext uri="{FF2B5EF4-FFF2-40B4-BE49-F238E27FC236}">
                <a16:creationId xmlns:a16="http://schemas.microsoft.com/office/drawing/2014/main" id="{A18EF6FC-B224-31F7-B34B-583808311D7D}"/>
              </a:ext>
            </a:extLst>
          </p:cNvPr>
          <p:cNvSpPr/>
          <p:nvPr/>
        </p:nvSpPr>
        <p:spPr>
          <a:xfrm>
            <a:off x="4389425" y="4188968"/>
            <a:ext cx="22402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6" name="Text 39">
            <a:extLst>
              <a:ext uri="{FF2B5EF4-FFF2-40B4-BE49-F238E27FC236}">
                <a16:creationId xmlns:a16="http://schemas.microsoft.com/office/drawing/2014/main" id="{835BA1D4-553C-266F-4605-74A308A79762}"/>
              </a:ext>
            </a:extLst>
          </p:cNvPr>
          <p:cNvSpPr/>
          <p:nvPr/>
        </p:nvSpPr>
        <p:spPr>
          <a:xfrm>
            <a:off x="4499153" y="4239260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Latency</a:t>
            </a:r>
            <a:endParaRPr lang="en-US" sz="1100" dirty="0"/>
          </a:p>
        </p:txBody>
      </p:sp>
      <p:sp>
        <p:nvSpPr>
          <p:cNvPr id="127" name="Shape 40">
            <a:extLst>
              <a:ext uri="{FF2B5EF4-FFF2-40B4-BE49-F238E27FC236}">
                <a16:creationId xmlns:a16="http://schemas.microsoft.com/office/drawing/2014/main" id="{0DD10AFF-280D-8564-0FE7-303FB91C423A}"/>
              </a:ext>
            </a:extLst>
          </p:cNvPr>
          <p:cNvSpPr/>
          <p:nvPr/>
        </p:nvSpPr>
        <p:spPr>
          <a:xfrm>
            <a:off x="6629705" y="4188968"/>
            <a:ext cx="37947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8" name="Text 41">
            <a:extLst>
              <a:ext uri="{FF2B5EF4-FFF2-40B4-BE49-F238E27FC236}">
                <a16:creationId xmlns:a16="http://schemas.microsoft.com/office/drawing/2014/main" id="{B4C4AFE8-497E-6AAE-7E7A-2F116CC337B8}"/>
              </a:ext>
            </a:extLst>
          </p:cNvPr>
          <p:cNvSpPr/>
          <p:nvPr/>
        </p:nvSpPr>
        <p:spPr>
          <a:xfrm>
            <a:off x="6739433" y="4239260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100" dirty="0">
                <a:latin typeface="Aptos" pitchFamily="34" charset="0"/>
                <a:ea typeface="Aptos" pitchFamily="34" charset="-122"/>
                <a:cs typeface="Aptos" pitchFamily="34" charset="-120"/>
              </a:rPr>
              <a:t>0.0238 ms</a:t>
            </a:r>
            <a:endParaRPr lang="en-US" sz="1100" dirty="0"/>
          </a:p>
        </p:txBody>
      </p:sp>
      <p:sp>
        <p:nvSpPr>
          <p:cNvPr id="129" name="Shape 42">
            <a:extLst>
              <a:ext uri="{FF2B5EF4-FFF2-40B4-BE49-F238E27FC236}">
                <a16:creationId xmlns:a16="http://schemas.microsoft.com/office/drawing/2014/main" id="{EB26644B-AEEE-6C97-3A9E-6F07CD2B7A71}"/>
              </a:ext>
            </a:extLst>
          </p:cNvPr>
          <p:cNvSpPr/>
          <p:nvPr/>
        </p:nvSpPr>
        <p:spPr>
          <a:xfrm>
            <a:off x="4389425" y="4573016"/>
            <a:ext cx="2240280" cy="384048"/>
          </a:xfrm>
          <a:prstGeom prst="rect">
            <a:avLst/>
          </a:prstGeom>
          <a:solidFill>
            <a:srgbClr val="F9FAFB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0" name="Text 43">
            <a:extLst>
              <a:ext uri="{FF2B5EF4-FFF2-40B4-BE49-F238E27FC236}">
                <a16:creationId xmlns:a16="http://schemas.microsoft.com/office/drawing/2014/main" id="{FDFF6272-8863-E831-D287-23ED6A045860}"/>
              </a:ext>
            </a:extLst>
          </p:cNvPr>
          <p:cNvSpPr/>
          <p:nvPr/>
        </p:nvSpPr>
        <p:spPr>
          <a:xfrm>
            <a:off x="4499153" y="4623308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</a:t>
            </a:r>
            <a:endParaRPr lang="en-US" sz="1100" dirty="0"/>
          </a:p>
        </p:txBody>
      </p:sp>
      <p:sp>
        <p:nvSpPr>
          <p:cNvPr id="131" name="Shape 44">
            <a:extLst>
              <a:ext uri="{FF2B5EF4-FFF2-40B4-BE49-F238E27FC236}">
                <a16:creationId xmlns:a16="http://schemas.microsoft.com/office/drawing/2014/main" id="{339776C7-A63B-1E4A-B3AE-E0EBA4D1F74B}"/>
              </a:ext>
            </a:extLst>
          </p:cNvPr>
          <p:cNvSpPr/>
          <p:nvPr/>
        </p:nvSpPr>
        <p:spPr>
          <a:xfrm>
            <a:off x="6629705" y="4573016"/>
            <a:ext cx="3794760" cy="384048"/>
          </a:xfrm>
          <a:prstGeom prst="rect">
            <a:avLst/>
          </a:prstGeom>
          <a:solidFill>
            <a:srgbClr val="F9FAFB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2" name="Text 45">
            <a:extLst>
              <a:ext uri="{FF2B5EF4-FFF2-40B4-BE49-F238E27FC236}">
                <a16:creationId xmlns:a16="http://schemas.microsoft.com/office/drawing/2014/main" id="{534B43EC-9CB7-BCEF-6C6E-74F35241C896}"/>
              </a:ext>
            </a:extLst>
          </p:cNvPr>
          <p:cNvSpPr/>
          <p:nvPr/>
        </p:nvSpPr>
        <p:spPr>
          <a:xfrm>
            <a:off x="6739433" y="4623308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100" dirty="0">
                <a:latin typeface="Aptos" pitchFamily="34" charset="0"/>
                <a:ea typeface="Aptos" pitchFamily="34" charset="-122"/>
                <a:cs typeface="Aptos" pitchFamily="34" charset="-120"/>
              </a:rPr>
              <a:t>€2.407</a:t>
            </a:r>
            <a:endParaRPr lang="en-US" sz="1100" dirty="0"/>
          </a:p>
        </p:txBody>
      </p:sp>
      <p:sp>
        <p:nvSpPr>
          <p:cNvPr id="133" name="Shape 46">
            <a:extLst>
              <a:ext uri="{FF2B5EF4-FFF2-40B4-BE49-F238E27FC236}">
                <a16:creationId xmlns:a16="http://schemas.microsoft.com/office/drawing/2014/main" id="{BD016955-8FAC-DE45-63DF-0250CCBA6196}"/>
              </a:ext>
            </a:extLst>
          </p:cNvPr>
          <p:cNvSpPr/>
          <p:nvPr/>
        </p:nvSpPr>
        <p:spPr>
          <a:xfrm>
            <a:off x="4389425" y="4957064"/>
            <a:ext cx="22402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4" name="Text 47">
            <a:extLst>
              <a:ext uri="{FF2B5EF4-FFF2-40B4-BE49-F238E27FC236}">
                <a16:creationId xmlns:a16="http://schemas.microsoft.com/office/drawing/2014/main" id="{408EC0A4-6DEA-027D-7960-D5DCCD48BAF7}"/>
              </a:ext>
            </a:extLst>
          </p:cNvPr>
          <p:cNvSpPr/>
          <p:nvPr/>
        </p:nvSpPr>
        <p:spPr>
          <a:xfrm>
            <a:off x="4499153" y="5007356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Energy</a:t>
            </a:r>
            <a:endParaRPr lang="en-US" sz="1100" dirty="0"/>
          </a:p>
        </p:txBody>
      </p:sp>
      <p:sp>
        <p:nvSpPr>
          <p:cNvPr id="135" name="Shape 48">
            <a:extLst>
              <a:ext uri="{FF2B5EF4-FFF2-40B4-BE49-F238E27FC236}">
                <a16:creationId xmlns:a16="http://schemas.microsoft.com/office/drawing/2014/main" id="{09777B1C-4029-33A0-CA38-D04498148FF7}"/>
              </a:ext>
            </a:extLst>
          </p:cNvPr>
          <p:cNvSpPr/>
          <p:nvPr/>
        </p:nvSpPr>
        <p:spPr>
          <a:xfrm>
            <a:off x="6629705" y="4957064"/>
            <a:ext cx="37947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6" name="Text 49">
            <a:extLst>
              <a:ext uri="{FF2B5EF4-FFF2-40B4-BE49-F238E27FC236}">
                <a16:creationId xmlns:a16="http://schemas.microsoft.com/office/drawing/2014/main" id="{B7613BF9-6891-D1B0-B5C6-AB3337B6DD74}"/>
              </a:ext>
            </a:extLst>
          </p:cNvPr>
          <p:cNvSpPr/>
          <p:nvPr/>
        </p:nvSpPr>
        <p:spPr>
          <a:xfrm>
            <a:off x="6739433" y="5007356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100" dirty="0">
                <a:latin typeface="Aptos" pitchFamily="34" charset="0"/>
                <a:ea typeface="Aptos" pitchFamily="34" charset="-122"/>
                <a:cs typeface="Aptos" pitchFamily="34" charset="-120"/>
              </a:rPr>
              <a:t>8.434 W</a:t>
            </a:r>
            <a:endParaRPr lang="en-US" sz="1100" dirty="0"/>
          </a:p>
        </p:txBody>
      </p:sp>
      <p:sp>
        <p:nvSpPr>
          <p:cNvPr id="137" name="Shape 50">
            <a:extLst>
              <a:ext uri="{FF2B5EF4-FFF2-40B4-BE49-F238E27FC236}">
                <a16:creationId xmlns:a16="http://schemas.microsoft.com/office/drawing/2014/main" id="{E7FD36AE-6843-E544-A8AE-1CFB90FAABB4}"/>
              </a:ext>
            </a:extLst>
          </p:cNvPr>
          <p:cNvSpPr/>
          <p:nvPr/>
        </p:nvSpPr>
        <p:spPr>
          <a:xfrm>
            <a:off x="4389425" y="5341112"/>
            <a:ext cx="2240280" cy="384048"/>
          </a:xfrm>
          <a:prstGeom prst="rect">
            <a:avLst/>
          </a:prstGeom>
          <a:solidFill>
            <a:srgbClr val="F9FAFB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8" name="Text 51">
            <a:extLst>
              <a:ext uri="{FF2B5EF4-FFF2-40B4-BE49-F238E27FC236}">
                <a16:creationId xmlns:a16="http://schemas.microsoft.com/office/drawing/2014/main" id="{549E73AB-3E5C-C89B-D492-9EB9FD22A07C}"/>
              </a:ext>
            </a:extLst>
          </p:cNvPr>
          <p:cNvSpPr/>
          <p:nvPr/>
        </p:nvSpPr>
        <p:spPr>
          <a:xfrm>
            <a:off x="4499153" y="5391404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Feasible</a:t>
            </a:r>
            <a:endParaRPr lang="en-US" sz="1100" dirty="0"/>
          </a:p>
        </p:txBody>
      </p:sp>
      <p:sp>
        <p:nvSpPr>
          <p:cNvPr id="139" name="Shape 52">
            <a:extLst>
              <a:ext uri="{FF2B5EF4-FFF2-40B4-BE49-F238E27FC236}">
                <a16:creationId xmlns:a16="http://schemas.microsoft.com/office/drawing/2014/main" id="{1BE2028E-0E98-1ABE-A03F-194D13F409E5}"/>
              </a:ext>
            </a:extLst>
          </p:cNvPr>
          <p:cNvSpPr/>
          <p:nvPr/>
        </p:nvSpPr>
        <p:spPr>
          <a:xfrm>
            <a:off x="6629705" y="5341112"/>
            <a:ext cx="3794760" cy="384048"/>
          </a:xfrm>
          <a:prstGeom prst="rect">
            <a:avLst/>
          </a:prstGeom>
          <a:solidFill>
            <a:srgbClr val="F9FAFB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0" name="Text 53">
            <a:extLst>
              <a:ext uri="{FF2B5EF4-FFF2-40B4-BE49-F238E27FC236}">
                <a16:creationId xmlns:a16="http://schemas.microsoft.com/office/drawing/2014/main" id="{B2AA6A3C-C72E-FA11-7BE3-E46E939C25C2}"/>
              </a:ext>
            </a:extLst>
          </p:cNvPr>
          <p:cNvSpPr/>
          <p:nvPr/>
        </p:nvSpPr>
        <p:spPr>
          <a:xfrm>
            <a:off x="6739433" y="5391404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true</a:t>
            </a:r>
            <a:endParaRPr lang="en-US" sz="1100" dirty="0"/>
          </a:p>
        </p:txBody>
      </p:sp>
      <p:pic>
        <p:nvPicPr>
          <p:cNvPr id="141" name="Picture 2">
            <a:extLst>
              <a:ext uri="{FF2B5EF4-FFF2-40B4-BE49-F238E27FC236}">
                <a16:creationId xmlns:a16="http://schemas.microsoft.com/office/drawing/2014/main" id="{EE57AD11-1E4C-0874-2002-B83E892453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29948"/>
            <a:ext cx="2446591" cy="7107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617720" y="38404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039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TOPSIS Algorithm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281160" y="329184"/>
            <a:ext cx="2240280" cy="384048"/>
          </a:xfrm>
          <a:prstGeom prst="roundRect">
            <a:avLst>
              <a:gd name="adj" fmla="val 14286"/>
            </a:avLst>
          </a:prstGeom>
          <a:solidFill>
            <a:srgbClr val="FFF0EE"/>
          </a:solidFill>
          <a:ln w="12700">
            <a:solidFill>
              <a:srgbClr val="C0392B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400032" y="448056"/>
            <a:ext cx="19933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20" b="1" dirty="0">
                <a:solidFill>
                  <a:srgbClr val="C039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Factory-Ops • URLLC</a:t>
            </a:r>
            <a:endParaRPr lang="en-US" sz="1020" dirty="0"/>
          </a:p>
        </p:txBody>
      </p:sp>
      <p:sp>
        <p:nvSpPr>
          <p:cNvPr id="7" name="Text 5"/>
          <p:cNvSpPr/>
          <p:nvPr/>
        </p:nvSpPr>
        <p:spPr>
          <a:xfrm>
            <a:off x="658368" y="749808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Factory-Ops: all ranked offers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658368" y="1975104"/>
            <a:ext cx="7589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3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Criterion type: max, min, min, min • Weights: 1, 1, 1, 1</a:t>
            </a:r>
            <a:endParaRPr lang="en-US" sz="1030" dirty="0"/>
          </a:p>
        </p:txBody>
      </p:sp>
      <p:sp>
        <p:nvSpPr>
          <p:cNvPr id="11" name="Shape 9"/>
          <p:cNvSpPr/>
          <p:nvPr/>
        </p:nvSpPr>
        <p:spPr>
          <a:xfrm>
            <a:off x="658368" y="2286000"/>
            <a:ext cx="566928" cy="384048"/>
          </a:xfrm>
          <a:prstGeom prst="rect">
            <a:avLst/>
          </a:prstGeom>
          <a:solidFill>
            <a:srgbClr val="C0392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08660" y="2359152"/>
            <a:ext cx="466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Rank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225296" y="2286000"/>
            <a:ext cx="749808" cy="384048"/>
          </a:xfrm>
          <a:prstGeom prst="rect">
            <a:avLst/>
          </a:prstGeom>
          <a:solidFill>
            <a:srgbClr val="C0392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275588" y="2359152"/>
            <a:ext cx="649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Offer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1975104" y="2286000"/>
            <a:ext cx="1115568" cy="384048"/>
          </a:xfrm>
          <a:prstGeom prst="rect">
            <a:avLst/>
          </a:prstGeom>
          <a:solidFill>
            <a:srgbClr val="C0392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025396" y="2359152"/>
            <a:ext cx="10149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Score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090672" y="2286000"/>
            <a:ext cx="1225296" cy="384048"/>
          </a:xfrm>
          <a:prstGeom prst="rect">
            <a:avLst/>
          </a:prstGeom>
          <a:solidFill>
            <a:srgbClr val="C0392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140964" y="2359152"/>
            <a:ext cx="112471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Throughput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315968" y="2286000"/>
            <a:ext cx="987552" cy="384048"/>
          </a:xfrm>
          <a:prstGeom prst="rect">
            <a:avLst/>
          </a:prstGeom>
          <a:solidFill>
            <a:srgbClr val="C0392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366260" y="2359152"/>
            <a:ext cx="88696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Latency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303520" y="2286000"/>
            <a:ext cx="932688" cy="384048"/>
          </a:xfrm>
          <a:prstGeom prst="rect">
            <a:avLst/>
          </a:prstGeom>
          <a:solidFill>
            <a:srgbClr val="C0392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353812" y="2359152"/>
            <a:ext cx="832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36208" y="2286000"/>
            <a:ext cx="932688" cy="384048"/>
          </a:xfrm>
          <a:prstGeom prst="rect">
            <a:avLst/>
          </a:prstGeom>
          <a:solidFill>
            <a:srgbClr val="C0392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286500" y="2359152"/>
            <a:ext cx="832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Energy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168896" y="2286000"/>
            <a:ext cx="749808" cy="384048"/>
          </a:xfrm>
          <a:prstGeom prst="rect">
            <a:avLst/>
          </a:prstGeom>
          <a:solidFill>
            <a:srgbClr val="C0392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7219188" y="2359152"/>
            <a:ext cx="649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Feasible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58368" y="2670048"/>
            <a:ext cx="566928" cy="384048"/>
          </a:xfrm>
          <a:prstGeom prst="rect">
            <a:avLst/>
          </a:prstGeom>
          <a:solidFill>
            <a:srgbClr val="FFF0EE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708660" y="2743200"/>
            <a:ext cx="466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C039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1225296" y="2670048"/>
            <a:ext cx="749808" cy="384048"/>
          </a:xfrm>
          <a:prstGeom prst="rect">
            <a:avLst/>
          </a:prstGeom>
          <a:solidFill>
            <a:srgbClr val="FFF0EE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1275588" y="2743200"/>
            <a:ext cx="649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C039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1975104" y="2670048"/>
            <a:ext cx="1115568" cy="384048"/>
          </a:xfrm>
          <a:prstGeom prst="rect">
            <a:avLst/>
          </a:prstGeom>
          <a:solidFill>
            <a:srgbClr val="FFF0EE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2025396" y="2743200"/>
            <a:ext cx="10149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C039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0.6556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3090672" y="2670048"/>
            <a:ext cx="1225296" cy="384048"/>
          </a:xfrm>
          <a:prstGeom prst="rect">
            <a:avLst/>
          </a:prstGeom>
          <a:solidFill>
            <a:srgbClr val="FFF0EE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3140964" y="2743200"/>
            <a:ext cx="112471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C039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302.4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315968" y="2670048"/>
            <a:ext cx="987552" cy="384048"/>
          </a:xfrm>
          <a:prstGeom prst="rect">
            <a:avLst/>
          </a:prstGeom>
          <a:solidFill>
            <a:srgbClr val="FFF0EE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4366260" y="2743200"/>
            <a:ext cx="88696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C039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0.0238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5303520" y="2670048"/>
            <a:ext cx="932688" cy="384048"/>
          </a:xfrm>
          <a:prstGeom prst="rect">
            <a:avLst/>
          </a:prstGeom>
          <a:solidFill>
            <a:srgbClr val="FFF0EE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5353812" y="2743200"/>
            <a:ext cx="832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C039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2.407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236208" y="2670048"/>
            <a:ext cx="932688" cy="384048"/>
          </a:xfrm>
          <a:prstGeom prst="rect">
            <a:avLst/>
          </a:prstGeom>
          <a:solidFill>
            <a:srgbClr val="FFF0EE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6286500" y="2743200"/>
            <a:ext cx="832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C039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8.434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7168896" y="2670048"/>
            <a:ext cx="749808" cy="384048"/>
          </a:xfrm>
          <a:prstGeom prst="rect">
            <a:avLst/>
          </a:prstGeom>
          <a:solidFill>
            <a:srgbClr val="FFF0EE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7219188" y="2743200"/>
            <a:ext cx="649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C039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658368" y="3054096"/>
            <a:ext cx="56692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708660" y="3127248"/>
            <a:ext cx="466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1225296" y="3054096"/>
            <a:ext cx="74980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1275588" y="3127248"/>
            <a:ext cx="649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1975104" y="3054096"/>
            <a:ext cx="111556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2025396" y="3127248"/>
            <a:ext cx="10149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0.6503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3090672" y="3054096"/>
            <a:ext cx="1225296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3140964" y="3127248"/>
            <a:ext cx="112471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324.1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4315968" y="3054096"/>
            <a:ext cx="987552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4366260" y="3127248"/>
            <a:ext cx="88696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0.0222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5303520" y="3054096"/>
            <a:ext cx="93268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5353812" y="3127248"/>
            <a:ext cx="832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5.339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6236208" y="3054096"/>
            <a:ext cx="93268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6286500" y="3127248"/>
            <a:ext cx="832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8.434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7168896" y="3054096"/>
            <a:ext cx="74980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56"/>
          <p:cNvSpPr/>
          <p:nvPr/>
        </p:nvSpPr>
        <p:spPr>
          <a:xfrm>
            <a:off x="7219188" y="3127248"/>
            <a:ext cx="649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1050" dirty="0"/>
          </a:p>
        </p:txBody>
      </p:sp>
      <p:sp>
        <p:nvSpPr>
          <p:cNvPr id="59" name="Shape 57"/>
          <p:cNvSpPr/>
          <p:nvPr/>
        </p:nvSpPr>
        <p:spPr>
          <a:xfrm>
            <a:off x="658368" y="3438144"/>
            <a:ext cx="566928" cy="384048"/>
          </a:xfrm>
          <a:prstGeom prst="rect">
            <a:avLst/>
          </a:prstGeom>
          <a:solidFill>
            <a:srgbClr val="F9FAF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Text 58"/>
          <p:cNvSpPr/>
          <p:nvPr/>
        </p:nvSpPr>
        <p:spPr>
          <a:xfrm>
            <a:off x="708660" y="3511296"/>
            <a:ext cx="466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1225296" y="3438144"/>
            <a:ext cx="749808" cy="384048"/>
          </a:xfrm>
          <a:prstGeom prst="rect">
            <a:avLst/>
          </a:prstGeom>
          <a:solidFill>
            <a:srgbClr val="F9FAF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Text 60"/>
          <p:cNvSpPr/>
          <p:nvPr/>
        </p:nvSpPr>
        <p:spPr>
          <a:xfrm>
            <a:off x="1275588" y="3511296"/>
            <a:ext cx="649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050" dirty="0"/>
          </a:p>
        </p:txBody>
      </p:sp>
      <p:sp>
        <p:nvSpPr>
          <p:cNvPr id="63" name="Shape 61"/>
          <p:cNvSpPr/>
          <p:nvPr/>
        </p:nvSpPr>
        <p:spPr>
          <a:xfrm>
            <a:off x="1975104" y="3438144"/>
            <a:ext cx="1115568" cy="384048"/>
          </a:xfrm>
          <a:prstGeom prst="rect">
            <a:avLst/>
          </a:prstGeom>
          <a:solidFill>
            <a:srgbClr val="F9FAF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62"/>
          <p:cNvSpPr/>
          <p:nvPr/>
        </p:nvSpPr>
        <p:spPr>
          <a:xfrm>
            <a:off x="2025396" y="3511296"/>
            <a:ext cx="10149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0.5680</a:t>
            </a:r>
            <a:endParaRPr lang="en-US" sz="1050" dirty="0"/>
          </a:p>
        </p:txBody>
      </p:sp>
      <p:sp>
        <p:nvSpPr>
          <p:cNvPr id="65" name="Shape 63"/>
          <p:cNvSpPr/>
          <p:nvPr/>
        </p:nvSpPr>
        <p:spPr>
          <a:xfrm>
            <a:off x="3090672" y="3438144"/>
            <a:ext cx="1225296" cy="384048"/>
          </a:xfrm>
          <a:prstGeom prst="rect">
            <a:avLst/>
          </a:prstGeom>
          <a:solidFill>
            <a:srgbClr val="F9FAF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Text 64"/>
          <p:cNvSpPr/>
          <p:nvPr/>
        </p:nvSpPr>
        <p:spPr>
          <a:xfrm>
            <a:off x="3140964" y="3511296"/>
            <a:ext cx="112471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373.3</a:t>
            </a:r>
            <a:endParaRPr lang="en-US" sz="1050" dirty="0"/>
          </a:p>
        </p:txBody>
      </p:sp>
      <p:sp>
        <p:nvSpPr>
          <p:cNvPr id="67" name="Shape 65"/>
          <p:cNvSpPr/>
          <p:nvPr/>
        </p:nvSpPr>
        <p:spPr>
          <a:xfrm>
            <a:off x="4315968" y="3438144"/>
            <a:ext cx="987552" cy="384048"/>
          </a:xfrm>
          <a:prstGeom prst="rect">
            <a:avLst/>
          </a:prstGeom>
          <a:solidFill>
            <a:srgbClr val="F9FAF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Text 66"/>
          <p:cNvSpPr/>
          <p:nvPr/>
        </p:nvSpPr>
        <p:spPr>
          <a:xfrm>
            <a:off x="4366260" y="3511296"/>
            <a:ext cx="88696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0.0193</a:t>
            </a:r>
            <a:endParaRPr lang="en-US" sz="1050" dirty="0"/>
          </a:p>
        </p:txBody>
      </p:sp>
      <p:sp>
        <p:nvSpPr>
          <p:cNvPr id="69" name="Shape 67"/>
          <p:cNvSpPr/>
          <p:nvPr/>
        </p:nvSpPr>
        <p:spPr>
          <a:xfrm>
            <a:off x="5303520" y="3438144"/>
            <a:ext cx="932688" cy="384048"/>
          </a:xfrm>
          <a:prstGeom prst="rect">
            <a:avLst/>
          </a:prstGeom>
          <a:solidFill>
            <a:srgbClr val="F9FAF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Text 68"/>
          <p:cNvSpPr/>
          <p:nvPr/>
        </p:nvSpPr>
        <p:spPr>
          <a:xfrm>
            <a:off x="5353812" y="3511296"/>
            <a:ext cx="832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15.65</a:t>
            </a:r>
            <a:endParaRPr lang="en-US" sz="1050" dirty="0"/>
          </a:p>
        </p:txBody>
      </p:sp>
      <p:sp>
        <p:nvSpPr>
          <p:cNvPr id="71" name="Shape 69"/>
          <p:cNvSpPr/>
          <p:nvPr/>
        </p:nvSpPr>
        <p:spPr>
          <a:xfrm>
            <a:off x="6236208" y="3438144"/>
            <a:ext cx="932688" cy="384048"/>
          </a:xfrm>
          <a:prstGeom prst="rect">
            <a:avLst/>
          </a:prstGeom>
          <a:solidFill>
            <a:srgbClr val="F9FAF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Text 70"/>
          <p:cNvSpPr/>
          <p:nvPr/>
        </p:nvSpPr>
        <p:spPr>
          <a:xfrm>
            <a:off x="6286500" y="3511296"/>
            <a:ext cx="832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0.9151</a:t>
            </a:r>
            <a:endParaRPr lang="en-US" sz="1050" dirty="0"/>
          </a:p>
        </p:txBody>
      </p:sp>
      <p:sp>
        <p:nvSpPr>
          <p:cNvPr id="73" name="Shape 71"/>
          <p:cNvSpPr/>
          <p:nvPr/>
        </p:nvSpPr>
        <p:spPr>
          <a:xfrm>
            <a:off x="7168896" y="3438144"/>
            <a:ext cx="749808" cy="384048"/>
          </a:xfrm>
          <a:prstGeom prst="rect">
            <a:avLst/>
          </a:prstGeom>
          <a:solidFill>
            <a:srgbClr val="F9FAF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Text 72"/>
          <p:cNvSpPr/>
          <p:nvPr/>
        </p:nvSpPr>
        <p:spPr>
          <a:xfrm>
            <a:off x="7219188" y="3511296"/>
            <a:ext cx="649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1050" dirty="0"/>
          </a:p>
        </p:txBody>
      </p:sp>
      <p:sp>
        <p:nvSpPr>
          <p:cNvPr id="76" name="Text 74"/>
          <p:cNvSpPr/>
          <p:nvPr/>
        </p:nvSpPr>
        <p:spPr>
          <a:xfrm>
            <a:off x="708660" y="3895344"/>
            <a:ext cx="466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1050" dirty="0"/>
          </a:p>
        </p:txBody>
      </p:sp>
      <p:sp>
        <p:nvSpPr>
          <p:cNvPr id="79" name="Shape 77"/>
          <p:cNvSpPr/>
          <p:nvPr/>
        </p:nvSpPr>
        <p:spPr>
          <a:xfrm>
            <a:off x="1975104" y="3822192"/>
            <a:ext cx="111556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1" name="Shape 79"/>
          <p:cNvSpPr/>
          <p:nvPr/>
        </p:nvSpPr>
        <p:spPr>
          <a:xfrm>
            <a:off x="3090672" y="3822192"/>
            <a:ext cx="1225296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3" name="Shape 81"/>
          <p:cNvSpPr/>
          <p:nvPr/>
        </p:nvSpPr>
        <p:spPr>
          <a:xfrm>
            <a:off x="4315968" y="3822192"/>
            <a:ext cx="987552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5" name="Shape 83"/>
          <p:cNvSpPr/>
          <p:nvPr/>
        </p:nvSpPr>
        <p:spPr>
          <a:xfrm>
            <a:off x="5303520" y="3822192"/>
            <a:ext cx="93268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7" name="Shape 85"/>
          <p:cNvSpPr/>
          <p:nvPr/>
        </p:nvSpPr>
        <p:spPr>
          <a:xfrm>
            <a:off x="6236208" y="3822192"/>
            <a:ext cx="93268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9" name="Shape 87"/>
          <p:cNvSpPr/>
          <p:nvPr/>
        </p:nvSpPr>
        <p:spPr>
          <a:xfrm>
            <a:off x="7168896" y="3822192"/>
            <a:ext cx="74980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1" name="Shape 89"/>
          <p:cNvSpPr/>
          <p:nvPr/>
        </p:nvSpPr>
        <p:spPr>
          <a:xfrm>
            <a:off x="658368" y="3776472"/>
            <a:ext cx="566928" cy="384048"/>
          </a:xfrm>
          <a:prstGeom prst="rect">
            <a:avLst/>
          </a:prstGeom>
          <a:solidFill>
            <a:srgbClr val="F9FAF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2" name="Text 90"/>
          <p:cNvSpPr/>
          <p:nvPr/>
        </p:nvSpPr>
        <p:spPr>
          <a:xfrm>
            <a:off x="708660" y="3849624"/>
            <a:ext cx="466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050" dirty="0"/>
          </a:p>
        </p:txBody>
      </p:sp>
      <p:sp>
        <p:nvSpPr>
          <p:cNvPr id="93" name="Shape 91"/>
          <p:cNvSpPr/>
          <p:nvPr/>
        </p:nvSpPr>
        <p:spPr>
          <a:xfrm>
            <a:off x="1225296" y="3776472"/>
            <a:ext cx="749808" cy="384048"/>
          </a:xfrm>
          <a:prstGeom prst="rect">
            <a:avLst/>
          </a:prstGeom>
          <a:solidFill>
            <a:srgbClr val="F9FAF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4" name="Text 92"/>
          <p:cNvSpPr/>
          <p:nvPr/>
        </p:nvSpPr>
        <p:spPr>
          <a:xfrm>
            <a:off x="1275588" y="3849624"/>
            <a:ext cx="649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050" dirty="0"/>
          </a:p>
        </p:txBody>
      </p:sp>
      <p:sp>
        <p:nvSpPr>
          <p:cNvPr id="95" name="Shape 93"/>
          <p:cNvSpPr/>
          <p:nvPr/>
        </p:nvSpPr>
        <p:spPr>
          <a:xfrm>
            <a:off x="1975104" y="3776472"/>
            <a:ext cx="1115568" cy="384048"/>
          </a:xfrm>
          <a:prstGeom prst="rect">
            <a:avLst/>
          </a:prstGeom>
          <a:solidFill>
            <a:srgbClr val="F9FAF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6" name="Text 94"/>
          <p:cNvSpPr/>
          <p:nvPr/>
        </p:nvSpPr>
        <p:spPr>
          <a:xfrm>
            <a:off x="2025396" y="3849624"/>
            <a:ext cx="10149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0.5651</a:t>
            </a:r>
            <a:endParaRPr lang="en-US" sz="1050" dirty="0"/>
          </a:p>
        </p:txBody>
      </p:sp>
      <p:sp>
        <p:nvSpPr>
          <p:cNvPr id="97" name="Shape 95"/>
          <p:cNvSpPr/>
          <p:nvPr/>
        </p:nvSpPr>
        <p:spPr>
          <a:xfrm>
            <a:off x="3090672" y="3776472"/>
            <a:ext cx="1225296" cy="384048"/>
          </a:xfrm>
          <a:prstGeom prst="rect">
            <a:avLst/>
          </a:prstGeom>
          <a:solidFill>
            <a:srgbClr val="F9FAF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8" name="Text 96"/>
          <p:cNvSpPr/>
          <p:nvPr/>
        </p:nvSpPr>
        <p:spPr>
          <a:xfrm>
            <a:off x="3140964" y="3849624"/>
            <a:ext cx="112471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710.5</a:t>
            </a:r>
            <a:endParaRPr lang="en-US" sz="1050" dirty="0"/>
          </a:p>
        </p:txBody>
      </p:sp>
      <p:sp>
        <p:nvSpPr>
          <p:cNvPr id="99" name="Shape 97"/>
          <p:cNvSpPr/>
          <p:nvPr/>
        </p:nvSpPr>
        <p:spPr>
          <a:xfrm>
            <a:off x="4315968" y="3776472"/>
            <a:ext cx="987552" cy="384048"/>
          </a:xfrm>
          <a:prstGeom prst="rect">
            <a:avLst/>
          </a:prstGeom>
          <a:solidFill>
            <a:srgbClr val="F9FAF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0" name="Text 98"/>
          <p:cNvSpPr/>
          <p:nvPr/>
        </p:nvSpPr>
        <p:spPr>
          <a:xfrm>
            <a:off x="4366260" y="3849624"/>
            <a:ext cx="88696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0.0101</a:t>
            </a:r>
            <a:endParaRPr lang="en-US" sz="1050" dirty="0"/>
          </a:p>
        </p:txBody>
      </p:sp>
      <p:sp>
        <p:nvSpPr>
          <p:cNvPr id="101" name="Shape 99"/>
          <p:cNvSpPr/>
          <p:nvPr/>
        </p:nvSpPr>
        <p:spPr>
          <a:xfrm>
            <a:off x="5303520" y="3776472"/>
            <a:ext cx="932688" cy="384048"/>
          </a:xfrm>
          <a:prstGeom prst="rect">
            <a:avLst/>
          </a:prstGeom>
          <a:solidFill>
            <a:srgbClr val="F9FAF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2" name="Text 100"/>
          <p:cNvSpPr/>
          <p:nvPr/>
        </p:nvSpPr>
        <p:spPr>
          <a:xfrm>
            <a:off x="5353812" y="3849624"/>
            <a:ext cx="832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5.339</a:t>
            </a:r>
            <a:endParaRPr lang="en-US" sz="1050" dirty="0"/>
          </a:p>
        </p:txBody>
      </p:sp>
      <p:sp>
        <p:nvSpPr>
          <p:cNvPr id="103" name="Shape 101"/>
          <p:cNvSpPr/>
          <p:nvPr/>
        </p:nvSpPr>
        <p:spPr>
          <a:xfrm>
            <a:off x="6236208" y="3776472"/>
            <a:ext cx="932688" cy="384048"/>
          </a:xfrm>
          <a:prstGeom prst="rect">
            <a:avLst/>
          </a:prstGeom>
          <a:solidFill>
            <a:srgbClr val="F9FAF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4" name="Text 102"/>
          <p:cNvSpPr/>
          <p:nvPr/>
        </p:nvSpPr>
        <p:spPr>
          <a:xfrm>
            <a:off x="6286500" y="3849624"/>
            <a:ext cx="832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60.15</a:t>
            </a:r>
            <a:endParaRPr lang="en-US" sz="1050" dirty="0"/>
          </a:p>
        </p:txBody>
      </p:sp>
      <p:sp>
        <p:nvSpPr>
          <p:cNvPr id="105" name="Shape 103"/>
          <p:cNvSpPr/>
          <p:nvPr/>
        </p:nvSpPr>
        <p:spPr>
          <a:xfrm>
            <a:off x="7168896" y="3776472"/>
            <a:ext cx="749808" cy="384048"/>
          </a:xfrm>
          <a:prstGeom prst="rect">
            <a:avLst/>
          </a:prstGeom>
          <a:solidFill>
            <a:srgbClr val="F9FAF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6" name="Text 104"/>
          <p:cNvSpPr/>
          <p:nvPr/>
        </p:nvSpPr>
        <p:spPr>
          <a:xfrm>
            <a:off x="7219188" y="3849624"/>
            <a:ext cx="649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1050" dirty="0"/>
          </a:p>
        </p:txBody>
      </p:sp>
      <p:sp>
        <p:nvSpPr>
          <p:cNvPr id="108" name="Text 106"/>
          <p:cNvSpPr/>
          <p:nvPr/>
        </p:nvSpPr>
        <p:spPr>
          <a:xfrm>
            <a:off x="708660" y="4233672"/>
            <a:ext cx="466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1050" dirty="0"/>
          </a:p>
        </p:txBody>
      </p:sp>
      <p:sp>
        <p:nvSpPr>
          <p:cNvPr id="111" name="Shape 109"/>
          <p:cNvSpPr/>
          <p:nvPr/>
        </p:nvSpPr>
        <p:spPr>
          <a:xfrm>
            <a:off x="1975104" y="4160520"/>
            <a:ext cx="111556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5" name="Shape 113"/>
          <p:cNvSpPr/>
          <p:nvPr/>
        </p:nvSpPr>
        <p:spPr>
          <a:xfrm>
            <a:off x="4315968" y="4160520"/>
            <a:ext cx="987552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3" name="Shape 121"/>
          <p:cNvSpPr/>
          <p:nvPr/>
        </p:nvSpPr>
        <p:spPr>
          <a:xfrm>
            <a:off x="658368" y="4160520"/>
            <a:ext cx="566928" cy="384048"/>
          </a:xfrm>
          <a:prstGeom prst="rect">
            <a:avLst/>
          </a:prstGeom>
          <a:solidFill>
            <a:srgbClr val="F9FAF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24" name="Text 122"/>
          <p:cNvSpPr/>
          <p:nvPr/>
        </p:nvSpPr>
        <p:spPr>
          <a:xfrm>
            <a:off x="708660" y="4233672"/>
            <a:ext cx="466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050" dirty="0"/>
          </a:p>
        </p:txBody>
      </p:sp>
      <p:sp>
        <p:nvSpPr>
          <p:cNvPr id="125" name="Shape 123"/>
          <p:cNvSpPr/>
          <p:nvPr/>
        </p:nvSpPr>
        <p:spPr>
          <a:xfrm>
            <a:off x="1225296" y="4160520"/>
            <a:ext cx="749808" cy="384048"/>
          </a:xfrm>
          <a:prstGeom prst="rect">
            <a:avLst/>
          </a:prstGeom>
          <a:solidFill>
            <a:srgbClr val="F9FAF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6" name="Text 124"/>
          <p:cNvSpPr/>
          <p:nvPr/>
        </p:nvSpPr>
        <p:spPr>
          <a:xfrm>
            <a:off x="1275588" y="4233672"/>
            <a:ext cx="649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050" dirty="0"/>
          </a:p>
        </p:txBody>
      </p:sp>
      <p:sp>
        <p:nvSpPr>
          <p:cNvPr id="127" name="Shape 125"/>
          <p:cNvSpPr/>
          <p:nvPr/>
        </p:nvSpPr>
        <p:spPr>
          <a:xfrm>
            <a:off x="1975104" y="4160520"/>
            <a:ext cx="1115568" cy="384048"/>
          </a:xfrm>
          <a:prstGeom prst="rect">
            <a:avLst/>
          </a:prstGeom>
          <a:solidFill>
            <a:srgbClr val="F9FAF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8" name="Text 126"/>
          <p:cNvSpPr/>
          <p:nvPr/>
        </p:nvSpPr>
        <p:spPr>
          <a:xfrm>
            <a:off x="2025396" y="4233672"/>
            <a:ext cx="10149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0.4661</a:t>
            </a:r>
            <a:endParaRPr lang="en-US" sz="1050" dirty="0"/>
          </a:p>
        </p:txBody>
      </p:sp>
      <p:sp>
        <p:nvSpPr>
          <p:cNvPr id="129" name="Shape 127"/>
          <p:cNvSpPr/>
          <p:nvPr/>
        </p:nvSpPr>
        <p:spPr>
          <a:xfrm>
            <a:off x="3090672" y="4160520"/>
            <a:ext cx="1225296" cy="384048"/>
          </a:xfrm>
          <a:prstGeom prst="rect">
            <a:avLst/>
          </a:prstGeom>
          <a:solidFill>
            <a:srgbClr val="F9FAF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0" name="Text 128"/>
          <p:cNvSpPr/>
          <p:nvPr/>
        </p:nvSpPr>
        <p:spPr>
          <a:xfrm>
            <a:off x="3140964" y="4233672"/>
            <a:ext cx="112471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334.6</a:t>
            </a:r>
            <a:endParaRPr lang="en-US" sz="1050" dirty="0"/>
          </a:p>
        </p:txBody>
      </p:sp>
      <p:sp>
        <p:nvSpPr>
          <p:cNvPr id="131" name="Shape 129"/>
          <p:cNvSpPr/>
          <p:nvPr/>
        </p:nvSpPr>
        <p:spPr>
          <a:xfrm>
            <a:off x="4315968" y="4160520"/>
            <a:ext cx="987552" cy="384048"/>
          </a:xfrm>
          <a:prstGeom prst="rect">
            <a:avLst/>
          </a:prstGeom>
          <a:solidFill>
            <a:srgbClr val="F9FAF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2" name="Text 130"/>
          <p:cNvSpPr/>
          <p:nvPr/>
        </p:nvSpPr>
        <p:spPr>
          <a:xfrm>
            <a:off x="4366260" y="4233672"/>
            <a:ext cx="88696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0.0215</a:t>
            </a:r>
            <a:endParaRPr lang="en-US" sz="1050" dirty="0"/>
          </a:p>
        </p:txBody>
      </p:sp>
      <p:sp>
        <p:nvSpPr>
          <p:cNvPr id="133" name="Shape 131"/>
          <p:cNvSpPr/>
          <p:nvPr/>
        </p:nvSpPr>
        <p:spPr>
          <a:xfrm>
            <a:off x="5303520" y="4160520"/>
            <a:ext cx="932688" cy="384048"/>
          </a:xfrm>
          <a:prstGeom prst="rect">
            <a:avLst/>
          </a:prstGeom>
          <a:solidFill>
            <a:srgbClr val="F9FAF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4" name="Text 132"/>
          <p:cNvSpPr/>
          <p:nvPr/>
        </p:nvSpPr>
        <p:spPr>
          <a:xfrm>
            <a:off x="5353812" y="4233672"/>
            <a:ext cx="832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5.339</a:t>
            </a:r>
            <a:endParaRPr lang="en-US" sz="1050" dirty="0"/>
          </a:p>
        </p:txBody>
      </p:sp>
      <p:sp>
        <p:nvSpPr>
          <p:cNvPr id="135" name="Shape 133"/>
          <p:cNvSpPr/>
          <p:nvPr/>
        </p:nvSpPr>
        <p:spPr>
          <a:xfrm>
            <a:off x="6236208" y="4160520"/>
            <a:ext cx="932688" cy="384048"/>
          </a:xfrm>
          <a:prstGeom prst="rect">
            <a:avLst/>
          </a:prstGeom>
          <a:solidFill>
            <a:srgbClr val="F9FAF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6" name="Text 134"/>
          <p:cNvSpPr/>
          <p:nvPr/>
        </p:nvSpPr>
        <p:spPr>
          <a:xfrm>
            <a:off x="6286500" y="4233672"/>
            <a:ext cx="832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53.29</a:t>
            </a:r>
            <a:endParaRPr lang="en-US" sz="1050" dirty="0"/>
          </a:p>
        </p:txBody>
      </p:sp>
      <p:sp>
        <p:nvSpPr>
          <p:cNvPr id="137" name="Shape 135"/>
          <p:cNvSpPr/>
          <p:nvPr/>
        </p:nvSpPr>
        <p:spPr>
          <a:xfrm>
            <a:off x="7168896" y="4160520"/>
            <a:ext cx="749808" cy="384048"/>
          </a:xfrm>
          <a:prstGeom prst="rect">
            <a:avLst/>
          </a:prstGeom>
          <a:solidFill>
            <a:srgbClr val="F9FAF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8" name="Text 136"/>
          <p:cNvSpPr/>
          <p:nvPr/>
        </p:nvSpPr>
        <p:spPr>
          <a:xfrm>
            <a:off x="7219188" y="4233672"/>
            <a:ext cx="649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1050" dirty="0"/>
          </a:p>
        </p:txBody>
      </p:sp>
      <p:sp>
        <p:nvSpPr>
          <p:cNvPr id="139" name="Shape 137"/>
          <p:cNvSpPr/>
          <p:nvPr/>
        </p:nvSpPr>
        <p:spPr>
          <a:xfrm>
            <a:off x="658368" y="4544568"/>
            <a:ext cx="56692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0" name="Text 138"/>
          <p:cNvSpPr/>
          <p:nvPr/>
        </p:nvSpPr>
        <p:spPr>
          <a:xfrm>
            <a:off x="708660" y="4617720"/>
            <a:ext cx="466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1050" dirty="0"/>
          </a:p>
        </p:txBody>
      </p:sp>
      <p:sp>
        <p:nvSpPr>
          <p:cNvPr id="141" name="Shape 139"/>
          <p:cNvSpPr/>
          <p:nvPr/>
        </p:nvSpPr>
        <p:spPr>
          <a:xfrm>
            <a:off x="1225296" y="4544568"/>
            <a:ext cx="74980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2" name="Text 140"/>
          <p:cNvSpPr/>
          <p:nvPr/>
        </p:nvSpPr>
        <p:spPr>
          <a:xfrm>
            <a:off x="1275588" y="4617720"/>
            <a:ext cx="649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050" dirty="0"/>
          </a:p>
        </p:txBody>
      </p:sp>
      <p:sp>
        <p:nvSpPr>
          <p:cNvPr id="143" name="Shape 141"/>
          <p:cNvSpPr/>
          <p:nvPr/>
        </p:nvSpPr>
        <p:spPr>
          <a:xfrm>
            <a:off x="1975104" y="4544568"/>
            <a:ext cx="111556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4" name="Text 142"/>
          <p:cNvSpPr/>
          <p:nvPr/>
        </p:nvSpPr>
        <p:spPr>
          <a:xfrm>
            <a:off x="2025396" y="4617720"/>
            <a:ext cx="10149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0.4135</a:t>
            </a:r>
            <a:endParaRPr lang="en-US" sz="1050" dirty="0"/>
          </a:p>
        </p:txBody>
      </p:sp>
      <p:sp>
        <p:nvSpPr>
          <p:cNvPr id="145" name="Shape 143"/>
          <p:cNvSpPr/>
          <p:nvPr/>
        </p:nvSpPr>
        <p:spPr>
          <a:xfrm>
            <a:off x="3090672" y="4544568"/>
            <a:ext cx="1225296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6" name="Text 144"/>
          <p:cNvSpPr/>
          <p:nvPr/>
        </p:nvSpPr>
        <p:spPr>
          <a:xfrm>
            <a:off x="3140964" y="4617720"/>
            <a:ext cx="112471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215.8</a:t>
            </a:r>
            <a:endParaRPr lang="en-US" sz="1050" dirty="0"/>
          </a:p>
        </p:txBody>
      </p:sp>
      <p:sp>
        <p:nvSpPr>
          <p:cNvPr id="147" name="Shape 145"/>
          <p:cNvSpPr/>
          <p:nvPr/>
        </p:nvSpPr>
        <p:spPr>
          <a:xfrm>
            <a:off x="4315968" y="4544568"/>
            <a:ext cx="987552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8" name="Text 146"/>
          <p:cNvSpPr/>
          <p:nvPr/>
        </p:nvSpPr>
        <p:spPr>
          <a:xfrm>
            <a:off x="4366260" y="4617720"/>
            <a:ext cx="88696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0.0334</a:t>
            </a:r>
            <a:endParaRPr lang="en-US" sz="1050" dirty="0"/>
          </a:p>
        </p:txBody>
      </p:sp>
      <p:sp>
        <p:nvSpPr>
          <p:cNvPr id="149" name="Shape 147"/>
          <p:cNvSpPr/>
          <p:nvPr/>
        </p:nvSpPr>
        <p:spPr>
          <a:xfrm>
            <a:off x="5303520" y="4544568"/>
            <a:ext cx="93268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0" name="Text 148"/>
          <p:cNvSpPr/>
          <p:nvPr/>
        </p:nvSpPr>
        <p:spPr>
          <a:xfrm>
            <a:off x="5353812" y="4617720"/>
            <a:ext cx="832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22.55</a:t>
            </a:r>
            <a:endParaRPr lang="en-US" sz="1050" dirty="0"/>
          </a:p>
        </p:txBody>
      </p:sp>
      <p:sp>
        <p:nvSpPr>
          <p:cNvPr id="151" name="Shape 149"/>
          <p:cNvSpPr/>
          <p:nvPr/>
        </p:nvSpPr>
        <p:spPr>
          <a:xfrm>
            <a:off x="6236208" y="4544568"/>
            <a:ext cx="93268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2" name="Text 150"/>
          <p:cNvSpPr/>
          <p:nvPr/>
        </p:nvSpPr>
        <p:spPr>
          <a:xfrm>
            <a:off x="6286500" y="4617720"/>
            <a:ext cx="832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0.9151</a:t>
            </a:r>
            <a:endParaRPr lang="en-US" sz="1050" dirty="0"/>
          </a:p>
        </p:txBody>
      </p:sp>
      <p:sp>
        <p:nvSpPr>
          <p:cNvPr id="153" name="Shape 151"/>
          <p:cNvSpPr/>
          <p:nvPr/>
        </p:nvSpPr>
        <p:spPr>
          <a:xfrm>
            <a:off x="7168896" y="4544568"/>
            <a:ext cx="74980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4" name="Text 152"/>
          <p:cNvSpPr/>
          <p:nvPr/>
        </p:nvSpPr>
        <p:spPr>
          <a:xfrm>
            <a:off x="7219188" y="4617720"/>
            <a:ext cx="649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1050" dirty="0"/>
          </a:p>
        </p:txBody>
      </p:sp>
      <p:sp>
        <p:nvSpPr>
          <p:cNvPr id="155" name="Shape 153"/>
          <p:cNvSpPr/>
          <p:nvPr/>
        </p:nvSpPr>
        <p:spPr>
          <a:xfrm>
            <a:off x="8366760" y="2286000"/>
            <a:ext cx="3154680" cy="1234440"/>
          </a:xfrm>
          <a:prstGeom prst="roundRect">
            <a:avLst>
              <a:gd name="adj" fmla="val 5926"/>
            </a:avLst>
          </a:prstGeom>
          <a:solidFill>
            <a:srgbClr val="FFF0EE"/>
          </a:solidFill>
          <a:ln w="12700">
            <a:solidFill>
              <a:srgbClr val="FFF0E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6" name="Text 154"/>
          <p:cNvSpPr/>
          <p:nvPr/>
        </p:nvSpPr>
        <p:spPr>
          <a:xfrm>
            <a:off x="8577072" y="2542032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0" b="1" dirty="0">
                <a:solidFill>
                  <a:srgbClr val="C039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Best score</a:t>
            </a:r>
            <a:endParaRPr lang="en-US" sz="1060" dirty="0"/>
          </a:p>
        </p:txBody>
      </p:sp>
      <p:sp>
        <p:nvSpPr>
          <p:cNvPr id="157" name="Text 155"/>
          <p:cNvSpPr/>
          <p:nvPr/>
        </p:nvSpPr>
        <p:spPr>
          <a:xfrm>
            <a:off x="8577072" y="288036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Offer 5  •  0.6556</a:t>
            </a:r>
            <a:endParaRPr lang="en-US" sz="1650" dirty="0"/>
          </a:p>
        </p:txBody>
      </p:sp>
      <p:sp>
        <p:nvSpPr>
          <p:cNvPr id="158" name="Text 156"/>
          <p:cNvSpPr/>
          <p:nvPr/>
        </p:nvSpPr>
        <p:spPr>
          <a:xfrm>
            <a:off x="8366760" y="3803904"/>
            <a:ext cx="3154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920" dirty="0"/>
          </a:p>
        </p:txBody>
      </p:sp>
      <p:sp>
        <p:nvSpPr>
          <p:cNvPr id="159" name="Shape 5">
            <a:extLst>
              <a:ext uri="{FF2B5EF4-FFF2-40B4-BE49-F238E27FC236}">
                <a16:creationId xmlns:a16="http://schemas.microsoft.com/office/drawing/2014/main" id="{49732B59-1B45-7A80-CC2C-8D9D5FC86C72}"/>
              </a:ext>
            </a:extLst>
          </p:cNvPr>
          <p:cNvSpPr/>
          <p:nvPr/>
        </p:nvSpPr>
        <p:spPr>
          <a:xfrm>
            <a:off x="638082" y="1234440"/>
            <a:ext cx="11553613" cy="457200"/>
          </a:xfrm>
          <a:prstGeom prst="roundRect">
            <a:avLst>
              <a:gd name="adj" fmla="val 16000"/>
            </a:avLst>
          </a:prstGeom>
          <a:solidFill>
            <a:srgbClr val="FFF0EE"/>
          </a:solidFill>
          <a:ln w="12700">
            <a:solidFill>
              <a:srgbClr val="FFF0E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60" name="Text 6">
            <a:extLst>
              <a:ext uri="{FF2B5EF4-FFF2-40B4-BE49-F238E27FC236}">
                <a16:creationId xmlns:a16="http://schemas.microsoft.com/office/drawing/2014/main" id="{0778037B-7BCE-D897-C88B-313F52D877AD}"/>
              </a:ext>
            </a:extLst>
          </p:cNvPr>
          <p:cNvSpPr/>
          <p:nvPr/>
        </p:nvSpPr>
        <p:spPr>
          <a:xfrm>
            <a:off x="820963" y="1362456"/>
            <a:ext cx="10835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r>
              <a:rPr lang="en-US" sz="1180" b="1" dirty="0">
                <a:solidFill>
                  <a:srgbClr val="C0392B"/>
                </a:solidFill>
              </a:rPr>
              <a:t>User Intent: User wants a URLLC slice for factory operations with throughput (≥ 5), latency (≤ 2), cost (≤ 200), and energy (≤ 100) </a:t>
            </a:r>
            <a:endParaRPr lang="en-US" sz="1180" dirty="0"/>
          </a:p>
        </p:txBody>
      </p:sp>
      <p:pic>
        <p:nvPicPr>
          <p:cNvPr id="161" name="Picture 2">
            <a:extLst>
              <a:ext uri="{FF2B5EF4-FFF2-40B4-BE49-F238E27FC236}">
                <a16:creationId xmlns:a16="http://schemas.microsoft.com/office/drawing/2014/main" id="{0E090753-98A9-7EE3-D8AF-41FAF12CAA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48292" y="21475"/>
            <a:ext cx="2446591" cy="7107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8865B"/>
          </a:solidFill>
          <a:ln w="12700">
            <a:solidFill>
              <a:srgbClr val="18865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642104" y="42926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8865B"/>
                </a:solidFill>
              </a:rPr>
              <a:t>TOPSIS Algorithm 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26720" y="99568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11827"/>
                </a:solidFill>
              </a:rPr>
              <a:t>IoT-Sense — best ranked offer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9022080" y="703072"/>
            <a:ext cx="2514600" cy="402336"/>
          </a:xfrm>
          <a:prstGeom prst="roundRect">
            <a:avLst>
              <a:gd name="adj" fmla="val 18182"/>
            </a:avLst>
          </a:prstGeom>
          <a:solidFill>
            <a:srgbClr val="EAF8F1"/>
          </a:solidFill>
          <a:ln w="12700">
            <a:solidFill>
              <a:srgbClr val="18865B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113520" y="812800"/>
            <a:ext cx="2331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8865B"/>
                </a:solidFill>
              </a:rPr>
              <a:t>slice = mMTC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26720" y="1526032"/>
            <a:ext cx="11173968" cy="457200"/>
          </a:xfrm>
          <a:prstGeom prst="roundRect">
            <a:avLst>
              <a:gd name="adj" fmla="val 16000"/>
            </a:avLst>
          </a:prstGeom>
          <a:solidFill>
            <a:srgbClr val="EAF8F1"/>
          </a:solidFill>
          <a:ln w="12700">
            <a:solidFill>
              <a:srgbClr val="EAF8F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09600" y="1654048"/>
            <a:ext cx="10835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180" b="1" dirty="0">
                <a:solidFill>
                  <a:srgbClr val="18865B"/>
                </a:solidFill>
              </a:rPr>
              <a:t>User Intent: User wants an mMTC slice for IoT sensing with throughput (≥ 20), latency (≤ 10), cost (≤ 50), and energy (≤ 100) </a:t>
            </a:r>
            <a:endParaRPr lang="en-US" sz="1180" dirty="0"/>
          </a:p>
        </p:txBody>
      </p:sp>
      <p:sp>
        <p:nvSpPr>
          <p:cNvPr id="9" name="Text 7"/>
          <p:cNvSpPr/>
          <p:nvPr/>
        </p:nvSpPr>
        <p:spPr>
          <a:xfrm>
            <a:off x="609600" y="228498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</a:rPr>
              <a:t>Best TOPSIS score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09600" y="252272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100" b="1" dirty="0">
                <a:solidFill>
                  <a:srgbClr val="18865B"/>
                </a:solidFill>
              </a:rPr>
              <a:t>0.7053</a:t>
            </a:r>
            <a:endParaRPr lang="en-US" sz="3100" dirty="0"/>
          </a:p>
        </p:txBody>
      </p:sp>
      <p:sp>
        <p:nvSpPr>
          <p:cNvPr id="11" name="Text 9"/>
          <p:cNvSpPr/>
          <p:nvPr/>
        </p:nvSpPr>
        <p:spPr>
          <a:xfrm>
            <a:off x="609600" y="3135376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Rank 1 • Offer 2 • Feasible: true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41520" y="2294128"/>
            <a:ext cx="2240280" cy="384048"/>
          </a:xfrm>
          <a:prstGeom prst="rect">
            <a:avLst/>
          </a:prstGeom>
          <a:solidFill>
            <a:srgbClr val="18865B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651248" y="2344420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Metric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781800" y="2294128"/>
            <a:ext cx="3794760" cy="384048"/>
          </a:xfrm>
          <a:prstGeom prst="rect">
            <a:avLst/>
          </a:prstGeom>
          <a:solidFill>
            <a:srgbClr val="18865B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891528" y="2344420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Value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41520" y="2678176"/>
            <a:ext cx="22402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651248" y="2728468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Rank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781800" y="2678176"/>
            <a:ext cx="37947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891528" y="2728468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41520" y="3062224"/>
            <a:ext cx="2240280" cy="384048"/>
          </a:xfrm>
          <a:prstGeom prst="rect">
            <a:avLst/>
          </a:prstGeom>
          <a:solidFill>
            <a:srgbClr val="F9FAFB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651248" y="3112516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Offer ID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781800" y="3062224"/>
            <a:ext cx="3794760" cy="384048"/>
          </a:xfrm>
          <a:prstGeom prst="rect">
            <a:avLst/>
          </a:prstGeom>
          <a:solidFill>
            <a:srgbClr val="F9FAFB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891528" y="3112516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111827"/>
                </a:solidFill>
                <a:latin typeface="Aptos" pitchFamily="34" charset="0"/>
              </a:rPr>
              <a:t>2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41520" y="3446272"/>
            <a:ext cx="22402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651248" y="3496564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TOPSIS score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781800" y="3446272"/>
            <a:ext cx="37947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6891528" y="3496564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1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0.7053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541520" y="3830320"/>
            <a:ext cx="2240280" cy="384048"/>
          </a:xfrm>
          <a:prstGeom prst="rect">
            <a:avLst/>
          </a:prstGeom>
          <a:solidFill>
            <a:srgbClr val="F9FAFB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651248" y="3880612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Throughput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781800" y="3830320"/>
            <a:ext cx="3794760" cy="384048"/>
          </a:xfrm>
          <a:prstGeom prst="rect">
            <a:avLst/>
          </a:prstGeom>
          <a:solidFill>
            <a:srgbClr val="F9FAFB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6891528" y="3880612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1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372.2</a:t>
            </a:r>
            <a:r>
              <a:rPr lang="en-US" sz="1100" dirty="0">
                <a:latin typeface="Aptos" pitchFamily="34" charset="0"/>
                <a:ea typeface="Aptos" pitchFamily="34" charset="-122"/>
                <a:cs typeface="Aptos" pitchFamily="34" charset="-120"/>
              </a:rPr>
              <a:t> Mbps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541520" y="4214368"/>
            <a:ext cx="22402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4651248" y="4264660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Latency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781800" y="4214368"/>
            <a:ext cx="37947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6891528" y="4264660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100" dirty="0">
                <a:latin typeface="Aptos" pitchFamily="34" charset="0"/>
                <a:ea typeface="Aptos" pitchFamily="34" charset="-122"/>
                <a:cs typeface="Aptos" pitchFamily="34" charset="-120"/>
              </a:rPr>
              <a:t>0.1110 ms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4541520" y="4598416"/>
            <a:ext cx="2240280" cy="384048"/>
          </a:xfrm>
          <a:prstGeom prst="rect">
            <a:avLst/>
          </a:prstGeom>
          <a:solidFill>
            <a:srgbClr val="F9FAFB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4651248" y="4648708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781800" y="4598416"/>
            <a:ext cx="3794760" cy="384048"/>
          </a:xfrm>
          <a:prstGeom prst="rect">
            <a:avLst/>
          </a:prstGeom>
          <a:solidFill>
            <a:srgbClr val="F9FAFB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6891528" y="4648708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100" dirty="0">
                <a:latin typeface="Aptos" pitchFamily="34" charset="0"/>
                <a:ea typeface="Aptos" pitchFamily="34" charset="-122"/>
                <a:cs typeface="Aptos" pitchFamily="34" charset="-120"/>
              </a:rPr>
              <a:t>€ </a:t>
            </a:r>
            <a:r>
              <a:rPr lang="en-US" sz="11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1.230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4541520" y="4982464"/>
            <a:ext cx="22402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4651248" y="5032756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Energy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6781800" y="4982464"/>
            <a:ext cx="37947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6891528" y="5032756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1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35.39</a:t>
            </a:r>
            <a:r>
              <a:rPr lang="en-US" sz="1100" dirty="0">
                <a:latin typeface="Aptos" pitchFamily="34" charset="0"/>
                <a:ea typeface="Aptos" pitchFamily="34" charset="-122"/>
                <a:cs typeface="Aptos" pitchFamily="34" charset="-120"/>
              </a:rPr>
              <a:t> W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41520" y="5366512"/>
            <a:ext cx="2240280" cy="384048"/>
          </a:xfrm>
          <a:prstGeom prst="rect">
            <a:avLst/>
          </a:prstGeom>
          <a:solidFill>
            <a:srgbClr val="F9FAFB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4651248" y="5416804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Feasible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6781800" y="5366512"/>
            <a:ext cx="3794760" cy="384048"/>
          </a:xfrm>
          <a:prstGeom prst="rect">
            <a:avLst/>
          </a:prstGeom>
          <a:solidFill>
            <a:srgbClr val="F9FAFB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6891528" y="5416804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true</a:t>
            </a:r>
            <a:endParaRPr lang="en-US" sz="1100" dirty="0"/>
          </a:p>
        </p:txBody>
      </p:sp>
      <p:sp>
        <p:nvSpPr>
          <p:cNvPr id="57" name="Shape 49">
            <a:extLst>
              <a:ext uri="{FF2B5EF4-FFF2-40B4-BE49-F238E27FC236}">
                <a16:creationId xmlns:a16="http://schemas.microsoft.com/office/drawing/2014/main" id="{F1B62407-2263-A42D-F4DF-59F7FD10791C}"/>
              </a:ext>
            </a:extLst>
          </p:cNvPr>
          <p:cNvSpPr/>
          <p:nvPr/>
        </p:nvSpPr>
        <p:spPr>
          <a:xfrm>
            <a:off x="362712" y="5970016"/>
            <a:ext cx="2670048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50">
            <a:extLst>
              <a:ext uri="{FF2B5EF4-FFF2-40B4-BE49-F238E27FC236}">
                <a16:creationId xmlns:a16="http://schemas.microsoft.com/office/drawing/2014/main" id="{9F04BA77-EB78-7AA6-9280-CB639B2A1A5E}"/>
              </a:ext>
            </a:extLst>
          </p:cNvPr>
          <p:cNvSpPr/>
          <p:nvPr/>
        </p:nvSpPr>
        <p:spPr>
          <a:xfrm>
            <a:off x="527304" y="6079744"/>
            <a:ext cx="2340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</a:rPr>
              <a:t>Throughput min</a:t>
            </a:r>
            <a:endParaRPr lang="en-US" sz="850" dirty="0"/>
          </a:p>
        </p:txBody>
      </p:sp>
      <p:sp>
        <p:nvSpPr>
          <p:cNvPr id="59" name="Text 51">
            <a:extLst>
              <a:ext uri="{FF2B5EF4-FFF2-40B4-BE49-F238E27FC236}">
                <a16:creationId xmlns:a16="http://schemas.microsoft.com/office/drawing/2014/main" id="{842AAEBC-148C-6721-7418-8EA0F4278388}"/>
              </a:ext>
            </a:extLst>
          </p:cNvPr>
          <p:cNvSpPr/>
          <p:nvPr/>
        </p:nvSpPr>
        <p:spPr>
          <a:xfrm>
            <a:off x="527304" y="6299200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18865B"/>
                </a:solidFill>
              </a:rPr>
              <a:t>20.0 Mbps</a:t>
            </a:r>
            <a:endParaRPr lang="en-US" dirty="0"/>
          </a:p>
        </p:txBody>
      </p:sp>
      <p:sp>
        <p:nvSpPr>
          <p:cNvPr id="60" name="Shape 52">
            <a:extLst>
              <a:ext uri="{FF2B5EF4-FFF2-40B4-BE49-F238E27FC236}">
                <a16:creationId xmlns:a16="http://schemas.microsoft.com/office/drawing/2014/main" id="{537CEB09-8721-73F1-E0F8-40EC4D8D78C0}"/>
              </a:ext>
            </a:extLst>
          </p:cNvPr>
          <p:cNvSpPr/>
          <p:nvPr/>
        </p:nvSpPr>
        <p:spPr>
          <a:xfrm>
            <a:off x="3197352" y="5970016"/>
            <a:ext cx="2670048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3">
            <a:extLst>
              <a:ext uri="{FF2B5EF4-FFF2-40B4-BE49-F238E27FC236}">
                <a16:creationId xmlns:a16="http://schemas.microsoft.com/office/drawing/2014/main" id="{852550C2-9AEC-20B3-E27C-C3608BD642C3}"/>
              </a:ext>
            </a:extLst>
          </p:cNvPr>
          <p:cNvSpPr/>
          <p:nvPr/>
        </p:nvSpPr>
        <p:spPr>
          <a:xfrm>
            <a:off x="3361944" y="6079744"/>
            <a:ext cx="2340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</a:rPr>
              <a:t>Latency max</a:t>
            </a:r>
            <a:endParaRPr lang="en-US" sz="850" dirty="0"/>
          </a:p>
        </p:txBody>
      </p:sp>
      <p:sp>
        <p:nvSpPr>
          <p:cNvPr id="62" name="Text 54">
            <a:extLst>
              <a:ext uri="{FF2B5EF4-FFF2-40B4-BE49-F238E27FC236}">
                <a16:creationId xmlns:a16="http://schemas.microsoft.com/office/drawing/2014/main" id="{B465B296-83DC-1ED6-A9F1-C68C710A23E2}"/>
              </a:ext>
            </a:extLst>
          </p:cNvPr>
          <p:cNvSpPr/>
          <p:nvPr/>
        </p:nvSpPr>
        <p:spPr>
          <a:xfrm>
            <a:off x="3361944" y="6299200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18865B"/>
                </a:solidFill>
              </a:rPr>
              <a:t>10.0 ms</a:t>
            </a:r>
            <a:endParaRPr lang="en-US" dirty="0"/>
          </a:p>
        </p:txBody>
      </p:sp>
      <p:sp>
        <p:nvSpPr>
          <p:cNvPr id="63" name="Shape 55">
            <a:extLst>
              <a:ext uri="{FF2B5EF4-FFF2-40B4-BE49-F238E27FC236}">
                <a16:creationId xmlns:a16="http://schemas.microsoft.com/office/drawing/2014/main" id="{AC97FC7D-81F4-5BF9-5FF8-4637991D9550}"/>
              </a:ext>
            </a:extLst>
          </p:cNvPr>
          <p:cNvSpPr/>
          <p:nvPr/>
        </p:nvSpPr>
        <p:spPr>
          <a:xfrm>
            <a:off x="6031992" y="5970016"/>
            <a:ext cx="2670048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56">
            <a:extLst>
              <a:ext uri="{FF2B5EF4-FFF2-40B4-BE49-F238E27FC236}">
                <a16:creationId xmlns:a16="http://schemas.microsoft.com/office/drawing/2014/main" id="{F048995D-AC8D-A164-829E-EBA052D35ADD}"/>
              </a:ext>
            </a:extLst>
          </p:cNvPr>
          <p:cNvSpPr/>
          <p:nvPr/>
        </p:nvSpPr>
        <p:spPr>
          <a:xfrm>
            <a:off x="6196584" y="6079744"/>
            <a:ext cx="2340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</a:rPr>
              <a:t>Cost max</a:t>
            </a:r>
            <a:endParaRPr lang="en-US" sz="850" dirty="0"/>
          </a:p>
        </p:txBody>
      </p:sp>
      <p:sp>
        <p:nvSpPr>
          <p:cNvPr id="65" name="Text 57">
            <a:extLst>
              <a:ext uri="{FF2B5EF4-FFF2-40B4-BE49-F238E27FC236}">
                <a16:creationId xmlns:a16="http://schemas.microsoft.com/office/drawing/2014/main" id="{4F9E57EB-99BF-8E16-6708-83D32E538C63}"/>
              </a:ext>
            </a:extLst>
          </p:cNvPr>
          <p:cNvSpPr/>
          <p:nvPr/>
        </p:nvSpPr>
        <p:spPr>
          <a:xfrm>
            <a:off x="6196584" y="6299200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18865B"/>
                </a:solidFill>
              </a:rPr>
              <a:t>€50.0</a:t>
            </a:r>
            <a:endParaRPr lang="en-US" dirty="0"/>
          </a:p>
        </p:txBody>
      </p:sp>
      <p:sp>
        <p:nvSpPr>
          <p:cNvPr id="66" name="Shape 58">
            <a:extLst>
              <a:ext uri="{FF2B5EF4-FFF2-40B4-BE49-F238E27FC236}">
                <a16:creationId xmlns:a16="http://schemas.microsoft.com/office/drawing/2014/main" id="{0CA84FD9-19F6-8729-EED3-3DA3459F2ACE}"/>
              </a:ext>
            </a:extLst>
          </p:cNvPr>
          <p:cNvSpPr/>
          <p:nvPr/>
        </p:nvSpPr>
        <p:spPr>
          <a:xfrm>
            <a:off x="8866632" y="5970016"/>
            <a:ext cx="2670048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59">
            <a:extLst>
              <a:ext uri="{FF2B5EF4-FFF2-40B4-BE49-F238E27FC236}">
                <a16:creationId xmlns:a16="http://schemas.microsoft.com/office/drawing/2014/main" id="{9D84B4F3-1699-104E-2342-835811707A9C}"/>
              </a:ext>
            </a:extLst>
          </p:cNvPr>
          <p:cNvSpPr/>
          <p:nvPr/>
        </p:nvSpPr>
        <p:spPr>
          <a:xfrm>
            <a:off x="9031224" y="6079744"/>
            <a:ext cx="2340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</a:rPr>
              <a:t>Energy max</a:t>
            </a:r>
            <a:endParaRPr lang="en-US" sz="850" dirty="0"/>
          </a:p>
        </p:txBody>
      </p:sp>
      <p:sp>
        <p:nvSpPr>
          <p:cNvPr id="68" name="Text 60">
            <a:extLst>
              <a:ext uri="{FF2B5EF4-FFF2-40B4-BE49-F238E27FC236}">
                <a16:creationId xmlns:a16="http://schemas.microsoft.com/office/drawing/2014/main" id="{B25CEC17-E713-EEBC-3918-6AAEBC8A1BA3}"/>
              </a:ext>
            </a:extLst>
          </p:cNvPr>
          <p:cNvSpPr/>
          <p:nvPr/>
        </p:nvSpPr>
        <p:spPr>
          <a:xfrm>
            <a:off x="9031224" y="6299200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18865B"/>
                </a:solidFill>
              </a:rPr>
              <a:t>100.0 W</a:t>
            </a:r>
            <a:endParaRPr lang="en-US" dirty="0"/>
          </a:p>
        </p:txBody>
      </p:sp>
      <p:pic>
        <p:nvPicPr>
          <p:cNvPr id="69" name="Picture 2">
            <a:extLst>
              <a:ext uri="{FF2B5EF4-FFF2-40B4-BE49-F238E27FC236}">
                <a16:creationId xmlns:a16="http://schemas.microsoft.com/office/drawing/2014/main" id="{7121279C-2AB8-1CBC-7D5E-CD85CE2F56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6615" y="246888"/>
            <a:ext cx="2446591" cy="7107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8865B"/>
          </a:solidFill>
          <a:ln w="12700">
            <a:solidFill>
              <a:srgbClr val="18865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58368" y="36576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88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TOPSIS Algorithm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9281160" y="329184"/>
            <a:ext cx="2240280" cy="384048"/>
          </a:xfrm>
          <a:prstGeom prst="roundRect">
            <a:avLst>
              <a:gd name="adj" fmla="val 14286"/>
            </a:avLst>
          </a:prstGeom>
          <a:solidFill>
            <a:srgbClr val="EAF8F1"/>
          </a:solidFill>
          <a:ln w="12700">
            <a:solidFill>
              <a:srgbClr val="18865B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400032" y="448056"/>
            <a:ext cx="19933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20" b="1" dirty="0">
                <a:solidFill>
                  <a:srgbClr val="188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IoT-Sense • mMTC</a:t>
            </a:r>
            <a:endParaRPr lang="en-US" sz="1020" dirty="0"/>
          </a:p>
        </p:txBody>
      </p:sp>
      <p:sp>
        <p:nvSpPr>
          <p:cNvPr id="7" name="Text 5"/>
          <p:cNvSpPr/>
          <p:nvPr/>
        </p:nvSpPr>
        <p:spPr>
          <a:xfrm>
            <a:off x="658368" y="749808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IoT-Sense: all ranked offers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658368" y="1225296"/>
            <a:ext cx="10863072" cy="566928"/>
          </a:xfrm>
          <a:prstGeom prst="roundRect">
            <a:avLst>
              <a:gd name="adj" fmla="val 9677"/>
            </a:avLst>
          </a:prstGeom>
          <a:solidFill>
            <a:srgbClr val="EAF8F1"/>
          </a:solidFill>
          <a:ln w="12700">
            <a:solidFill>
              <a:srgbClr val="EAF8F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59536" y="1389888"/>
            <a:ext cx="10387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r>
              <a:rPr lang="en-US" sz="1400" b="1" dirty="0">
                <a:solidFill>
                  <a:srgbClr val="18865B"/>
                </a:solidFill>
              </a:rPr>
              <a:t>User Intent: User wants an mMTC slice for IoT sensing with throughput (≥ 20), latency (≤ 10), cost (≤ 50), and energy (≤ 100) 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58368" y="1975104"/>
            <a:ext cx="7589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3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Criterion type: max, min, min, min • Weights: 1, 1, 1, 1</a:t>
            </a:r>
            <a:endParaRPr lang="en-US" sz="1030" dirty="0"/>
          </a:p>
        </p:txBody>
      </p:sp>
      <p:sp>
        <p:nvSpPr>
          <p:cNvPr id="11" name="Shape 9"/>
          <p:cNvSpPr/>
          <p:nvPr/>
        </p:nvSpPr>
        <p:spPr>
          <a:xfrm>
            <a:off x="658368" y="2286000"/>
            <a:ext cx="566928" cy="384048"/>
          </a:xfrm>
          <a:prstGeom prst="rect">
            <a:avLst/>
          </a:prstGeom>
          <a:solidFill>
            <a:srgbClr val="18865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08660" y="2359152"/>
            <a:ext cx="466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Rank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225296" y="2286000"/>
            <a:ext cx="749808" cy="384048"/>
          </a:xfrm>
          <a:prstGeom prst="rect">
            <a:avLst/>
          </a:prstGeom>
          <a:solidFill>
            <a:srgbClr val="18865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275588" y="2359152"/>
            <a:ext cx="649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Offer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1975104" y="2286000"/>
            <a:ext cx="1115568" cy="384048"/>
          </a:xfrm>
          <a:prstGeom prst="rect">
            <a:avLst/>
          </a:prstGeom>
          <a:solidFill>
            <a:srgbClr val="18865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025396" y="2359152"/>
            <a:ext cx="10149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Score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090672" y="2286000"/>
            <a:ext cx="1225296" cy="384048"/>
          </a:xfrm>
          <a:prstGeom prst="rect">
            <a:avLst/>
          </a:prstGeom>
          <a:solidFill>
            <a:srgbClr val="18865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140964" y="2359152"/>
            <a:ext cx="112471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Throughput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315968" y="2286000"/>
            <a:ext cx="987552" cy="384048"/>
          </a:xfrm>
          <a:prstGeom prst="rect">
            <a:avLst/>
          </a:prstGeom>
          <a:solidFill>
            <a:srgbClr val="18865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366260" y="2359152"/>
            <a:ext cx="88696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Latency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303520" y="2286000"/>
            <a:ext cx="932688" cy="384048"/>
          </a:xfrm>
          <a:prstGeom prst="rect">
            <a:avLst/>
          </a:prstGeom>
          <a:solidFill>
            <a:srgbClr val="18865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353812" y="2359152"/>
            <a:ext cx="832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36208" y="2286000"/>
            <a:ext cx="932688" cy="384048"/>
          </a:xfrm>
          <a:prstGeom prst="rect">
            <a:avLst/>
          </a:prstGeom>
          <a:solidFill>
            <a:srgbClr val="18865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286500" y="2359152"/>
            <a:ext cx="832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Energy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168896" y="2286000"/>
            <a:ext cx="749808" cy="384048"/>
          </a:xfrm>
          <a:prstGeom prst="rect">
            <a:avLst/>
          </a:prstGeom>
          <a:solidFill>
            <a:srgbClr val="18865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7219188" y="2359152"/>
            <a:ext cx="649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Feasible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658368" y="2624328"/>
            <a:ext cx="56692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708660" y="2697480"/>
            <a:ext cx="466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1225296" y="2624328"/>
            <a:ext cx="74980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1275588" y="2697480"/>
            <a:ext cx="649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1975104" y="2624328"/>
            <a:ext cx="111556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2025396" y="2697480"/>
            <a:ext cx="10149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0.7053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3090672" y="2624328"/>
            <a:ext cx="1225296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3140964" y="2697480"/>
            <a:ext cx="112471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372.2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4315968" y="2624328"/>
            <a:ext cx="987552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4366260" y="2697480"/>
            <a:ext cx="88696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0.1292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5303520" y="2624328"/>
            <a:ext cx="93268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5353812" y="2697480"/>
            <a:ext cx="832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1.230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6236208" y="2624328"/>
            <a:ext cx="93268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6286500" y="2697480"/>
            <a:ext cx="832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35.39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7168896" y="2624328"/>
            <a:ext cx="74980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56"/>
          <p:cNvSpPr/>
          <p:nvPr/>
        </p:nvSpPr>
        <p:spPr>
          <a:xfrm>
            <a:off x="7219188" y="2697480"/>
            <a:ext cx="649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1050" dirty="0"/>
          </a:p>
        </p:txBody>
      </p:sp>
      <p:sp>
        <p:nvSpPr>
          <p:cNvPr id="59" name="Shape 57"/>
          <p:cNvSpPr/>
          <p:nvPr/>
        </p:nvSpPr>
        <p:spPr>
          <a:xfrm>
            <a:off x="658368" y="3008376"/>
            <a:ext cx="566928" cy="384048"/>
          </a:xfrm>
          <a:prstGeom prst="rect">
            <a:avLst/>
          </a:prstGeom>
          <a:solidFill>
            <a:srgbClr val="F9FAF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Text 58"/>
          <p:cNvSpPr/>
          <p:nvPr/>
        </p:nvSpPr>
        <p:spPr>
          <a:xfrm>
            <a:off x="708660" y="3081528"/>
            <a:ext cx="466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1225296" y="3008376"/>
            <a:ext cx="749808" cy="384048"/>
          </a:xfrm>
          <a:prstGeom prst="rect">
            <a:avLst/>
          </a:prstGeom>
          <a:solidFill>
            <a:srgbClr val="F9FAF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Text 60"/>
          <p:cNvSpPr/>
          <p:nvPr/>
        </p:nvSpPr>
        <p:spPr>
          <a:xfrm>
            <a:off x="1275588" y="3081528"/>
            <a:ext cx="649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050" dirty="0"/>
          </a:p>
        </p:txBody>
      </p:sp>
      <p:sp>
        <p:nvSpPr>
          <p:cNvPr id="63" name="Shape 61"/>
          <p:cNvSpPr/>
          <p:nvPr/>
        </p:nvSpPr>
        <p:spPr>
          <a:xfrm>
            <a:off x="1975104" y="3008376"/>
            <a:ext cx="1115568" cy="384048"/>
          </a:xfrm>
          <a:prstGeom prst="rect">
            <a:avLst/>
          </a:prstGeom>
          <a:solidFill>
            <a:srgbClr val="F9FAF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62"/>
          <p:cNvSpPr/>
          <p:nvPr/>
        </p:nvSpPr>
        <p:spPr>
          <a:xfrm>
            <a:off x="2025396" y="3081528"/>
            <a:ext cx="10149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0.5931</a:t>
            </a:r>
            <a:endParaRPr lang="en-US" sz="1050" dirty="0"/>
          </a:p>
        </p:txBody>
      </p:sp>
      <p:sp>
        <p:nvSpPr>
          <p:cNvPr id="65" name="Shape 63"/>
          <p:cNvSpPr/>
          <p:nvPr/>
        </p:nvSpPr>
        <p:spPr>
          <a:xfrm>
            <a:off x="3090672" y="3008376"/>
            <a:ext cx="1225296" cy="384048"/>
          </a:xfrm>
          <a:prstGeom prst="rect">
            <a:avLst/>
          </a:prstGeom>
          <a:solidFill>
            <a:srgbClr val="F9FAF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Text 64"/>
          <p:cNvSpPr/>
          <p:nvPr/>
        </p:nvSpPr>
        <p:spPr>
          <a:xfrm>
            <a:off x="3140964" y="3081528"/>
            <a:ext cx="112471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97.03</a:t>
            </a:r>
            <a:endParaRPr lang="en-US" sz="1050" dirty="0"/>
          </a:p>
        </p:txBody>
      </p:sp>
      <p:sp>
        <p:nvSpPr>
          <p:cNvPr id="67" name="Shape 65"/>
          <p:cNvSpPr/>
          <p:nvPr/>
        </p:nvSpPr>
        <p:spPr>
          <a:xfrm>
            <a:off x="4315968" y="3008376"/>
            <a:ext cx="987552" cy="384048"/>
          </a:xfrm>
          <a:prstGeom prst="rect">
            <a:avLst/>
          </a:prstGeom>
          <a:solidFill>
            <a:srgbClr val="F9FAF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Text 66"/>
          <p:cNvSpPr/>
          <p:nvPr/>
        </p:nvSpPr>
        <p:spPr>
          <a:xfrm>
            <a:off x="4366260" y="3081528"/>
            <a:ext cx="88696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0.4989</a:t>
            </a:r>
            <a:endParaRPr lang="en-US" sz="1050" dirty="0"/>
          </a:p>
        </p:txBody>
      </p:sp>
      <p:sp>
        <p:nvSpPr>
          <p:cNvPr id="69" name="Shape 67"/>
          <p:cNvSpPr/>
          <p:nvPr/>
        </p:nvSpPr>
        <p:spPr>
          <a:xfrm>
            <a:off x="5303520" y="3008376"/>
            <a:ext cx="932688" cy="384048"/>
          </a:xfrm>
          <a:prstGeom prst="rect">
            <a:avLst/>
          </a:prstGeom>
          <a:solidFill>
            <a:srgbClr val="F9FAF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Text 68"/>
          <p:cNvSpPr/>
          <p:nvPr/>
        </p:nvSpPr>
        <p:spPr>
          <a:xfrm>
            <a:off x="5353812" y="3081528"/>
            <a:ext cx="832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0.7406</a:t>
            </a:r>
            <a:endParaRPr lang="en-US" sz="1050" dirty="0"/>
          </a:p>
        </p:txBody>
      </p:sp>
      <p:sp>
        <p:nvSpPr>
          <p:cNvPr id="71" name="Shape 69"/>
          <p:cNvSpPr/>
          <p:nvPr/>
        </p:nvSpPr>
        <p:spPr>
          <a:xfrm>
            <a:off x="6236208" y="3008376"/>
            <a:ext cx="932688" cy="384048"/>
          </a:xfrm>
          <a:prstGeom prst="rect">
            <a:avLst/>
          </a:prstGeom>
          <a:solidFill>
            <a:srgbClr val="F9FAF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Text 70"/>
          <p:cNvSpPr/>
          <p:nvPr/>
        </p:nvSpPr>
        <p:spPr>
          <a:xfrm>
            <a:off x="6286500" y="3081528"/>
            <a:ext cx="832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13.86</a:t>
            </a:r>
            <a:endParaRPr lang="en-US" sz="1050" dirty="0"/>
          </a:p>
        </p:txBody>
      </p:sp>
      <p:sp>
        <p:nvSpPr>
          <p:cNvPr id="73" name="Shape 71"/>
          <p:cNvSpPr/>
          <p:nvPr/>
        </p:nvSpPr>
        <p:spPr>
          <a:xfrm>
            <a:off x="7168896" y="3008376"/>
            <a:ext cx="749808" cy="384048"/>
          </a:xfrm>
          <a:prstGeom prst="rect">
            <a:avLst/>
          </a:prstGeom>
          <a:solidFill>
            <a:srgbClr val="F9FAF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Text 72"/>
          <p:cNvSpPr/>
          <p:nvPr/>
        </p:nvSpPr>
        <p:spPr>
          <a:xfrm>
            <a:off x="7219188" y="3081528"/>
            <a:ext cx="649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1050" dirty="0"/>
          </a:p>
        </p:txBody>
      </p:sp>
      <p:sp>
        <p:nvSpPr>
          <p:cNvPr id="75" name="Shape 73"/>
          <p:cNvSpPr/>
          <p:nvPr/>
        </p:nvSpPr>
        <p:spPr>
          <a:xfrm>
            <a:off x="658368" y="3392424"/>
            <a:ext cx="56692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6" name="Text 74"/>
          <p:cNvSpPr/>
          <p:nvPr/>
        </p:nvSpPr>
        <p:spPr>
          <a:xfrm>
            <a:off x="708660" y="3465576"/>
            <a:ext cx="466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050" dirty="0"/>
          </a:p>
        </p:txBody>
      </p:sp>
      <p:sp>
        <p:nvSpPr>
          <p:cNvPr id="77" name="Shape 75"/>
          <p:cNvSpPr/>
          <p:nvPr/>
        </p:nvSpPr>
        <p:spPr>
          <a:xfrm>
            <a:off x="1225296" y="3392424"/>
            <a:ext cx="74980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Text 76"/>
          <p:cNvSpPr/>
          <p:nvPr/>
        </p:nvSpPr>
        <p:spPr>
          <a:xfrm>
            <a:off x="1275588" y="3465576"/>
            <a:ext cx="649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1050" dirty="0"/>
          </a:p>
        </p:txBody>
      </p:sp>
      <p:sp>
        <p:nvSpPr>
          <p:cNvPr id="79" name="Shape 77"/>
          <p:cNvSpPr/>
          <p:nvPr/>
        </p:nvSpPr>
        <p:spPr>
          <a:xfrm>
            <a:off x="1975104" y="3392424"/>
            <a:ext cx="111556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0" name="Text 78"/>
          <p:cNvSpPr/>
          <p:nvPr/>
        </p:nvSpPr>
        <p:spPr>
          <a:xfrm>
            <a:off x="2025396" y="3465576"/>
            <a:ext cx="10149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0.5931</a:t>
            </a:r>
            <a:endParaRPr lang="en-US" sz="1050" dirty="0"/>
          </a:p>
        </p:txBody>
      </p:sp>
      <p:sp>
        <p:nvSpPr>
          <p:cNvPr id="81" name="Shape 79"/>
          <p:cNvSpPr/>
          <p:nvPr/>
        </p:nvSpPr>
        <p:spPr>
          <a:xfrm>
            <a:off x="3090672" y="3392424"/>
            <a:ext cx="1225296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2" name="Text 80"/>
          <p:cNvSpPr/>
          <p:nvPr/>
        </p:nvSpPr>
        <p:spPr>
          <a:xfrm>
            <a:off x="3140964" y="3465576"/>
            <a:ext cx="112471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97.03</a:t>
            </a:r>
            <a:endParaRPr lang="en-US" sz="1050" dirty="0"/>
          </a:p>
        </p:txBody>
      </p:sp>
      <p:sp>
        <p:nvSpPr>
          <p:cNvPr id="83" name="Shape 81"/>
          <p:cNvSpPr/>
          <p:nvPr/>
        </p:nvSpPr>
        <p:spPr>
          <a:xfrm>
            <a:off x="4315968" y="3392424"/>
            <a:ext cx="987552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4" name="Text 82"/>
          <p:cNvSpPr/>
          <p:nvPr/>
        </p:nvSpPr>
        <p:spPr>
          <a:xfrm>
            <a:off x="4366260" y="3465576"/>
            <a:ext cx="88696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0.4989</a:t>
            </a:r>
            <a:endParaRPr lang="en-US" sz="1050" dirty="0"/>
          </a:p>
        </p:txBody>
      </p:sp>
      <p:sp>
        <p:nvSpPr>
          <p:cNvPr id="85" name="Shape 83"/>
          <p:cNvSpPr/>
          <p:nvPr/>
        </p:nvSpPr>
        <p:spPr>
          <a:xfrm>
            <a:off x="5303520" y="3392424"/>
            <a:ext cx="93268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6" name="Text 84"/>
          <p:cNvSpPr/>
          <p:nvPr/>
        </p:nvSpPr>
        <p:spPr>
          <a:xfrm>
            <a:off x="5353812" y="3465576"/>
            <a:ext cx="832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0.7406</a:t>
            </a:r>
            <a:endParaRPr lang="en-US" sz="1050" dirty="0"/>
          </a:p>
        </p:txBody>
      </p:sp>
      <p:sp>
        <p:nvSpPr>
          <p:cNvPr id="87" name="Shape 85"/>
          <p:cNvSpPr/>
          <p:nvPr/>
        </p:nvSpPr>
        <p:spPr>
          <a:xfrm>
            <a:off x="6236208" y="3392424"/>
            <a:ext cx="93268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8" name="Text 86"/>
          <p:cNvSpPr/>
          <p:nvPr/>
        </p:nvSpPr>
        <p:spPr>
          <a:xfrm>
            <a:off x="6286500" y="3465576"/>
            <a:ext cx="832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13.86</a:t>
            </a:r>
            <a:endParaRPr lang="en-US" sz="1050" dirty="0"/>
          </a:p>
        </p:txBody>
      </p:sp>
      <p:sp>
        <p:nvSpPr>
          <p:cNvPr id="89" name="Shape 87"/>
          <p:cNvSpPr/>
          <p:nvPr/>
        </p:nvSpPr>
        <p:spPr>
          <a:xfrm>
            <a:off x="7168896" y="3392424"/>
            <a:ext cx="74980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0" name="Text 88"/>
          <p:cNvSpPr/>
          <p:nvPr/>
        </p:nvSpPr>
        <p:spPr>
          <a:xfrm>
            <a:off x="7219188" y="3465576"/>
            <a:ext cx="649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1050" dirty="0"/>
          </a:p>
        </p:txBody>
      </p:sp>
      <p:sp>
        <p:nvSpPr>
          <p:cNvPr id="91" name="Shape 89"/>
          <p:cNvSpPr/>
          <p:nvPr/>
        </p:nvSpPr>
        <p:spPr>
          <a:xfrm>
            <a:off x="658368" y="3776472"/>
            <a:ext cx="566928" cy="384048"/>
          </a:xfrm>
          <a:prstGeom prst="rect">
            <a:avLst/>
          </a:prstGeom>
          <a:solidFill>
            <a:srgbClr val="F9FAF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2" name="Text 90"/>
          <p:cNvSpPr/>
          <p:nvPr/>
        </p:nvSpPr>
        <p:spPr>
          <a:xfrm>
            <a:off x="708660" y="3849624"/>
            <a:ext cx="466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050" dirty="0"/>
          </a:p>
        </p:txBody>
      </p:sp>
      <p:sp>
        <p:nvSpPr>
          <p:cNvPr id="93" name="Shape 91"/>
          <p:cNvSpPr/>
          <p:nvPr/>
        </p:nvSpPr>
        <p:spPr>
          <a:xfrm>
            <a:off x="1225296" y="3776472"/>
            <a:ext cx="749808" cy="384048"/>
          </a:xfrm>
          <a:prstGeom prst="rect">
            <a:avLst/>
          </a:prstGeom>
          <a:solidFill>
            <a:srgbClr val="F9FAF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4" name="Text 92"/>
          <p:cNvSpPr/>
          <p:nvPr/>
        </p:nvSpPr>
        <p:spPr>
          <a:xfrm>
            <a:off x="1275588" y="3849624"/>
            <a:ext cx="649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050" dirty="0"/>
          </a:p>
        </p:txBody>
      </p:sp>
      <p:sp>
        <p:nvSpPr>
          <p:cNvPr id="95" name="Shape 93"/>
          <p:cNvSpPr/>
          <p:nvPr/>
        </p:nvSpPr>
        <p:spPr>
          <a:xfrm>
            <a:off x="1975104" y="3776472"/>
            <a:ext cx="1115568" cy="384048"/>
          </a:xfrm>
          <a:prstGeom prst="rect">
            <a:avLst/>
          </a:prstGeom>
          <a:solidFill>
            <a:srgbClr val="F9FAF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6" name="Text 94"/>
          <p:cNvSpPr/>
          <p:nvPr/>
        </p:nvSpPr>
        <p:spPr>
          <a:xfrm>
            <a:off x="2025396" y="3849624"/>
            <a:ext cx="10149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0.5175</a:t>
            </a:r>
            <a:endParaRPr lang="en-US" sz="1050" dirty="0"/>
          </a:p>
        </p:txBody>
      </p:sp>
      <p:sp>
        <p:nvSpPr>
          <p:cNvPr id="97" name="Shape 95"/>
          <p:cNvSpPr/>
          <p:nvPr/>
        </p:nvSpPr>
        <p:spPr>
          <a:xfrm>
            <a:off x="3090672" y="3776472"/>
            <a:ext cx="1225296" cy="384048"/>
          </a:xfrm>
          <a:prstGeom prst="rect">
            <a:avLst/>
          </a:prstGeom>
          <a:solidFill>
            <a:srgbClr val="F9FAF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8" name="Text 96"/>
          <p:cNvSpPr/>
          <p:nvPr/>
        </p:nvSpPr>
        <p:spPr>
          <a:xfrm>
            <a:off x="3140964" y="3849624"/>
            <a:ext cx="112471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152.9</a:t>
            </a:r>
            <a:endParaRPr lang="en-US" sz="1050" dirty="0"/>
          </a:p>
        </p:txBody>
      </p:sp>
      <p:sp>
        <p:nvSpPr>
          <p:cNvPr id="99" name="Shape 97"/>
          <p:cNvSpPr/>
          <p:nvPr/>
        </p:nvSpPr>
        <p:spPr>
          <a:xfrm>
            <a:off x="4315968" y="3776472"/>
            <a:ext cx="987552" cy="384048"/>
          </a:xfrm>
          <a:prstGeom prst="rect">
            <a:avLst/>
          </a:prstGeom>
          <a:solidFill>
            <a:srgbClr val="F9FAF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0" name="Text 98"/>
          <p:cNvSpPr/>
          <p:nvPr/>
        </p:nvSpPr>
        <p:spPr>
          <a:xfrm>
            <a:off x="4366260" y="3849624"/>
            <a:ext cx="88696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0.3155</a:t>
            </a:r>
            <a:endParaRPr lang="en-US" sz="1050" dirty="0"/>
          </a:p>
        </p:txBody>
      </p:sp>
      <p:sp>
        <p:nvSpPr>
          <p:cNvPr id="101" name="Shape 99"/>
          <p:cNvSpPr/>
          <p:nvPr/>
        </p:nvSpPr>
        <p:spPr>
          <a:xfrm>
            <a:off x="5303520" y="3776472"/>
            <a:ext cx="932688" cy="384048"/>
          </a:xfrm>
          <a:prstGeom prst="rect">
            <a:avLst/>
          </a:prstGeom>
          <a:solidFill>
            <a:srgbClr val="F9FAF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2" name="Text 100"/>
          <p:cNvSpPr/>
          <p:nvPr/>
        </p:nvSpPr>
        <p:spPr>
          <a:xfrm>
            <a:off x="5353812" y="3849624"/>
            <a:ext cx="832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9.244</a:t>
            </a:r>
            <a:endParaRPr lang="en-US" sz="1050" dirty="0"/>
          </a:p>
        </p:txBody>
      </p:sp>
      <p:sp>
        <p:nvSpPr>
          <p:cNvPr id="103" name="Shape 101"/>
          <p:cNvSpPr/>
          <p:nvPr/>
        </p:nvSpPr>
        <p:spPr>
          <a:xfrm>
            <a:off x="6236208" y="3776472"/>
            <a:ext cx="932688" cy="384048"/>
          </a:xfrm>
          <a:prstGeom prst="rect">
            <a:avLst/>
          </a:prstGeom>
          <a:solidFill>
            <a:srgbClr val="F9FAF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4" name="Text 102"/>
          <p:cNvSpPr/>
          <p:nvPr/>
        </p:nvSpPr>
        <p:spPr>
          <a:xfrm>
            <a:off x="6286500" y="3849624"/>
            <a:ext cx="832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6.815</a:t>
            </a:r>
            <a:endParaRPr lang="en-US" sz="1050" dirty="0"/>
          </a:p>
        </p:txBody>
      </p:sp>
      <p:sp>
        <p:nvSpPr>
          <p:cNvPr id="105" name="Shape 103"/>
          <p:cNvSpPr/>
          <p:nvPr/>
        </p:nvSpPr>
        <p:spPr>
          <a:xfrm>
            <a:off x="7168896" y="3776472"/>
            <a:ext cx="749808" cy="384048"/>
          </a:xfrm>
          <a:prstGeom prst="rect">
            <a:avLst/>
          </a:prstGeom>
          <a:solidFill>
            <a:srgbClr val="F9FAF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6" name="Text 104"/>
          <p:cNvSpPr/>
          <p:nvPr/>
        </p:nvSpPr>
        <p:spPr>
          <a:xfrm>
            <a:off x="7219188" y="3849624"/>
            <a:ext cx="649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1050" dirty="0"/>
          </a:p>
        </p:txBody>
      </p:sp>
      <p:sp>
        <p:nvSpPr>
          <p:cNvPr id="107" name="Shape 105"/>
          <p:cNvSpPr/>
          <p:nvPr/>
        </p:nvSpPr>
        <p:spPr>
          <a:xfrm>
            <a:off x="658368" y="4160520"/>
            <a:ext cx="56692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8" name="Text 106"/>
          <p:cNvSpPr/>
          <p:nvPr/>
        </p:nvSpPr>
        <p:spPr>
          <a:xfrm>
            <a:off x="708660" y="4233672"/>
            <a:ext cx="466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050" dirty="0"/>
          </a:p>
        </p:txBody>
      </p:sp>
      <p:sp>
        <p:nvSpPr>
          <p:cNvPr id="109" name="Shape 107"/>
          <p:cNvSpPr/>
          <p:nvPr/>
        </p:nvSpPr>
        <p:spPr>
          <a:xfrm>
            <a:off x="1225296" y="4160520"/>
            <a:ext cx="74980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0" name="Text 108"/>
          <p:cNvSpPr/>
          <p:nvPr/>
        </p:nvSpPr>
        <p:spPr>
          <a:xfrm>
            <a:off x="1275588" y="4233672"/>
            <a:ext cx="649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050" dirty="0"/>
          </a:p>
        </p:txBody>
      </p:sp>
      <p:sp>
        <p:nvSpPr>
          <p:cNvPr id="111" name="Shape 109"/>
          <p:cNvSpPr/>
          <p:nvPr/>
        </p:nvSpPr>
        <p:spPr>
          <a:xfrm>
            <a:off x="1975104" y="4160520"/>
            <a:ext cx="111556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2" name="Text 110"/>
          <p:cNvSpPr/>
          <p:nvPr/>
        </p:nvSpPr>
        <p:spPr>
          <a:xfrm>
            <a:off x="2025396" y="4233672"/>
            <a:ext cx="10149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0.4743</a:t>
            </a:r>
            <a:endParaRPr lang="en-US" sz="1050" dirty="0"/>
          </a:p>
        </p:txBody>
      </p:sp>
      <p:sp>
        <p:nvSpPr>
          <p:cNvPr id="113" name="Shape 111"/>
          <p:cNvSpPr/>
          <p:nvPr/>
        </p:nvSpPr>
        <p:spPr>
          <a:xfrm>
            <a:off x="3090672" y="4160520"/>
            <a:ext cx="1225296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4" name="Text 112"/>
          <p:cNvSpPr/>
          <p:nvPr/>
        </p:nvSpPr>
        <p:spPr>
          <a:xfrm>
            <a:off x="3140964" y="4233672"/>
            <a:ext cx="112471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74.38</a:t>
            </a:r>
            <a:endParaRPr lang="en-US" sz="1050" dirty="0"/>
          </a:p>
        </p:txBody>
      </p:sp>
      <p:sp>
        <p:nvSpPr>
          <p:cNvPr id="115" name="Shape 113"/>
          <p:cNvSpPr/>
          <p:nvPr/>
        </p:nvSpPr>
        <p:spPr>
          <a:xfrm>
            <a:off x="4315968" y="4160520"/>
            <a:ext cx="987552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6" name="Text 114"/>
          <p:cNvSpPr/>
          <p:nvPr/>
        </p:nvSpPr>
        <p:spPr>
          <a:xfrm>
            <a:off x="4366260" y="4233672"/>
            <a:ext cx="88696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0.6525</a:t>
            </a:r>
            <a:endParaRPr lang="en-US" sz="1050" dirty="0"/>
          </a:p>
        </p:txBody>
      </p:sp>
      <p:sp>
        <p:nvSpPr>
          <p:cNvPr id="117" name="Shape 115"/>
          <p:cNvSpPr/>
          <p:nvPr/>
        </p:nvSpPr>
        <p:spPr>
          <a:xfrm>
            <a:off x="5303520" y="4160520"/>
            <a:ext cx="93268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8" name="Text 116"/>
          <p:cNvSpPr/>
          <p:nvPr/>
        </p:nvSpPr>
        <p:spPr>
          <a:xfrm>
            <a:off x="5353812" y="4233672"/>
            <a:ext cx="832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4.407</a:t>
            </a:r>
            <a:endParaRPr lang="en-US" sz="1050" dirty="0"/>
          </a:p>
        </p:txBody>
      </p:sp>
      <p:sp>
        <p:nvSpPr>
          <p:cNvPr id="119" name="Shape 117"/>
          <p:cNvSpPr/>
          <p:nvPr/>
        </p:nvSpPr>
        <p:spPr>
          <a:xfrm>
            <a:off x="6236208" y="4160520"/>
            <a:ext cx="93268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0" name="Text 118"/>
          <p:cNvSpPr/>
          <p:nvPr/>
        </p:nvSpPr>
        <p:spPr>
          <a:xfrm>
            <a:off x="6286500" y="4233672"/>
            <a:ext cx="832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16.67</a:t>
            </a:r>
            <a:endParaRPr lang="en-US" sz="1050" dirty="0"/>
          </a:p>
        </p:txBody>
      </p:sp>
      <p:sp>
        <p:nvSpPr>
          <p:cNvPr id="121" name="Shape 119"/>
          <p:cNvSpPr/>
          <p:nvPr/>
        </p:nvSpPr>
        <p:spPr>
          <a:xfrm>
            <a:off x="7168896" y="4160520"/>
            <a:ext cx="74980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2" name="Text 120"/>
          <p:cNvSpPr/>
          <p:nvPr/>
        </p:nvSpPr>
        <p:spPr>
          <a:xfrm>
            <a:off x="7219188" y="4233672"/>
            <a:ext cx="649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1050" dirty="0"/>
          </a:p>
        </p:txBody>
      </p:sp>
      <p:sp>
        <p:nvSpPr>
          <p:cNvPr id="139" name="Shape 137"/>
          <p:cNvSpPr/>
          <p:nvPr/>
        </p:nvSpPr>
        <p:spPr>
          <a:xfrm>
            <a:off x="658368" y="4544568"/>
            <a:ext cx="56692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40" name="Text 138"/>
          <p:cNvSpPr/>
          <p:nvPr/>
        </p:nvSpPr>
        <p:spPr>
          <a:xfrm>
            <a:off x="708660" y="4617720"/>
            <a:ext cx="466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1050" dirty="0"/>
          </a:p>
        </p:txBody>
      </p:sp>
      <p:sp>
        <p:nvSpPr>
          <p:cNvPr id="141" name="Shape 139"/>
          <p:cNvSpPr/>
          <p:nvPr/>
        </p:nvSpPr>
        <p:spPr>
          <a:xfrm>
            <a:off x="1225296" y="4544568"/>
            <a:ext cx="74980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2" name="Text 140"/>
          <p:cNvSpPr/>
          <p:nvPr/>
        </p:nvSpPr>
        <p:spPr>
          <a:xfrm>
            <a:off x="1275588" y="4617720"/>
            <a:ext cx="649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050" dirty="0"/>
          </a:p>
        </p:txBody>
      </p:sp>
      <p:sp>
        <p:nvSpPr>
          <p:cNvPr id="143" name="Shape 141"/>
          <p:cNvSpPr/>
          <p:nvPr/>
        </p:nvSpPr>
        <p:spPr>
          <a:xfrm>
            <a:off x="1975104" y="4544568"/>
            <a:ext cx="111556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4" name="Text 142"/>
          <p:cNvSpPr/>
          <p:nvPr/>
        </p:nvSpPr>
        <p:spPr>
          <a:xfrm>
            <a:off x="2025396" y="4617720"/>
            <a:ext cx="10149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0.0375</a:t>
            </a:r>
            <a:endParaRPr lang="en-US" sz="1050" dirty="0"/>
          </a:p>
        </p:txBody>
      </p:sp>
      <p:sp>
        <p:nvSpPr>
          <p:cNvPr id="145" name="Shape 143"/>
          <p:cNvSpPr/>
          <p:nvPr/>
        </p:nvSpPr>
        <p:spPr>
          <a:xfrm>
            <a:off x="3090672" y="4544568"/>
            <a:ext cx="1225296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6" name="Text 144"/>
          <p:cNvSpPr/>
          <p:nvPr/>
        </p:nvSpPr>
        <p:spPr>
          <a:xfrm>
            <a:off x="3140964" y="4617720"/>
            <a:ext cx="112471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46.84</a:t>
            </a:r>
            <a:endParaRPr lang="en-US" sz="1050" dirty="0"/>
          </a:p>
        </p:txBody>
      </p:sp>
      <p:sp>
        <p:nvSpPr>
          <p:cNvPr id="147" name="Shape 145"/>
          <p:cNvSpPr/>
          <p:nvPr/>
        </p:nvSpPr>
        <p:spPr>
          <a:xfrm>
            <a:off x="4315968" y="4544568"/>
            <a:ext cx="987552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8" name="Text 146"/>
          <p:cNvSpPr/>
          <p:nvPr/>
        </p:nvSpPr>
        <p:spPr>
          <a:xfrm>
            <a:off x="4366260" y="4617720"/>
            <a:ext cx="88696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1.043</a:t>
            </a:r>
            <a:endParaRPr lang="en-US" sz="1050" dirty="0"/>
          </a:p>
        </p:txBody>
      </p:sp>
      <p:sp>
        <p:nvSpPr>
          <p:cNvPr id="149" name="Shape 147"/>
          <p:cNvSpPr/>
          <p:nvPr/>
        </p:nvSpPr>
        <p:spPr>
          <a:xfrm>
            <a:off x="5303520" y="4544568"/>
            <a:ext cx="93268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0" name="Text 148"/>
          <p:cNvSpPr/>
          <p:nvPr/>
        </p:nvSpPr>
        <p:spPr>
          <a:xfrm>
            <a:off x="5353812" y="4617720"/>
            <a:ext cx="832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8.570</a:t>
            </a:r>
            <a:endParaRPr lang="en-US" sz="1050" dirty="0"/>
          </a:p>
        </p:txBody>
      </p:sp>
      <p:sp>
        <p:nvSpPr>
          <p:cNvPr id="151" name="Shape 149"/>
          <p:cNvSpPr/>
          <p:nvPr/>
        </p:nvSpPr>
        <p:spPr>
          <a:xfrm>
            <a:off x="6236208" y="4544568"/>
            <a:ext cx="93268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2" name="Text 150"/>
          <p:cNvSpPr/>
          <p:nvPr/>
        </p:nvSpPr>
        <p:spPr>
          <a:xfrm>
            <a:off x="6286500" y="4617720"/>
            <a:ext cx="832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53.28</a:t>
            </a:r>
            <a:endParaRPr lang="en-US" sz="1050" dirty="0"/>
          </a:p>
        </p:txBody>
      </p:sp>
      <p:sp>
        <p:nvSpPr>
          <p:cNvPr id="153" name="Shape 151"/>
          <p:cNvSpPr/>
          <p:nvPr/>
        </p:nvSpPr>
        <p:spPr>
          <a:xfrm>
            <a:off x="7168896" y="4544568"/>
            <a:ext cx="74980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4" name="Text 152"/>
          <p:cNvSpPr/>
          <p:nvPr/>
        </p:nvSpPr>
        <p:spPr>
          <a:xfrm>
            <a:off x="7219188" y="4617720"/>
            <a:ext cx="649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1050" dirty="0"/>
          </a:p>
        </p:txBody>
      </p:sp>
      <p:sp>
        <p:nvSpPr>
          <p:cNvPr id="155" name="Shape 153"/>
          <p:cNvSpPr/>
          <p:nvPr/>
        </p:nvSpPr>
        <p:spPr>
          <a:xfrm>
            <a:off x="8366760" y="2286000"/>
            <a:ext cx="3154680" cy="1234440"/>
          </a:xfrm>
          <a:prstGeom prst="roundRect">
            <a:avLst>
              <a:gd name="adj" fmla="val 5926"/>
            </a:avLst>
          </a:prstGeom>
          <a:solidFill>
            <a:srgbClr val="EAF8F1"/>
          </a:solidFill>
          <a:ln w="12700">
            <a:solidFill>
              <a:srgbClr val="EAF8F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6" name="Text 154"/>
          <p:cNvSpPr/>
          <p:nvPr/>
        </p:nvSpPr>
        <p:spPr>
          <a:xfrm>
            <a:off x="8577072" y="2542032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0" b="1" dirty="0">
                <a:solidFill>
                  <a:srgbClr val="188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Best score</a:t>
            </a:r>
            <a:endParaRPr lang="en-US" sz="1060" dirty="0"/>
          </a:p>
        </p:txBody>
      </p:sp>
      <p:sp>
        <p:nvSpPr>
          <p:cNvPr id="157" name="Text 155"/>
          <p:cNvSpPr/>
          <p:nvPr/>
        </p:nvSpPr>
        <p:spPr>
          <a:xfrm>
            <a:off x="8577072" y="288036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5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Offer 2  • </a:t>
            </a:r>
            <a:r>
              <a:rPr lang="en-US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0.7053</a:t>
            </a:r>
            <a:endParaRPr lang="en-US" sz="1650" b="1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1567</TotalTime>
  <Words>676</Words>
  <Application>Microsoft Office PowerPoint</Application>
  <PresentationFormat>Widescreen</PresentationFormat>
  <Paragraphs>295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Adnan Al Rawass</dc:creator>
  <cp:lastModifiedBy>Adnan Al Rawass</cp:lastModifiedBy>
  <cp:revision>23</cp:revision>
  <dcterms:created xsi:type="dcterms:W3CDTF">2026-04-24T09:03:09Z</dcterms:created>
  <dcterms:modified xsi:type="dcterms:W3CDTF">2026-05-27T20:12:02Z</dcterms:modified>
</cp:coreProperties>
</file>