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71" r:id="rId2"/>
    <p:sldId id="256" r:id="rId3"/>
    <p:sldId id="267" r:id="rId4"/>
    <p:sldId id="268" r:id="rId5"/>
    <p:sldId id="26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865B"/>
    <a:srgbClr val="C0392B"/>
    <a:srgbClr val="000000"/>
    <a:srgbClr val="FFF0EE"/>
    <a:srgbClr val="FFFFFF"/>
    <a:srgbClr val="062DEC"/>
    <a:srgbClr val="4472C4"/>
    <a:srgbClr val="CB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2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23DBD5-A0CA-F32B-AE10-EC39DFE807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B84A46-144C-875A-6071-DC55545E90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D79B1-6B7F-4B16-809B-3FCFA3C93DE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F113C4-5DFB-0CE8-731C-8962B948AA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1A53B4-6992-A0CD-FF87-5ED66176DEE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EB984D-C48D-4A5C-A1FD-4A000B0F5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14688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A8A259-EC5C-486F-8E25-9A7145B17D36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084B5D-137E-4885-9181-B35E089F3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87090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38633-2599-E031-CB79-74062047F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3708F2-CD4A-DFF3-B39D-7FC17AE0D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92D751-7735-1041-3556-B94B7C046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486ADB-D2A0-FE0E-9A87-A34D994C5D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1D462-3ACB-9BF4-B07D-0E55D231625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591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820CF-F3C3-B65F-0518-36D8D07C0F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25AA9-4A3B-DFAB-BFAC-DFEEA2662E4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AE83A-56EE-3756-198F-A3508D6AEC0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E546A-2C4A-A17F-AF04-DD6DDB2BA33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BE0ED-A1EE-8B7C-6F64-F7560C93F56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B845A-68FE-F567-7CE6-F6C6731474F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828BA-F2F2-AA9B-85C4-BE88A748B9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68453A-AE22-B256-30C8-A64C8C05B8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BF810-265E-36E0-C941-6A005F142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610A0-4144-CB70-B4B8-1080F8ED1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DA858-95D0-80B4-AEDA-415AF441A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875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1C31A-25EE-5F27-3E99-8BB74BDAA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CFDF4-34B8-DDD0-73C3-D00F97809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AFACB-13F9-74BA-F81F-516B542EE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3A8DF-8C00-8ECA-0A62-22B90FE67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B4735-219D-8E53-14C0-40A9F7735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520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C3F49-2B4E-2B7F-3D1B-74B33A21B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16C52-E706-DBB0-3BA4-C11CA954D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C4408-C7A5-A98D-418E-96D471D7F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491E7-0912-6CEB-462E-C4E804167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176C1-A3BD-5F68-F615-D77FDDAAA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572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38B60-124A-705D-CDF9-67B0D1D2B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828E2-5B64-1C6E-6D8A-16DDE85B2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071486-48B3-630A-E450-9795DEE190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52B4F-756A-1D81-6B9E-F28FD02AD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F12180-853E-6718-FFE4-71A59D295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E63474-2CDD-F14E-2EC6-8F54A9CB0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403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ED403-EF0E-FCA8-F71A-A1380DBDE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39ED11-04A9-230B-7BCA-2E8619524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83BE01-6D94-B4D1-36A3-B90CEE4FE3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EF8835-9358-0D7A-6AA5-980C1F26BD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80BD4A-9307-078C-1B03-7C93018658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1FEEB5-F0F6-A764-2C54-F692E9328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91F987-CFE4-4A4E-2A3E-C7EB947B6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01E885-D3A2-262A-9196-6FFABA162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387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82CDF-7353-4B17-154F-14C6C36D9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8DAABE-6F8B-4926-6134-1FE1B9F83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7A9D91-8321-3637-2369-DB55AD214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8A7C1A-612E-EC85-324D-6D3225C6B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456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348C74-10E0-9161-8EFD-5EFA3BABF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04B529-9C51-F80E-0161-FE3CD3C7D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134FD-548C-D5C7-7EE9-E84B8A3DE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485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ABE4D-8AE0-7D76-B9E2-8C11C350E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CD3A5-7511-6E96-FA9F-C0B7D9FF2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CAF36E-7A2D-615C-E80B-B4EEA006E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B7EF8E-D1CE-6894-CC4A-ABE89C47D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AD7909-52CA-9EC1-A145-53D793E8F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9F8DD3-FF0D-0C69-977F-E4BF82AA4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409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8BBD1-32E4-07CD-677A-4234179B6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DBD5DC-E384-246E-166E-96400D5E51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CD1C13-F534-BBA9-B6A7-1C002AF3B1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3A9117-EBE5-09A6-7CD9-836018D57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1980C7-88FB-E343-E142-CD61BBB9B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B25CAE-EC46-6BAF-B71B-8F8371840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905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BB9FA-0F20-6BE4-27C4-85AA0F5B7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2EEA0D-556C-5DC9-FBDC-1A0FA928D1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CB377-4F08-3F3F-726E-ED4B6BB79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78D4C-A882-18EA-3304-4A938D33E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4DD9A-8CF4-81A2-B3F2-0E0BB0CFF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143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CE2187-8BED-D821-B049-E81FE34ECB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2FD67E-C3AB-7B2A-A2CA-A73631C6C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89B3A-EE6F-BEBE-743A-431AA78F1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9BF4B-39A0-90C7-6779-958C7A7C6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BFE8C-539C-9DE2-9D2B-FDA80BEBA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0801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6339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C45761-6FC6-27BF-C01E-640D24654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C0511-7138-CFC9-6BE8-A46F0069CE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8992D-B164-28C2-5A77-9D2B6507BE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87344-E586-A80A-9E34-D4E4B770BC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5244D-CD63-B26C-B970-26DF2F9371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8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1C9C4-3613-2EF5-7488-6096F8ADF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A969BA0-C1A9-84F2-6B0A-CC9E3DE1EC02}"/>
              </a:ext>
            </a:extLst>
          </p:cNvPr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6FDB"/>
          </a:solidFill>
          <a:ln w="12700">
            <a:solidFill>
              <a:srgbClr val="2F6F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147F672-3849-FCB7-BD20-72E5B35A5E01}"/>
              </a:ext>
            </a:extLst>
          </p:cNvPr>
          <p:cNvSpPr/>
          <p:nvPr/>
        </p:nvSpPr>
        <p:spPr>
          <a:xfrm>
            <a:off x="4811099" y="2834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6FDB"/>
                </a:solidFill>
              </a:rPr>
              <a:t>TOPSIS Algorithm • eMBB</a:t>
            </a:r>
            <a:endParaRPr lang="en-US" sz="12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6F50D53-0B90-0102-F33D-20A818016E76}"/>
              </a:ext>
            </a:extLst>
          </p:cNvPr>
          <p:cNvSpPr/>
          <p:nvPr/>
        </p:nvSpPr>
        <p:spPr>
          <a:xfrm>
            <a:off x="502920" y="6400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</a:rPr>
              <a:t>Media-Flex — best ranked offer</a:t>
            </a:r>
            <a:endParaRPr lang="en-US" sz="2500" dirty="0"/>
          </a:p>
        </p:txBody>
      </p:sp>
      <p:pic>
        <p:nvPicPr>
          <p:cNvPr id="74" name="Picture 2">
            <a:extLst>
              <a:ext uri="{FF2B5EF4-FFF2-40B4-BE49-F238E27FC236}">
                <a16:creationId xmlns:a16="http://schemas.microsoft.com/office/drawing/2014/main" id="{C9F583FE-6EED-CDA2-E3ED-9C8FBDEB52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48" y="0"/>
            <a:ext cx="2446591" cy="710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5F51822-B7BA-26A9-6AE7-D6C6488FA7E0}"/>
              </a:ext>
            </a:extLst>
          </p:cNvPr>
          <p:cNvSpPr txBox="1"/>
          <p:nvPr/>
        </p:nvSpPr>
        <p:spPr>
          <a:xfrm>
            <a:off x="613834" y="1047264"/>
            <a:ext cx="6104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Low Network Congestion Scenario</a:t>
            </a:r>
          </a:p>
        </p:txBody>
      </p:sp>
      <p:sp>
        <p:nvSpPr>
          <p:cNvPr id="16" name="Shape 18">
            <a:extLst>
              <a:ext uri="{FF2B5EF4-FFF2-40B4-BE49-F238E27FC236}">
                <a16:creationId xmlns:a16="http://schemas.microsoft.com/office/drawing/2014/main" id="{93076092-4F2E-C994-307D-742EA0A99D15}"/>
              </a:ext>
            </a:extLst>
          </p:cNvPr>
          <p:cNvSpPr/>
          <p:nvPr/>
        </p:nvSpPr>
        <p:spPr>
          <a:xfrm>
            <a:off x="3415454" y="1921595"/>
            <a:ext cx="2240280" cy="384048"/>
          </a:xfrm>
          <a:prstGeom prst="rect">
            <a:avLst/>
          </a:prstGeom>
          <a:solidFill>
            <a:srgbClr val="2F6FD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9">
            <a:extLst>
              <a:ext uri="{FF2B5EF4-FFF2-40B4-BE49-F238E27FC236}">
                <a16:creationId xmlns:a16="http://schemas.microsoft.com/office/drawing/2014/main" id="{0DABB54B-0107-269F-D610-7FB8A1FDFE63}"/>
              </a:ext>
            </a:extLst>
          </p:cNvPr>
          <p:cNvSpPr/>
          <p:nvPr/>
        </p:nvSpPr>
        <p:spPr>
          <a:xfrm>
            <a:off x="3525182" y="1971887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1150" dirty="0"/>
          </a:p>
        </p:txBody>
      </p:sp>
      <p:sp>
        <p:nvSpPr>
          <p:cNvPr id="18" name="Shape 20">
            <a:extLst>
              <a:ext uri="{FF2B5EF4-FFF2-40B4-BE49-F238E27FC236}">
                <a16:creationId xmlns:a16="http://schemas.microsoft.com/office/drawing/2014/main" id="{C192EBAB-39F5-8B0E-5126-304829986D4F}"/>
              </a:ext>
            </a:extLst>
          </p:cNvPr>
          <p:cNvSpPr/>
          <p:nvPr/>
        </p:nvSpPr>
        <p:spPr>
          <a:xfrm>
            <a:off x="5655734" y="1921595"/>
            <a:ext cx="3794760" cy="384048"/>
          </a:xfrm>
          <a:prstGeom prst="rect">
            <a:avLst/>
          </a:prstGeom>
          <a:solidFill>
            <a:srgbClr val="2F6FD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21">
            <a:extLst>
              <a:ext uri="{FF2B5EF4-FFF2-40B4-BE49-F238E27FC236}">
                <a16:creationId xmlns:a16="http://schemas.microsoft.com/office/drawing/2014/main" id="{07BBA00F-C5F6-5D59-E4B8-C6D2888ED683}"/>
              </a:ext>
            </a:extLst>
          </p:cNvPr>
          <p:cNvSpPr/>
          <p:nvPr/>
        </p:nvSpPr>
        <p:spPr>
          <a:xfrm>
            <a:off x="5765462" y="1971887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</a:t>
            </a:r>
            <a:endParaRPr lang="en-US" sz="1150" dirty="0"/>
          </a:p>
        </p:txBody>
      </p:sp>
      <p:sp>
        <p:nvSpPr>
          <p:cNvPr id="56" name="Shape 22">
            <a:extLst>
              <a:ext uri="{FF2B5EF4-FFF2-40B4-BE49-F238E27FC236}">
                <a16:creationId xmlns:a16="http://schemas.microsoft.com/office/drawing/2014/main" id="{9AFCA38B-C46F-F30B-BFAE-0334674CB1FD}"/>
              </a:ext>
            </a:extLst>
          </p:cNvPr>
          <p:cNvSpPr/>
          <p:nvPr/>
        </p:nvSpPr>
        <p:spPr>
          <a:xfrm>
            <a:off x="3415454" y="2305643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7" name="Text 23">
            <a:extLst>
              <a:ext uri="{FF2B5EF4-FFF2-40B4-BE49-F238E27FC236}">
                <a16:creationId xmlns:a16="http://schemas.microsoft.com/office/drawing/2014/main" id="{D196868D-6626-4B63-1086-A7BFECFB841B}"/>
              </a:ext>
            </a:extLst>
          </p:cNvPr>
          <p:cNvSpPr/>
          <p:nvPr/>
        </p:nvSpPr>
        <p:spPr>
          <a:xfrm>
            <a:off x="3525182" y="2425531"/>
            <a:ext cx="62348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b="1" dirty="0">
                <a:latin typeface="Aptos" panose="020B0004020202020204" pitchFamily="34" charset="0"/>
              </a:rPr>
              <a:t>MCS</a:t>
            </a:r>
          </a:p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A1E7DFCE-78E0-AC61-1EC3-1A3B513A3939}"/>
              </a:ext>
            </a:extLst>
          </p:cNvPr>
          <p:cNvSpPr/>
          <p:nvPr/>
        </p:nvSpPr>
        <p:spPr>
          <a:xfrm>
            <a:off x="5655734" y="2305643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9" name="Text 25">
            <a:extLst>
              <a:ext uri="{FF2B5EF4-FFF2-40B4-BE49-F238E27FC236}">
                <a16:creationId xmlns:a16="http://schemas.microsoft.com/office/drawing/2014/main" id="{7AAD1ECC-BBF9-AD6F-2B7F-3F70F87F0B0B}"/>
              </a:ext>
            </a:extLst>
          </p:cNvPr>
          <p:cNvSpPr/>
          <p:nvPr/>
        </p:nvSpPr>
        <p:spPr>
          <a:xfrm>
            <a:off x="5765462" y="2355935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</a:rPr>
              <a:t>28</a:t>
            </a:r>
            <a:endParaRPr lang="en-US" sz="1100" dirty="0"/>
          </a:p>
        </p:txBody>
      </p:sp>
      <p:sp>
        <p:nvSpPr>
          <p:cNvPr id="60" name="Shape 26">
            <a:extLst>
              <a:ext uri="{FF2B5EF4-FFF2-40B4-BE49-F238E27FC236}">
                <a16:creationId xmlns:a16="http://schemas.microsoft.com/office/drawing/2014/main" id="{4264AC9D-4068-1351-058A-BB266F82183C}"/>
              </a:ext>
            </a:extLst>
          </p:cNvPr>
          <p:cNvSpPr/>
          <p:nvPr/>
        </p:nvSpPr>
        <p:spPr>
          <a:xfrm>
            <a:off x="3415454" y="2689691"/>
            <a:ext cx="603504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1" name="Text 27">
            <a:extLst>
              <a:ext uri="{FF2B5EF4-FFF2-40B4-BE49-F238E27FC236}">
                <a16:creationId xmlns:a16="http://schemas.microsoft.com/office/drawing/2014/main" id="{093BD87C-A921-138C-D46C-68636AE136F4}"/>
              </a:ext>
            </a:extLst>
          </p:cNvPr>
          <p:cNvSpPr/>
          <p:nvPr/>
        </p:nvSpPr>
        <p:spPr>
          <a:xfrm>
            <a:off x="4391322" y="2854283"/>
            <a:ext cx="41583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latin typeface="Aptos" panose="020B0004020202020204" pitchFamily="34" charset="0"/>
              </a:rPr>
              <a:t>  Spec 3GPP TS 22.261 V20.6.0 (2026-03)</a:t>
            </a:r>
          </a:p>
          <a:p>
            <a:pPr algn="ctr"/>
            <a:endParaRPr lang="en-US" sz="1400" b="1" dirty="0">
              <a:latin typeface="Aptos" panose="020B0004020202020204" pitchFamily="34" charset="0"/>
            </a:endParaRPr>
          </a:p>
        </p:txBody>
      </p:sp>
      <p:sp>
        <p:nvSpPr>
          <p:cNvPr id="77" name="Shape 30">
            <a:extLst>
              <a:ext uri="{FF2B5EF4-FFF2-40B4-BE49-F238E27FC236}">
                <a16:creationId xmlns:a16="http://schemas.microsoft.com/office/drawing/2014/main" id="{A09452EE-06F2-14EA-4DE7-636E54BBF2A5}"/>
              </a:ext>
            </a:extLst>
          </p:cNvPr>
          <p:cNvSpPr/>
          <p:nvPr/>
        </p:nvSpPr>
        <p:spPr>
          <a:xfrm>
            <a:off x="3415454" y="3073739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31">
            <a:extLst>
              <a:ext uri="{FF2B5EF4-FFF2-40B4-BE49-F238E27FC236}">
                <a16:creationId xmlns:a16="http://schemas.microsoft.com/office/drawing/2014/main" id="{B7D727C2-40A5-DE0A-7BE6-D45C806A50CB}"/>
              </a:ext>
            </a:extLst>
          </p:cNvPr>
          <p:cNvSpPr/>
          <p:nvPr/>
        </p:nvSpPr>
        <p:spPr>
          <a:xfrm>
            <a:off x="3525182" y="3124031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b="1" dirty="0">
                <a:latin typeface="Aptos" panose="020B0004020202020204" pitchFamily="34" charset="0"/>
              </a:rPr>
              <a:t>eMBB</a:t>
            </a:r>
          </a:p>
        </p:txBody>
      </p:sp>
      <p:sp>
        <p:nvSpPr>
          <p:cNvPr id="79" name="Shape 32">
            <a:extLst>
              <a:ext uri="{FF2B5EF4-FFF2-40B4-BE49-F238E27FC236}">
                <a16:creationId xmlns:a16="http://schemas.microsoft.com/office/drawing/2014/main" id="{2C3FE6E8-D209-D899-6F92-031826F83D88}"/>
              </a:ext>
            </a:extLst>
          </p:cNvPr>
          <p:cNvSpPr/>
          <p:nvPr/>
        </p:nvSpPr>
        <p:spPr>
          <a:xfrm>
            <a:off x="5655734" y="3073739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0" name="Text 33">
            <a:extLst>
              <a:ext uri="{FF2B5EF4-FFF2-40B4-BE49-F238E27FC236}">
                <a16:creationId xmlns:a16="http://schemas.microsoft.com/office/drawing/2014/main" id="{2CF55676-9B2C-F2DB-AD63-4A25990A84CD}"/>
              </a:ext>
            </a:extLst>
          </p:cNvPr>
          <p:cNvSpPr/>
          <p:nvPr/>
        </p:nvSpPr>
        <p:spPr>
          <a:xfrm>
            <a:off x="5765462" y="3361775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b="1" dirty="0">
                <a:latin typeface="Aptos" panose="020B0004020202020204" pitchFamily="34" charset="0"/>
              </a:rPr>
              <a:t>Table 7.1-1- Rural macro</a:t>
            </a:r>
          </a:p>
          <a:p>
            <a:endParaRPr lang="en-US" dirty="0"/>
          </a:p>
          <a:p>
            <a:endParaRPr lang="en-US" sz="1100" dirty="0"/>
          </a:p>
        </p:txBody>
      </p:sp>
      <p:sp>
        <p:nvSpPr>
          <p:cNvPr id="81" name="Shape 34">
            <a:extLst>
              <a:ext uri="{FF2B5EF4-FFF2-40B4-BE49-F238E27FC236}">
                <a16:creationId xmlns:a16="http://schemas.microsoft.com/office/drawing/2014/main" id="{08951B89-C8BA-0D4E-1809-2E82914A9F40}"/>
              </a:ext>
            </a:extLst>
          </p:cNvPr>
          <p:cNvSpPr/>
          <p:nvPr/>
        </p:nvSpPr>
        <p:spPr>
          <a:xfrm>
            <a:off x="3415454" y="3457787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35">
            <a:extLst>
              <a:ext uri="{FF2B5EF4-FFF2-40B4-BE49-F238E27FC236}">
                <a16:creationId xmlns:a16="http://schemas.microsoft.com/office/drawing/2014/main" id="{AB0915EF-A400-644E-9A79-C308D2556D70}"/>
              </a:ext>
            </a:extLst>
          </p:cNvPr>
          <p:cNvSpPr/>
          <p:nvPr/>
        </p:nvSpPr>
        <p:spPr>
          <a:xfrm>
            <a:off x="3515868" y="3578945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dirty="0">
                <a:latin typeface="Aptos" panose="020B0004020202020204" pitchFamily="34" charset="0"/>
              </a:rPr>
              <a:t>Data rate</a:t>
            </a:r>
          </a:p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83" name="Shape 36">
            <a:extLst>
              <a:ext uri="{FF2B5EF4-FFF2-40B4-BE49-F238E27FC236}">
                <a16:creationId xmlns:a16="http://schemas.microsoft.com/office/drawing/2014/main" id="{53B2E574-5D81-133A-2F8F-10F38D4B4786}"/>
              </a:ext>
            </a:extLst>
          </p:cNvPr>
          <p:cNvSpPr/>
          <p:nvPr/>
        </p:nvSpPr>
        <p:spPr>
          <a:xfrm>
            <a:off x="5655734" y="3457787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37">
            <a:extLst>
              <a:ext uri="{FF2B5EF4-FFF2-40B4-BE49-F238E27FC236}">
                <a16:creationId xmlns:a16="http://schemas.microsoft.com/office/drawing/2014/main" id="{81B5A382-61B0-1717-E7E9-13461985ACCE}"/>
              </a:ext>
            </a:extLst>
          </p:cNvPr>
          <p:cNvSpPr/>
          <p:nvPr/>
        </p:nvSpPr>
        <p:spPr>
          <a:xfrm>
            <a:off x="5765462" y="3508079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latin typeface="Aptos" pitchFamily="34" charset="0"/>
                <a:ea typeface="Aptos" pitchFamily="34" charset="-122"/>
                <a:cs typeface="Aptos" pitchFamily="34" charset="-120"/>
              </a:rPr>
              <a:t>50 </a:t>
            </a: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Mbps</a:t>
            </a:r>
            <a:endParaRPr lang="en-US" sz="1100" dirty="0"/>
          </a:p>
        </p:txBody>
      </p:sp>
      <p:sp>
        <p:nvSpPr>
          <p:cNvPr id="85" name="Shape 38">
            <a:extLst>
              <a:ext uri="{FF2B5EF4-FFF2-40B4-BE49-F238E27FC236}">
                <a16:creationId xmlns:a16="http://schemas.microsoft.com/office/drawing/2014/main" id="{B36E742D-87E6-1B26-9E27-AAEEE444351A}"/>
              </a:ext>
            </a:extLst>
          </p:cNvPr>
          <p:cNvSpPr/>
          <p:nvPr/>
        </p:nvSpPr>
        <p:spPr>
          <a:xfrm>
            <a:off x="3415454" y="3841835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39">
            <a:extLst>
              <a:ext uri="{FF2B5EF4-FFF2-40B4-BE49-F238E27FC236}">
                <a16:creationId xmlns:a16="http://schemas.microsoft.com/office/drawing/2014/main" id="{F6C6EAD7-4341-04E1-6C8C-E191EA2A74BA}"/>
              </a:ext>
            </a:extLst>
          </p:cNvPr>
          <p:cNvSpPr/>
          <p:nvPr/>
        </p:nvSpPr>
        <p:spPr>
          <a:xfrm>
            <a:off x="3525182" y="3892127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b="1" dirty="0">
                <a:latin typeface="Aptos" panose="020B0004020202020204" pitchFamily="34" charset="0"/>
              </a:rPr>
              <a:t>URLLC</a:t>
            </a:r>
          </a:p>
        </p:txBody>
      </p:sp>
      <p:sp>
        <p:nvSpPr>
          <p:cNvPr id="87" name="Shape 40">
            <a:extLst>
              <a:ext uri="{FF2B5EF4-FFF2-40B4-BE49-F238E27FC236}">
                <a16:creationId xmlns:a16="http://schemas.microsoft.com/office/drawing/2014/main" id="{07C6CC71-F9E3-F01A-F2C2-A8C659BFE0B0}"/>
              </a:ext>
            </a:extLst>
          </p:cNvPr>
          <p:cNvSpPr/>
          <p:nvPr/>
        </p:nvSpPr>
        <p:spPr>
          <a:xfrm>
            <a:off x="5655734" y="3841835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41">
            <a:extLst>
              <a:ext uri="{FF2B5EF4-FFF2-40B4-BE49-F238E27FC236}">
                <a16:creationId xmlns:a16="http://schemas.microsoft.com/office/drawing/2014/main" id="{FE93FFC8-1A75-6E87-BA7B-280A07351F7F}"/>
              </a:ext>
            </a:extLst>
          </p:cNvPr>
          <p:cNvSpPr/>
          <p:nvPr/>
        </p:nvSpPr>
        <p:spPr>
          <a:xfrm>
            <a:off x="5765462" y="3892127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b="1" dirty="0">
                <a:latin typeface="Aptos" panose="020B0004020202020204" pitchFamily="34" charset="0"/>
              </a:rPr>
              <a:t>Table 7.2.3.2-1</a:t>
            </a:r>
          </a:p>
        </p:txBody>
      </p:sp>
      <p:sp>
        <p:nvSpPr>
          <p:cNvPr id="89" name="Shape 42">
            <a:extLst>
              <a:ext uri="{FF2B5EF4-FFF2-40B4-BE49-F238E27FC236}">
                <a16:creationId xmlns:a16="http://schemas.microsoft.com/office/drawing/2014/main" id="{FF6208A0-6C9A-742B-826E-1B67D3D4B897}"/>
              </a:ext>
            </a:extLst>
          </p:cNvPr>
          <p:cNvSpPr/>
          <p:nvPr/>
        </p:nvSpPr>
        <p:spPr>
          <a:xfrm>
            <a:off x="3415454" y="4225883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43">
            <a:extLst>
              <a:ext uri="{FF2B5EF4-FFF2-40B4-BE49-F238E27FC236}">
                <a16:creationId xmlns:a16="http://schemas.microsoft.com/office/drawing/2014/main" id="{07409A01-9DD5-B7B1-3F1D-75BB9D78EAA4}"/>
              </a:ext>
            </a:extLst>
          </p:cNvPr>
          <p:cNvSpPr/>
          <p:nvPr/>
        </p:nvSpPr>
        <p:spPr>
          <a:xfrm>
            <a:off x="3525182" y="4344078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b="1" dirty="0">
                <a:latin typeface="Aptos" panose="020B0004020202020204" pitchFamily="34" charset="0"/>
              </a:rPr>
              <a:t>mMTC</a:t>
            </a:r>
          </a:p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91" name="Shape 44">
            <a:extLst>
              <a:ext uri="{FF2B5EF4-FFF2-40B4-BE49-F238E27FC236}">
                <a16:creationId xmlns:a16="http://schemas.microsoft.com/office/drawing/2014/main" id="{C7C8D1A9-3679-A89D-20DB-92279A96EDFB}"/>
              </a:ext>
            </a:extLst>
          </p:cNvPr>
          <p:cNvSpPr/>
          <p:nvPr/>
        </p:nvSpPr>
        <p:spPr>
          <a:xfrm>
            <a:off x="5655734" y="4225883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45">
            <a:extLst>
              <a:ext uri="{FF2B5EF4-FFF2-40B4-BE49-F238E27FC236}">
                <a16:creationId xmlns:a16="http://schemas.microsoft.com/office/drawing/2014/main" id="{3C9E9C94-DBED-7F23-9A38-5344A113954A}"/>
              </a:ext>
            </a:extLst>
          </p:cNvPr>
          <p:cNvSpPr/>
          <p:nvPr/>
        </p:nvSpPr>
        <p:spPr>
          <a:xfrm>
            <a:off x="5765462" y="4276175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b="1" dirty="0">
                <a:latin typeface="Aptos" panose="020B0004020202020204" pitchFamily="34" charset="0"/>
              </a:rPr>
              <a:t>Table 7.5.2-1</a:t>
            </a:r>
          </a:p>
        </p:txBody>
      </p:sp>
    </p:spTree>
    <p:extLst>
      <p:ext uri="{BB962C8B-B14F-4D97-AF65-F5344CB8AC3E}">
        <p14:creationId xmlns:p14="http://schemas.microsoft.com/office/powerpoint/2010/main" val="3029986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6FDB"/>
          </a:solidFill>
          <a:ln w="12700">
            <a:solidFill>
              <a:srgbClr val="2F6F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811099" y="2834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6FDB"/>
                </a:solidFill>
              </a:rPr>
              <a:t>TOPSIS Algorithm • eMBB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</a:rPr>
              <a:t>Media-Flex — best ranked offer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9098280" y="347472"/>
            <a:ext cx="2514600" cy="402336"/>
          </a:xfrm>
          <a:prstGeom prst="roundRect">
            <a:avLst>
              <a:gd name="adj" fmla="val 18182"/>
            </a:avLst>
          </a:prstGeom>
          <a:solidFill>
            <a:srgbClr val="EAF2FF"/>
          </a:solidFill>
          <a:ln w="12700">
            <a:solidFill>
              <a:srgbClr val="2F6FD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89720" y="45720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6FDB"/>
                </a:solidFill>
              </a:rPr>
              <a:t>slice = eMBB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173968" cy="457200"/>
          </a:xfrm>
          <a:prstGeom prst="roundRect">
            <a:avLst>
              <a:gd name="adj" fmla="val 16000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298448"/>
            <a:ext cx="10835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80" b="1" dirty="0">
                <a:solidFill>
                  <a:srgbClr val="2F6FDB"/>
                </a:solidFill>
              </a:rPr>
              <a:t>User Intent: User wants a media-oriented eMBB slice with high throughput (≥ 60) while respecting latency (≤ 10), cost (≤ 200), and energy (≤ 100) limits.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685800" y="19293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Best TOPSIS score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1671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0.8812</a:t>
            </a:r>
            <a:endParaRPr lang="en-US" sz="3100" dirty="0">
              <a:solidFill>
                <a:schemeClr val="accent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800" y="27797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Rank 1 • Offer 3 • Feasible: true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17720" y="1938528"/>
            <a:ext cx="2240280" cy="384048"/>
          </a:xfrm>
          <a:prstGeom prst="rect">
            <a:avLst/>
          </a:prstGeom>
          <a:solidFill>
            <a:srgbClr val="2F6FD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27448" y="1988820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58000" y="1938528"/>
            <a:ext cx="3794760" cy="384048"/>
          </a:xfrm>
          <a:prstGeom prst="rect">
            <a:avLst/>
          </a:prstGeom>
          <a:solidFill>
            <a:srgbClr val="2F6FD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67728" y="198882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17720" y="2322576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27448" y="2372868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0" y="2322576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967728" y="2372868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17720" y="2706624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27448" y="2756916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ID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858000" y="2706624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967728" y="2756916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</a:rPr>
              <a:t>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17720" y="3090672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27448" y="314096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TOPSIS score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58000" y="3090672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967728" y="3140964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latin typeface="Aptos" pitchFamily="34" charset="0"/>
                <a:ea typeface="Aptos" pitchFamily="34" charset="-122"/>
                <a:cs typeface="Aptos" pitchFamily="34" charset="-120"/>
              </a:rPr>
              <a:t>0.881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17720" y="3474720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27448" y="3525012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Throughput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858000" y="3474720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967728" y="3525012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latin typeface="Aptos" pitchFamily="34" charset="0"/>
                <a:ea typeface="Aptos" pitchFamily="34" charset="-122"/>
                <a:cs typeface="Aptos" pitchFamily="34" charset="-120"/>
              </a:rPr>
              <a:t>595.227</a:t>
            </a: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Mbps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17720" y="3858768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27448" y="3909060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58000" y="3858768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967728" y="390906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0.0407 ms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617720" y="4242816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727448" y="4293108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858000" y="4242816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967728" y="4293108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</a:t>
            </a: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34.478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617720" y="4626864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727448" y="4677156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858000" y="4626864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967728" y="4677156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9.701 W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617720" y="5010912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727448" y="506120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Feasible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858000" y="5010912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967728" y="5061204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</a:t>
            </a:r>
            <a:endParaRPr lang="en-US" sz="1100" dirty="0"/>
          </a:p>
        </p:txBody>
      </p:sp>
      <p:sp>
        <p:nvSpPr>
          <p:cNvPr id="62" name="Shape 49">
            <a:extLst>
              <a:ext uri="{FF2B5EF4-FFF2-40B4-BE49-F238E27FC236}">
                <a16:creationId xmlns:a16="http://schemas.microsoft.com/office/drawing/2014/main" id="{C889E59B-37A1-35B1-5DFA-D3231B287E16}"/>
              </a:ext>
            </a:extLst>
          </p:cNvPr>
          <p:cNvSpPr/>
          <p:nvPr/>
        </p:nvSpPr>
        <p:spPr>
          <a:xfrm>
            <a:off x="531707" y="5632704"/>
            <a:ext cx="26700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50">
            <a:extLst>
              <a:ext uri="{FF2B5EF4-FFF2-40B4-BE49-F238E27FC236}">
                <a16:creationId xmlns:a16="http://schemas.microsoft.com/office/drawing/2014/main" id="{F969C361-F8CA-E1B2-79E1-A4EA71D3923F}"/>
              </a:ext>
            </a:extLst>
          </p:cNvPr>
          <p:cNvSpPr/>
          <p:nvPr/>
        </p:nvSpPr>
        <p:spPr>
          <a:xfrm>
            <a:off x="696299" y="5742432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Throughput min</a:t>
            </a:r>
            <a:endParaRPr lang="en-US" sz="850" dirty="0"/>
          </a:p>
        </p:txBody>
      </p:sp>
      <p:sp>
        <p:nvSpPr>
          <p:cNvPr id="64" name="Text 51">
            <a:extLst>
              <a:ext uri="{FF2B5EF4-FFF2-40B4-BE49-F238E27FC236}">
                <a16:creationId xmlns:a16="http://schemas.microsoft.com/office/drawing/2014/main" id="{46BF7055-0487-F1F2-EF40-4A8139173D23}"/>
              </a:ext>
            </a:extLst>
          </p:cNvPr>
          <p:cNvSpPr/>
          <p:nvPr/>
        </p:nvSpPr>
        <p:spPr>
          <a:xfrm>
            <a:off x="696299" y="596188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DB"/>
                </a:solidFill>
              </a:rPr>
              <a:t>60.0 Mbps</a:t>
            </a:r>
            <a:endParaRPr lang="en-US" sz="1700" dirty="0"/>
          </a:p>
        </p:txBody>
      </p:sp>
      <p:sp>
        <p:nvSpPr>
          <p:cNvPr id="65" name="Shape 52">
            <a:extLst>
              <a:ext uri="{FF2B5EF4-FFF2-40B4-BE49-F238E27FC236}">
                <a16:creationId xmlns:a16="http://schemas.microsoft.com/office/drawing/2014/main" id="{9F44B344-568D-CE21-BAED-EA5FF8F56024}"/>
              </a:ext>
            </a:extLst>
          </p:cNvPr>
          <p:cNvSpPr/>
          <p:nvPr/>
        </p:nvSpPr>
        <p:spPr>
          <a:xfrm>
            <a:off x="3366347" y="5632704"/>
            <a:ext cx="26700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53">
            <a:extLst>
              <a:ext uri="{FF2B5EF4-FFF2-40B4-BE49-F238E27FC236}">
                <a16:creationId xmlns:a16="http://schemas.microsoft.com/office/drawing/2014/main" id="{038B33B6-D97D-E9B2-4244-3E1A67D4FDB6}"/>
              </a:ext>
            </a:extLst>
          </p:cNvPr>
          <p:cNvSpPr/>
          <p:nvPr/>
        </p:nvSpPr>
        <p:spPr>
          <a:xfrm>
            <a:off x="3530939" y="5742432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Latency max</a:t>
            </a:r>
            <a:endParaRPr lang="en-US" sz="850" dirty="0"/>
          </a:p>
        </p:txBody>
      </p:sp>
      <p:sp>
        <p:nvSpPr>
          <p:cNvPr id="67" name="Text 54">
            <a:extLst>
              <a:ext uri="{FF2B5EF4-FFF2-40B4-BE49-F238E27FC236}">
                <a16:creationId xmlns:a16="http://schemas.microsoft.com/office/drawing/2014/main" id="{1A31A2AC-3EA7-EDD3-35C6-7B7956D4403E}"/>
              </a:ext>
            </a:extLst>
          </p:cNvPr>
          <p:cNvSpPr/>
          <p:nvPr/>
        </p:nvSpPr>
        <p:spPr>
          <a:xfrm>
            <a:off x="3530939" y="596188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DB"/>
                </a:solidFill>
              </a:rPr>
              <a:t>10.0 ms</a:t>
            </a:r>
            <a:endParaRPr lang="en-US" sz="1700" dirty="0"/>
          </a:p>
        </p:txBody>
      </p:sp>
      <p:sp>
        <p:nvSpPr>
          <p:cNvPr id="68" name="Shape 55">
            <a:extLst>
              <a:ext uri="{FF2B5EF4-FFF2-40B4-BE49-F238E27FC236}">
                <a16:creationId xmlns:a16="http://schemas.microsoft.com/office/drawing/2014/main" id="{BC39B4F9-D550-C9CD-4435-9267C3854241}"/>
              </a:ext>
            </a:extLst>
          </p:cNvPr>
          <p:cNvSpPr/>
          <p:nvPr/>
        </p:nvSpPr>
        <p:spPr>
          <a:xfrm>
            <a:off x="6200987" y="5632704"/>
            <a:ext cx="26700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56">
            <a:extLst>
              <a:ext uri="{FF2B5EF4-FFF2-40B4-BE49-F238E27FC236}">
                <a16:creationId xmlns:a16="http://schemas.microsoft.com/office/drawing/2014/main" id="{3159F228-483C-DFF5-6D47-F88A687EBDF1}"/>
              </a:ext>
            </a:extLst>
          </p:cNvPr>
          <p:cNvSpPr/>
          <p:nvPr/>
        </p:nvSpPr>
        <p:spPr>
          <a:xfrm>
            <a:off x="6365579" y="5742432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Cost max</a:t>
            </a:r>
            <a:endParaRPr lang="en-US" sz="850" dirty="0"/>
          </a:p>
        </p:txBody>
      </p:sp>
      <p:sp>
        <p:nvSpPr>
          <p:cNvPr id="70" name="Text 57">
            <a:extLst>
              <a:ext uri="{FF2B5EF4-FFF2-40B4-BE49-F238E27FC236}">
                <a16:creationId xmlns:a16="http://schemas.microsoft.com/office/drawing/2014/main" id="{2CFA8069-9DFF-F510-FCB6-346544BFF2EC}"/>
              </a:ext>
            </a:extLst>
          </p:cNvPr>
          <p:cNvSpPr/>
          <p:nvPr/>
        </p:nvSpPr>
        <p:spPr>
          <a:xfrm>
            <a:off x="6365579" y="596188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DB"/>
                </a:solidFill>
              </a:rPr>
              <a:t>€200.0</a:t>
            </a:r>
            <a:endParaRPr lang="en-US" sz="1700" dirty="0"/>
          </a:p>
        </p:txBody>
      </p:sp>
      <p:sp>
        <p:nvSpPr>
          <p:cNvPr id="71" name="Shape 58">
            <a:extLst>
              <a:ext uri="{FF2B5EF4-FFF2-40B4-BE49-F238E27FC236}">
                <a16:creationId xmlns:a16="http://schemas.microsoft.com/office/drawing/2014/main" id="{1E2FD2A5-A5AA-F124-1846-7ECD06195A03}"/>
              </a:ext>
            </a:extLst>
          </p:cNvPr>
          <p:cNvSpPr/>
          <p:nvPr/>
        </p:nvSpPr>
        <p:spPr>
          <a:xfrm>
            <a:off x="9035627" y="5632704"/>
            <a:ext cx="26700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59">
            <a:extLst>
              <a:ext uri="{FF2B5EF4-FFF2-40B4-BE49-F238E27FC236}">
                <a16:creationId xmlns:a16="http://schemas.microsoft.com/office/drawing/2014/main" id="{55A1178B-2808-4BE0-7E35-7577875F58C2}"/>
              </a:ext>
            </a:extLst>
          </p:cNvPr>
          <p:cNvSpPr/>
          <p:nvPr/>
        </p:nvSpPr>
        <p:spPr>
          <a:xfrm>
            <a:off x="9200219" y="5742432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Energy max</a:t>
            </a:r>
            <a:endParaRPr lang="en-US" sz="850" dirty="0"/>
          </a:p>
        </p:txBody>
      </p:sp>
      <p:sp>
        <p:nvSpPr>
          <p:cNvPr id="73" name="Text 60">
            <a:extLst>
              <a:ext uri="{FF2B5EF4-FFF2-40B4-BE49-F238E27FC236}">
                <a16:creationId xmlns:a16="http://schemas.microsoft.com/office/drawing/2014/main" id="{E22C10AF-BC76-BACD-2688-4CBC90DD050E}"/>
              </a:ext>
            </a:extLst>
          </p:cNvPr>
          <p:cNvSpPr/>
          <p:nvPr/>
        </p:nvSpPr>
        <p:spPr>
          <a:xfrm>
            <a:off x="9200219" y="596188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DB"/>
                </a:solidFill>
              </a:rPr>
              <a:t>100.0 W</a:t>
            </a:r>
            <a:endParaRPr lang="en-US" sz="1700" dirty="0"/>
          </a:p>
        </p:txBody>
      </p:sp>
      <p:pic>
        <p:nvPicPr>
          <p:cNvPr id="74" name="Picture 2">
            <a:extLst>
              <a:ext uri="{FF2B5EF4-FFF2-40B4-BE49-F238E27FC236}">
                <a16:creationId xmlns:a16="http://schemas.microsoft.com/office/drawing/2014/main" id="{5CC2DBDA-6A30-D713-0BFA-A561FE30F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48" y="0"/>
            <a:ext cx="2446591" cy="710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FDB"/>
          </a:solidFill>
          <a:ln w="12700">
            <a:solidFill>
              <a:srgbClr val="2F6F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632807" y="6035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6F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TOPSIS Algorithm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8572" y="859536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EAF2FF"/>
          </a:solidFill>
          <a:ln w="12700">
            <a:solidFill>
              <a:srgbClr val="2F6FD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8572" y="978408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F6F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Media-Flex • eMBB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406908" y="128016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Media-Flex: all ranked offers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6908" y="2505456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Criterion type: max, min, min, min • Weights: 0.5, 0.2, 0.2, 0.1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406908" y="2816352"/>
            <a:ext cx="566928" cy="384048"/>
          </a:xfrm>
          <a:prstGeom prst="rect">
            <a:avLst/>
          </a:prstGeom>
          <a:solidFill>
            <a:srgbClr val="2F6FD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2" name="Text 10"/>
          <p:cNvSpPr/>
          <p:nvPr/>
        </p:nvSpPr>
        <p:spPr>
          <a:xfrm>
            <a:off x="457200" y="2889504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73836" y="2816352"/>
            <a:ext cx="749808" cy="384048"/>
          </a:xfrm>
          <a:prstGeom prst="rect">
            <a:avLst/>
          </a:prstGeom>
          <a:solidFill>
            <a:srgbClr val="2F6FD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1024128" y="2889504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723644" y="2816352"/>
            <a:ext cx="1115568" cy="384048"/>
          </a:xfrm>
          <a:prstGeom prst="rect">
            <a:avLst/>
          </a:prstGeom>
          <a:solidFill>
            <a:srgbClr val="2F6FD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1773936" y="2889504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839212" y="2816352"/>
            <a:ext cx="1225296" cy="384048"/>
          </a:xfrm>
          <a:prstGeom prst="rect">
            <a:avLst/>
          </a:prstGeom>
          <a:solidFill>
            <a:srgbClr val="2F6FD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2889504" y="2889504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Throughput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064508" y="2816352"/>
            <a:ext cx="987552" cy="384048"/>
          </a:xfrm>
          <a:prstGeom prst="rect">
            <a:avLst/>
          </a:prstGeom>
          <a:solidFill>
            <a:srgbClr val="2F6FD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0" name="Text 18"/>
          <p:cNvSpPr/>
          <p:nvPr/>
        </p:nvSpPr>
        <p:spPr>
          <a:xfrm>
            <a:off x="4114800" y="2889504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52060" y="2816352"/>
            <a:ext cx="932688" cy="384048"/>
          </a:xfrm>
          <a:prstGeom prst="rect">
            <a:avLst/>
          </a:prstGeom>
          <a:solidFill>
            <a:srgbClr val="2F6FD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5102352" y="2889504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84748" y="2816352"/>
            <a:ext cx="932688" cy="384048"/>
          </a:xfrm>
          <a:prstGeom prst="rect">
            <a:avLst/>
          </a:prstGeom>
          <a:solidFill>
            <a:srgbClr val="2F6FD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6035040" y="2889504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917436" y="2816352"/>
            <a:ext cx="749808" cy="384048"/>
          </a:xfrm>
          <a:prstGeom prst="rect">
            <a:avLst/>
          </a:prstGeom>
          <a:solidFill>
            <a:srgbClr val="2F6FD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6" name="Text 24"/>
          <p:cNvSpPr/>
          <p:nvPr/>
        </p:nvSpPr>
        <p:spPr>
          <a:xfrm>
            <a:off x="6967728" y="2889504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Feasible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06908" y="3200400"/>
            <a:ext cx="566928" cy="384048"/>
          </a:xfrm>
          <a:prstGeom prst="rect">
            <a:avLst/>
          </a:prstGeom>
          <a:solidFill>
            <a:srgbClr val="EAF2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8" name="Text 26"/>
          <p:cNvSpPr/>
          <p:nvPr/>
        </p:nvSpPr>
        <p:spPr>
          <a:xfrm>
            <a:off x="457200" y="3273552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6F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73836" y="3200400"/>
            <a:ext cx="749808" cy="384048"/>
          </a:xfrm>
          <a:prstGeom prst="rect">
            <a:avLst/>
          </a:prstGeom>
          <a:solidFill>
            <a:srgbClr val="EAF2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24128" y="3273552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6FDB"/>
                </a:solidFill>
                <a:latin typeface="Aptos" pitchFamily="34" charset="0"/>
              </a:rPr>
              <a:t>3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723644" y="3200400"/>
            <a:ext cx="1115568" cy="384048"/>
          </a:xfrm>
          <a:prstGeom prst="rect">
            <a:avLst/>
          </a:prstGeom>
          <a:solidFill>
            <a:srgbClr val="EAF2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2" name="Text 30"/>
          <p:cNvSpPr/>
          <p:nvPr/>
        </p:nvSpPr>
        <p:spPr>
          <a:xfrm>
            <a:off x="1773936" y="3273552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2F6F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0.881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839212" y="3200400"/>
            <a:ext cx="1225296" cy="384048"/>
          </a:xfrm>
          <a:prstGeom prst="rect">
            <a:avLst/>
          </a:prstGeom>
          <a:solidFill>
            <a:srgbClr val="EAF2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889504" y="3273552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6F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595.227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064508" y="3200400"/>
            <a:ext cx="987552" cy="384048"/>
          </a:xfrm>
          <a:prstGeom prst="rect">
            <a:avLst/>
          </a:prstGeom>
          <a:solidFill>
            <a:srgbClr val="EAF2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6" name="Text 34"/>
          <p:cNvSpPr/>
          <p:nvPr/>
        </p:nvSpPr>
        <p:spPr>
          <a:xfrm>
            <a:off x="4114800" y="3273552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0.0407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052060" y="3200400"/>
            <a:ext cx="932688" cy="384048"/>
          </a:xfrm>
          <a:prstGeom prst="rect">
            <a:avLst/>
          </a:prstGeom>
          <a:solidFill>
            <a:srgbClr val="EAF2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8" name="Text 36"/>
          <p:cNvSpPr/>
          <p:nvPr/>
        </p:nvSpPr>
        <p:spPr>
          <a:xfrm>
            <a:off x="5102352" y="3273552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34.478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984748" y="3200400"/>
            <a:ext cx="932688" cy="384048"/>
          </a:xfrm>
          <a:prstGeom prst="rect">
            <a:avLst/>
          </a:prstGeom>
          <a:solidFill>
            <a:srgbClr val="EAF2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0" name="Text 38"/>
          <p:cNvSpPr/>
          <p:nvPr/>
        </p:nvSpPr>
        <p:spPr>
          <a:xfrm>
            <a:off x="6035040" y="3273552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9.701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917436" y="3200400"/>
            <a:ext cx="749808" cy="384048"/>
          </a:xfrm>
          <a:prstGeom prst="rect">
            <a:avLst/>
          </a:prstGeom>
          <a:solidFill>
            <a:srgbClr val="EAF2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2" name="Text 40"/>
          <p:cNvSpPr/>
          <p:nvPr/>
        </p:nvSpPr>
        <p:spPr>
          <a:xfrm>
            <a:off x="6967728" y="3273552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06908" y="3584448"/>
            <a:ext cx="56692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4" name="Text 42"/>
          <p:cNvSpPr/>
          <p:nvPr/>
        </p:nvSpPr>
        <p:spPr>
          <a:xfrm>
            <a:off x="457200" y="3657600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973836" y="3584448"/>
            <a:ext cx="74980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024128" y="3657600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723644" y="3584448"/>
            <a:ext cx="111556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773936" y="3657600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0.763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839212" y="3584448"/>
            <a:ext cx="1225296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0" name="Text 48"/>
          <p:cNvSpPr/>
          <p:nvPr/>
        </p:nvSpPr>
        <p:spPr>
          <a:xfrm>
            <a:off x="2889504" y="3657600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543.789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064508" y="3584448"/>
            <a:ext cx="987552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2" name="Text 50"/>
          <p:cNvSpPr/>
          <p:nvPr/>
        </p:nvSpPr>
        <p:spPr>
          <a:xfrm>
            <a:off x="4114800" y="3657600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0.0445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052060" y="3584448"/>
            <a:ext cx="93268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4" name="Text 52"/>
          <p:cNvSpPr/>
          <p:nvPr/>
        </p:nvSpPr>
        <p:spPr>
          <a:xfrm>
            <a:off x="5102352" y="3657600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68.579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984748" y="3584448"/>
            <a:ext cx="93268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035040" y="3657600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0.586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917436" y="3584448"/>
            <a:ext cx="74980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8" name="Text 56"/>
          <p:cNvSpPr/>
          <p:nvPr/>
        </p:nvSpPr>
        <p:spPr>
          <a:xfrm>
            <a:off x="6967728" y="3657600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06908" y="3968496"/>
            <a:ext cx="56692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60" name="Text 58"/>
          <p:cNvSpPr/>
          <p:nvPr/>
        </p:nvSpPr>
        <p:spPr>
          <a:xfrm>
            <a:off x="457200" y="4041648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973836" y="3968496"/>
            <a:ext cx="74980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1024128" y="4041648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1723644" y="3968496"/>
            <a:ext cx="111556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1773936" y="4041648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0.454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2839212" y="3968496"/>
            <a:ext cx="1225296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66" name="Text 64"/>
          <p:cNvSpPr/>
          <p:nvPr/>
        </p:nvSpPr>
        <p:spPr>
          <a:xfrm>
            <a:off x="2889504" y="4041648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420.882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4064508" y="3968496"/>
            <a:ext cx="987552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68" name="Text 66"/>
          <p:cNvSpPr/>
          <p:nvPr/>
        </p:nvSpPr>
        <p:spPr>
          <a:xfrm>
            <a:off x="4114800" y="4041648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0.057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5052060" y="3968496"/>
            <a:ext cx="93268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70" name="Text 68"/>
          <p:cNvSpPr/>
          <p:nvPr/>
        </p:nvSpPr>
        <p:spPr>
          <a:xfrm>
            <a:off x="5102352" y="4041648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72.887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5984748" y="3968496"/>
            <a:ext cx="93268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6035040" y="4041648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27.078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6917436" y="3968496"/>
            <a:ext cx="74980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74" name="Text 72"/>
          <p:cNvSpPr/>
          <p:nvPr/>
        </p:nvSpPr>
        <p:spPr>
          <a:xfrm>
            <a:off x="6967728" y="4041648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406908" y="4352544"/>
            <a:ext cx="56692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76" name="Text 74"/>
          <p:cNvSpPr/>
          <p:nvPr/>
        </p:nvSpPr>
        <p:spPr>
          <a:xfrm>
            <a:off x="457200" y="4425696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973836" y="4352544"/>
            <a:ext cx="74980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1024128" y="4425696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</a:rPr>
              <a:t>2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1723644" y="4352544"/>
            <a:ext cx="111556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1773936" y="4425696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0.323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2839212" y="4352544"/>
            <a:ext cx="1225296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82" name="Text 80"/>
          <p:cNvSpPr/>
          <p:nvPr/>
        </p:nvSpPr>
        <p:spPr>
          <a:xfrm>
            <a:off x="2889504" y="4425696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230.971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4064508" y="4352544"/>
            <a:ext cx="987552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84" name="Text 82"/>
          <p:cNvSpPr/>
          <p:nvPr/>
        </p:nvSpPr>
        <p:spPr>
          <a:xfrm>
            <a:off x="4114800" y="4425696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0.106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5052060" y="4352544"/>
            <a:ext cx="93268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86" name="Text 84"/>
          <p:cNvSpPr/>
          <p:nvPr/>
        </p:nvSpPr>
        <p:spPr>
          <a:xfrm>
            <a:off x="5102352" y="4425696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44.824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5984748" y="4352544"/>
            <a:ext cx="93268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88" name="Text 86"/>
          <p:cNvSpPr/>
          <p:nvPr/>
        </p:nvSpPr>
        <p:spPr>
          <a:xfrm>
            <a:off x="6035040" y="4425696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0.586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6917436" y="4352544"/>
            <a:ext cx="74980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90" name="Text 88"/>
          <p:cNvSpPr/>
          <p:nvPr/>
        </p:nvSpPr>
        <p:spPr>
          <a:xfrm>
            <a:off x="6967728" y="4425696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155" name="Shape 153"/>
          <p:cNvSpPr/>
          <p:nvPr/>
        </p:nvSpPr>
        <p:spPr>
          <a:xfrm>
            <a:off x="8115300" y="2816352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Text 154"/>
          <p:cNvSpPr/>
          <p:nvPr/>
        </p:nvSpPr>
        <p:spPr>
          <a:xfrm>
            <a:off x="8325612" y="30723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2F6F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score</a:t>
            </a:r>
            <a:endParaRPr lang="en-US" sz="1060" dirty="0"/>
          </a:p>
        </p:txBody>
      </p:sp>
      <p:sp>
        <p:nvSpPr>
          <p:cNvPr id="157" name="Text 155"/>
          <p:cNvSpPr/>
          <p:nvPr/>
        </p:nvSpPr>
        <p:spPr>
          <a:xfrm>
            <a:off x="8325612" y="34107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3  •  0.881</a:t>
            </a:r>
            <a:endParaRPr lang="en-US" sz="1650" dirty="0"/>
          </a:p>
        </p:txBody>
      </p:sp>
      <p:sp>
        <p:nvSpPr>
          <p:cNvPr id="160" name="Shape 5">
            <a:extLst>
              <a:ext uri="{FF2B5EF4-FFF2-40B4-BE49-F238E27FC236}">
                <a16:creationId xmlns:a16="http://schemas.microsoft.com/office/drawing/2014/main" id="{2B795FB3-B281-745C-69B6-F6C581CBB84F}"/>
              </a:ext>
            </a:extLst>
          </p:cNvPr>
          <p:cNvSpPr/>
          <p:nvPr/>
        </p:nvSpPr>
        <p:spPr>
          <a:xfrm>
            <a:off x="347472" y="1755648"/>
            <a:ext cx="11173968" cy="457200"/>
          </a:xfrm>
          <a:prstGeom prst="roundRect">
            <a:avLst>
              <a:gd name="adj" fmla="val 16000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Text 6">
            <a:extLst>
              <a:ext uri="{FF2B5EF4-FFF2-40B4-BE49-F238E27FC236}">
                <a16:creationId xmlns:a16="http://schemas.microsoft.com/office/drawing/2014/main" id="{9212625A-505E-8C68-B4FD-C7FC5544E105}"/>
              </a:ext>
            </a:extLst>
          </p:cNvPr>
          <p:cNvSpPr/>
          <p:nvPr/>
        </p:nvSpPr>
        <p:spPr>
          <a:xfrm>
            <a:off x="530352" y="1847088"/>
            <a:ext cx="10835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80" b="1" dirty="0">
                <a:solidFill>
                  <a:srgbClr val="2F6FDB"/>
                </a:solidFill>
              </a:rPr>
              <a:t>User Intent: User wants a media-oriented eMBB slice with high throughput (≥ 60) while respecting latency (≤ 10), cost (≤ 200), and energy (≤ 100) limits.</a:t>
            </a:r>
            <a:endParaRPr lang="en-US" sz="1180" dirty="0"/>
          </a:p>
        </p:txBody>
      </p:sp>
      <p:pic>
        <p:nvPicPr>
          <p:cNvPr id="162" name="Picture 2">
            <a:extLst>
              <a:ext uri="{FF2B5EF4-FFF2-40B4-BE49-F238E27FC236}">
                <a16:creationId xmlns:a16="http://schemas.microsoft.com/office/drawing/2014/main" id="{ADAFBE51-1DDC-7BD7-8F5A-BF2D382B2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7856"/>
            <a:ext cx="2446591" cy="710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6" name="Shape 2">
            <a:extLst>
              <a:ext uri="{FF2B5EF4-FFF2-40B4-BE49-F238E27FC236}">
                <a16:creationId xmlns:a16="http://schemas.microsoft.com/office/drawing/2014/main" id="{48FCA56F-87D7-6F39-2C65-0158ECA1887E}"/>
              </a:ext>
            </a:extLst>
          </p:cNvPr>
          <p:cNvSpPr/>
          <p:nvPr/>
        </p:nvSpPr>
        <p:spPr>
          <a:xfrm>
            <a:off x="3451860" y="1362456"/>
            <a:ext cx="715095" cy="237744"/>
          </a:xfrm>
          <a:prstGeom prst="roundRect">
            <a:avLst>
              <a:gd name="adj" fmla="val 14286"/>
            </a:avLst>
          </a:prstGeom>
          <a:solidFill>
            <a:srgbClr val="EAF2FF"/>
          </a:solidFill>
          <a:ln w="12700">
            <a:solidFill>
              <a:srgbClr val="2F6FDB">
                <a:alpha val="70000"/>
              </a:srgbClr>
            </a:solidFill>
            <a:prstDash val="solid"/>
          </a:ln>
        </p:spPr>
        <p:txBody>
          <a:bodyPr/>
          <a:lstStyle/>
          <a:p>
            <a:r>
              <a:rPr lang="en-US" sz="1020" dirty="0">
                <a:solidFill>
                  <a:srgbClr val="062DEC"/>
                </a:solidFill>
                <a:latin typeface="Aptos" panose="020B0004020202020204" pitchFamily="34" charset="0"/>
              </a:rPr>
              <a:t> MCS:28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25" y="-5618"/>
            <a:ext cx="12204344" cy="126761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965497" y="5201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</a:rPr>
              <a:t>TOPSIS Algorithm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625" y="9702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</a:rPr>
              <a:t>Factory-Ops — best ranked offer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8869985" y="677672"/>
            <a:ext cx="2514600" cy="402336"/>
          </a:xfrm>
          <a:prstGeom prst="roundRect">
            <a:avLst>
              <a:gd name="adj" fmla="val 18182"/>
            </a:avLst>
          </a:prstGeom>
          <a:solidFill>
            <a:srgbClr val="FFF0EE"/>
          </a:solidFill>
          <a:ln w="12700">
            <a:solidFill>
              <a:srgbClr val="C0392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61425" y="78740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0392B"/>
                </a:solidFill>
              </a:rPr>
              <a:t>slice = URLLC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624" y="1500632"/>
            <a:ext cx="11553613" cy="457200"/>
          </a:xfrm>
          <a:prstGeom prst="roundRect">
            <a:avLst>
              <a:gd name="adj" fmla="val 16000"/>
            </a:avLst>
          </a:prstGeom>
          <a:solidFill>
            <a:srgbClr val="FFF0EE"/>
          </a:solidFill>
          <a:ln w="12700">
            <a:solidFill>
              <a:srgbClr val="FFF0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505" y="1628648"/>
            <a:ext cx="10835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180" b="1" dirty="0">
                <a:solidFill>
                  <a:srgbClr val="C0392B"/>
                </a:solidFill>
              </a:rPr>
              <a:t>User Intent: User wants a URLLC slice for factory operations with throughput (≥ 5), latency (≤ 2), cost (≤ 200), and energy (≤ 100) limits.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457505" y="22595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Best TOPSIS score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505" y="24973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0.9568</a:t>
            </a:r>
            <a:endParaRPr lang="en-US" sz="3100" dirty="0">
              <a:solidFill>
                <a:srgbClr val="C0000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505" y="31099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Rank 1 • Offer 3 • Feasible: true</a:t>
            </a:r>
            <a:endParaRPr lang="en-US" sz="1300" dirty="0"/>
          </a:p>
        </p:txBody>
      </p:sp>
      <p:sp>
        <p:nvSpPr>
          <p:cNvPr id="57" name="Shape 49">
            <a:extLst>
              <a:ext uri="{FF2B5EF4-FFF2-40B4-BE49-F238E27FC236}">
                <a16:creationId xmlns:a16="http://schemas.microsoft.com/office/drawing/2014/main" id="{76D72182-A65A-B319-E573-43EEC42A7B3A}"/>
              </a:ext>
            </a:extLst>
          </p:cNvPr>
          <p:cNvSpPr/>
          <p:nvPr/>
        </p:nvSpPr>
        <p:spPr>
          <a:xfrm>
            <a:off x="274625" y="5962904"/>
            <a:ext cx="26700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0">
            <a:extLst>
              <a:ext uri="{FF2B5EF4-FFF2-40B4-BE49-F238E27FC236}">
                <a16:creationId xmlns:a16="http://schemas.microsoft.com/office/drawing/2014/main" id="{C12DEB41-AD27-803D-0DC6-F93E75B2C710}"/>
              </a:ext>
            </a:extLst>
          </p:cNvPr>
          <p:cNvSpPr/>
          <p:nvPr/>
        </p:nvSpPr>
        <p:spPr>
          <a:xfrm>
            <a:off x="439217" y="6072632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Throughput min</a:t>
            </a:r>
            <a:endParaRPr lang="en-US" sz="850" dirty="0"/>
          </a:p>
        </p:txBody>
      </p:sp>
      <p:sp>
        <p:nvSpPr>
          <p:cNvPr id="59" name="Text 51">
            <a:extLst>
              <a:ext uri="{FF2B5EF4-FFF2-40B4-BE49-F238E27FC236}">
                <a16:creationId xmlns:a16="http://schemas.microsoft.com/office/drawing/2014/main" id="{B853FC1C-C3E6-D885-9D97-EA0B333FF50B}"/>
              </a:ext>
            </a:extLst>
          </p:cNvPr>
          <p:cNvSpPr/>
          <p:nvPr/>
        </p:nvSpPr>
        <p:spPr>
          <a:xfrm>
            <a:off x="439217" y="629208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</a:rPr>
              <a:t>5.0 Mbps</a:t>
            </a:r>
            <a:endParaRPr lang="en-US" sz="1700" dirty="0">
              <a:solidFill>
                <a:srgbClr val="C00000"/>
              </a:solidFill>
            </a:endParaRPr>
          </a:p>
        </p:txBody>
      </p:sp>
      <p:sp>
        <p:nvSpPr>
          <p:cNvPr id="60" name="Shape 52">
            <a:extLst>
              <a:ext uri="{FF2B5EF4-FFF2-40B4-BE49-F238E27FC236}">
                <a16:creationId xmlns:a16="http://schemas.microsoft.com/office/drawing/2014/main" id="{6456410F-5A14-EAC4-7E2C-7C85837B283C}"/>
              </a:ext>
            </a:extLst>
          </p:cNvPr>
          <p:cNvSpPr/>
          <p:nvPr/>
        </p:nvSpPr>
        <p:spPr>
          <a:xfrm>
            <a:off x="3109265" y="5962904"/>
            <a:ext cx="26700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3">
            <a:extLst>
              <a:ext uri="{FF2B5EF4-FFF2-40B4-BE49-F238E27FC236}">
                <a16:creationId xmlns:a16="http://schemas.microsoft.com/office/drawing/2014/main" id="{0DBDB3AD-5143-39C1-17B4-90CA3EBE9A24}"/>
              </a:ext>
            </a:extLst>
          </p:cNvPr>
          <p:cNvSpPr/>
          <p:nvPr/>
        </p:nvSpPr>
        <p:spPr>
          <a:xfrm>
            <a:off x="3273857" y="6072632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Latency max</a:t>
            </a:r>
            <a:endParaRPr lang="en-US" sz="850" dirty="0"/>
          </a:p>
        </p:txBody>
      </p:sp>
      <p:sp>
        <p:nvSpPr>
          <p:cNvPr id="62" name="Text 54">
            <a:extLst>
              <a:ext uri="{FF2B5EF4-FFF2-40B4-BE49-F238E27FC236}">
                <a16:creationId xmlns:a16="http://schemas.microsoft.com/office/drawing/2014/main" id="{EA37D563-A84A-FED6-4208-22C12147FC08}"/>
              </a:ext>
            </a:extLst>
          </p:cNvPr>
          <p:cNvSpPr/>
          <p:nvPr/>
        </p:nvSpPr>
        <p:spPr>
          <a:xfrm>
            <a:off x="3273857" y="629208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</a:rPr>
              <a:t>2.0 ms</a:t>
            </a:r>
            <a:endParaRPr lang="en-US" sz="1700" dirty="0">
              <a:solidFill>
                <a:srgbClr val="C00000"/>
              </a:solidFill>
            </a:endParaRPr>
          </a:p>
        </p:txBody>
      </p:sp>
      <p:sp>
        <p:nvSpPr>
          <p:cNvPr id="63" name="Shape 55">
            <a:extLst>
              <a:ext uri="{FF2B5EF4-FFF2-40B4-BE49-F238E27FC236}">
                <a16:creationId xmlns:a16="http://schemas.microsoft.com/office/drawing/2014/main" id="{BD665870-218A-16DC-F7E2-097B7C59BF82}"/>
              </a:ext>
            </a:extLst>
          </p:cNvPr>
          <p:cNvSpPr/>
          <p:nvPr/>
        </p:nvSpPr>
        <p:spPr>
          <a:xfrm>
            <a:off x="5943905" y="5962904"/>
            <a:ext cx="26700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56">
            <a:extLst>
              <a:ext uri="{FF2B5EF4-FFF2-40B4-BE49-F238E27FC236}">
                <a16:creationId xmlns:a16="http://schemas.microsoft.com/office/drawing/2014/main" id="{1A29103E-D8C0-34DC-7805-19AED5E5EE9A}"/>
              </a:ext>
            </a:extLst>
          </p:cNvPr>
          <p:cNvSpPr/>
          <p:nvPr/>
        </p:nvSpPr>
        <p:spPr>
          <a:xfrm>
            <a:off x="6108497" y="6072632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Cost max</a:t>
            </a:r>
            <a:endParaRPr lang="en-US" sz="850" dirty="0"/>
          </a:p>
        </p:txBody>
      </p:sp>
      <p:sp>
        <p:nvSpPr>
          <p:cNvPr id="65" name="Text 57">
            <a:extLst>
              <a:ext uri="{FF2B5EF4-FFF2-40B4-BE49-F238E27FC236}">
                <a16:creationId xmlns:a16="http://schemas.microsoft.com/office/drawing/2014/main" id="{8FC13720-399E-976C-F94E-E8F5292A6B36}"/>
              </a:ext>
            </a:extLst>
          </p:cNvPr>
          <p:cNvSpPr/>
          <p:nvPr/>
        </p:nvSpPr>
        <p:spPr>
          <a:xfrm>
            <a:off x="6108497" y="629208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</a:rPr>
              <a:t>€200.0</a:t>
            </a:r>
            <a:endParaRPr lang="en-US" sz="1700" dirty="0">
              <a:solidFill>
                <a:srgbClr val="C00000"/>
              </a:solidFill>
            </a:endParaRPr>
          </a:p>
        </p:txBody>
      </p:sp>
      <p:sp>
        <p:nvSpPr>
          <p:cNvPr id="66" name="Shape 58">
            <a:extLst>
              <a:ext uri="{FF2B5EF4-FFF2-40B4-BE49-F238E27FC236}">
                <a16:creationId xmlns:a16="http://schemas.microsoft.com/office/drawing/2014/main" id="{C82F3BE0-5BC0-B0FB-B6DF-01B326CEEA38}"/>
              </a:ext>
            </a:extLst>
          </p:cNvPr>
          <p:cNvSpPr/>
          <p:nvPr/>
        </p:nvSpPr>
        <p:spPr>
          <a:xfrm>
            <a:off x="8778545" y="5962904"/>
            <a:ext cx="26700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59">
            <a:extLst>
              <a:ext uri="{FF2B5EF4-FFF2-40B4-BE49-F238E27FC236}">
                <a16:creationId xmlns:a16="http://schemas.microsoft.com/office/drawing/2014/main" id="{42094965-D1AA-1ADE-FD95-2F429BAB7776}"/>
              </a:ext>
            </a:extLst>
          </p:cNvPr>
          <p:cNvSpPr/>
          <p:nvPr/>
        </p:nvSpPr>
        <p:spPr>
          <a:xfrm>
            <a:off x="8943137" y="6072632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Energy max</a:t>
            </a:r>
            <a:endParaRPr lang="en-US" sz="850" dirty="0"/>
          </a:p>
        </p:txBody>
      </p:sp>
      <p:sp>
        <p:nvSpPr>
          <p:cNvPr id="68" name="Text 60">
            <a:extLst>
              <a:ext uri="{FF2B5EF4-FFF2-40B4-BE49-F238E27FC236}">
                <a16:creationId xmlns:a16="http://schemas.microsoft.com/office/drawing/2014/main" id="{1D0E1542-7BE9-5FB1-4D65-3FB85703AFDA}"/>
              </a:ext>
            </a:extLst>
          </p:cNvPr>
          <p:cNvSpPr/>
          <p:nvPr/>
        </p:nvSpPr>
        <p:spPr>
          <a:xfrm>
            <a:off x="8943137" y="629208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</a:rPr>
              <a:t>100.0 W</a:t>
            </a:r>
            <a:endParaRPr lang="en-US" sz="1700" dirty="0">
              <a:solidFill>
                <a:srgbClr val="C00000"/>
              </a:solidFill>
            </a:endParaRPr>
          </a:p>
        </p:txBody>
      </p:sp>
      <p:sp>
        <p:nvSpPr>
          <p:cNvPr id="105" name="Shape 18">
            <a:extLst>
              <a:ext uri="{FF2B5EF4-FFF2-40B4-BE49-F238E27FC236}">
                <a16:creationId xmlns:a16="http://schemas.microsoft.com/office/drawing/2014/main" id="{4BDAE512-F834-F09D-2BD3-FB018A1D886A}"/>
              </a:ext>
            </a:extLst>
          </p:cNvPr>
          <p:cNvSpPr/>
          <p:nvPr/>
        </p:nvSpPr>
        <p:spPr>
          <a:xfrm>
            <a:off x="4389425" y="2268728"/>
            <a:ext cx="2240280" cy="384048"/>
          </a:xfrm>
          <a:prstGeom prst="rect">
            <a:avLst/>
          </a:prstGeom>
          <a:solidFill>
            <a:srgbClr val="C0392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9">
            <a:extLst>
              <a:ext uri="{FF2B5EF4-FFF2-40B4-BE49-F238E27FC236}">
                <a16:creationId xmlns:a16="http://schemas.microsoft.com/office/drawing/2014/main" id="{8E547DBD-91A6-F05A-4096-D09794402AA1}"/>
              </a:ext>
            </a:extLst>
          </p:cNvPr>
          <p:cNvSpPr/>
          <p:nvPr/>
        </p:nvSpPr>
        <p:spPr>
          <a:xfrm>
            <a:off x="4499153" y="2319020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</a:t>
            </a:r>
            <a:endParaRPr lang="en-US" sz="1150" dirty="0"/>
          </a:p>
        </p:txBody>
      </p:sp>
      <p:sp>
        <p:nvSpPr>
          <p:cNvPr id="107" name="Shape 20">
            <a:extLst>
              <a:ext uri="{FF2B5EF4-FFF2-40B4-BE49-F238E27FC236}">
                <a16:creationId xmlns:a16="http://schemas.microsoft.com/office/drawing/2014/main" id="{4EBEE671-3E75-3A80-D4B1-BA1FF9FC8A3D}"/>
              </a:ext>
            </a:extLst>
          </p:cNvPr>
          <p:cNvSpPr/>
          <p:nvPr/>
        </p:nvSpPr>
        <p:spPr>
          <a:xfrm>
            <a:off x="6629705" y="2268728"/>
            <a:ext cx="3794760" cy="384048"/>
          </a:xfrm>
          <a:prstGeom prst="rect">
            <a:avLst/>
          </a:prstGeom>
          <a:solidFill>
            <a:srgbClr val="C0392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21">
            <a:extLst>
              <a:ext uri="{FF2B5EF4-FFF2-40B4-BE49-F238E27FC236}">
                <a16:creationId xmlns:a16="http://schemas.microsoft.com/office/drawing/2014/main" id="{E1002072-65CE-A25B-EF41-3F66CA23501A}"/>
              </a:ext>
            </a:extLst>
          </p:cNvPr>
          <p:cNvSpPr/>
          <p:nvPr/>
        </p:nvSpPr>
        <p:spPr>
          <a:xfrm>
            <a:off x="6739433" y="231902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1150" dirty="0"/>
          </a:p>
        </p:txBody>
      </p:sp>
      <p:sp>
        <p:nvSpPr>
          <p:cNvPr id="109" name="Shape 22">
            <a:extLst>
              <a:ext uri="{FF2B5EF4-FFF2-40B4-BE49-F238E27FC236}">
                <a16:creationId xmlns:a16="http://schemas.microsoft.com/office/drawing/2014/main" id="{EE14E26D-2C62-B834-8721-DBBED51EC5A1}"/>
              </a:ext>
            </a:extLst>
          </p:cNvPr>
          <p:cNvSpPr/>
          <p:nvPr/>
        </p:nvSpPr>
        <p:spPr>
          <a:xfrm>
            <a:off x="4389425" y="2652776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23">
            <a:extLst>
              <a:ext uri="{FF2B5EF4-FFF2-40B4-BE49-F238E27FC236}">
                <a16:creationId xmlns:a16="http://schemas.microsoft.com/office/drawing/2014/main" id="{D6576451-2984-7E7B-0D4A-D86ECDA259E3}"/>
              </a:ext>
            </a:extLst>
          </p:cNvPr>
          <p:cNvSpPr/>
          <p:nvPr/>
        </p:nvSpPr>
        <p:spPr>
          <a:xfrm>
            <a:off x="4499153" y="2703068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1100" dirty="0"/>
          </a:p>
        </p:txBody>
      </p:sp>
      <p:sp>
        <p:nvSpPr>
          <p:cNvPr id="111" name="Shape 24">
            <a:extLst>
              <a:ext uri="{FF2B5EF4-FFF2-40B4-BE49-F238E27FC236}">
                <a16:creationId xmlns:a16="http://schemas.microsoft.com/office/drawing/2014/main" id="{89EF3396-ADB2-8B76-415E-E6EE356D9B14}"/>
              </a:ext>
            </a:extLst>
          </p:cNvPr>
          <p:cNvSpPr/>
          <p:nvPr/>
        </p:nvSpPr>
        <p:spPr>
          <a:xfrm>
            <a:off x="6629705" y="2652776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Text 25">
            <a:extLst>
              <a:ext uri="{FF2B5EF4-FFF2-40B4-BE49-F238E27FC236}">
                <a16:creationId xmlns:a16="http://schemas.microsoft.com/office/drawing/2014/main" id="{F882ADAC-F42D-C1DD-0300-5CB00FEB2093}"/>
              </a:ext>
            </a:extLst>
          </p:cNvPr>
          <p:cNvSpPr/>
          <p:nvPr/>
        </p:nvSpPr>
        <p:spPr>
          <a:xfrm>
            <a:off x="6739433" y="2703068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13" name="Shape 26">
            <a:extLst>
              <a:ext uri="{FF2B5EF4-FFF2-40B4-BE49-F238E27FC236}">
                <a16:creationId xmlns:a16="http://schemas.microsoft.com/office/drawing/2014/main" id="{D836E5B4-4CAC-E8F5-0C2F-C6D609679EC6}"/>
              </a:ext>
            </a:extLst>
          </p:cNvPr>
          <p:cNvSpPr/>
          <p:nvPr/>
        </p:nvSpPr>
        <p:spPr>
          <a:xfrm>
            <a:off x="4389425" y="3036824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27">
            <a:extLst>
              <a:ext uri="{FF2B5EF4-FFF2-40B4-BE49-F238E27FC236}">
                <a16:creationId xmlns:a16="http://schemas.microsoft.com/office/drawing/2014/main" id="{C9D6671D-1264-0393-720C-3DA1CCC75E4A}"/>
              </a:ext>
            </a:extLst>
          </p:cNvPr>
          <p:cNvSpPr/>
          <p:nvPr/>
        </p:nvSpPr>
        <p:spPr>
          <a:xfrm>
            <a:off x="4499153" y="3087116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ID</a:t>
            </a:r>
            <a:endParaRPr lang="en-US" sz="1100" dirty="0"/>
          </a:p>
        </p:txBody>
      </p:sp>
      <p:sp>
        <p:nvSpPr>
          <p:cNvPr id="115" name="Shape 28">
            <a:extLst>
              <a:ext uri="{FF2B5EF4-FFF2-40B4-BE49-F238E27FC236}">
                <a16:creationId xmlns:a16="http://schemas.microsoft.com/office/drawing/2014/main" id="{D2D3ADC3-FFE7-2943-DF5D-5C51A65379C2}"/>
              </a:ext>
            </a:extLst>
          </p:cNvPr>
          <p:cNvSpPr/>
          <p:nvPr/>
        </p:nvSpPr>
        <p:spPr>
          <a:xfrm>
            <a:off x="6629705" y="3036824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6" name="Text 29">
            <a:extLst>
              <a:ext uri="{FF2B5EF4-FFF2-40B4-BE49-F238E27FC236}">
                <a16:creationId xmlns:a16="http://schemas.microsoft.com/office/drawing/2014/main" id="{94CF8969-7D8E-82C3-03A8-56DF3D836A45}"/>
              </a:ext>
            </a:extLst>
          </p:cNvPr>
          <p:cNvSpPr/>
          <p:nvPr/>
        </p:nvSpPr>
        <p:spPr>
          <a:xfrm>
            <a:off x="6739433" y="3087116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</a:rPr>
              <a:t>3</a:t>
            </a:r>
            <a:endParaRPr lang="en-US" sz="1100" dirty="0"/>
          </a:p>
        </p:txBody>
      </p:sp>
      <p:sp>
        <p:nvSpPr>
          <p:cNvPr id="117" name="Shape 30">
            <a:extLst>
              <a:ext uri="{FF2B5EF4-FFF2-40B4-BE49-F238E27FC236}">
                <a16:creationId xmlns:a16="http://schemas.microsoft.com/office/drawing/2014/main" id="{EE00339E-AF9C-EE0D-7D30-FB12EEEBA435}"/>
              </a:ext>
            </a:extLst>
          </p:cNvPr>
          <p:cNvSpPr/>
          <p:nvPr/>
        </p:nvSpPr>
        <p:spPr>
          <a:xfrm>
            <a:off x="4389425" y="3420872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31">
            <a:extLst>
              <a:ext uri="{FF2B5EF4-FFF2-40B4-BE49-F238E27FC236}">
                <a16:creationId xmlns:a16="http://schemas.microsoft.com/office/drawing/2014/main" id="{26C50F00-A946-DD84-63EB-AF678AD496C5}"/>
              </a:ext>
            </a:extLst>
          </p:cNvPr>
          <p:cNvSpPr/>
          <p:nvPr/>
        </p:nvSpPr>
        <p:spPr>
          <a:xfrm>
            <a:off x="4499153" y="347116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TOPSIS score</a:t>
            </a:r>
            <a:endParaRPr lang="en-US" sz="1100" dirty="0"/>
          </a:p>
        </p:txBody>
      </p:sp>
      <p:sp>
        <p:nvSpPr>
          <p:cNvPr id="119" name="Shape 32">
            <a:extLst>
              <a:ext uri="{FF2B5EF4-FFF2-40B4-BE49-F238E27FC236}">
                <a16:creationId xmlns:a16="http://schemas.microsoft.com/office/drawing/2014/main" id="{E26653AC-83C9-D3EC-4BC8-342B7F96EFF2}"/>
              </a:ext>
            </a:extLst>
          </p:cNvPr>
          <p:cNvSpPr/>
          <p:nvPr/>
        </p:nvSpPr>
        <p:spPr>
          <a:xfrm>
            <a:off x="6629705" y="3420872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r>
              <a:rPr lang="en-US" sz="1100" dirty="0">
                <a:latin typeface="Aptos" pitchFamily="34" charset="0"/>
                <a:ea typeface="Aptos" pitchFamily="34" charset="-122"/>
                <a:cs typeface="Aptos" pitchFamily="34" charset="-120"/>
              </a:rPr>
              <a:t> 0.9568</a:t>
            </a:r>
            <a:endParaRPr lang="en-US" sz="1100" dirty="0"/>
          </a:p>
        </p:txBody>
      </p:sp>
      <p:sp>
        <p:nvSpPr>
          <p:cNvPr id="120" name="Text 33">
            <a:extLst>
              <a:ext uri="{FF2B5EF4-FFF2-40B4-BE49-F238E27FC236}">
                <a16:creationId xmlns:a16="http://schemas.microsoft.com/office/drawing/2014/main" id="{16FF73E2-784A-C750-5A16-91852EF31D71}"/>
              </a:ext>
            </a:extLst>
          </p:cNvPr>
          <p:cNvSpPr/>
          <p:nvPr/>
        </p:nvSpPr>
        <p:spPr>
          <a:xfrm>
            <a:off x="6739433" y="3471164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0.6556</a:t>
            </a:r>
            <a:endParaRPr lang="en-US" sz="1100" dirty="0"/>
          </a:p>
        </p:txBody>
      </p:sp>
      <p:sp>
        <p:nvSpPr>
          <p:cNvPr id="121" name="Shape 34">
            <a:extLst>
              <a:ext uri="{FF2B5EF4-FFF2-40B4-BE49-F238E27FC236}">
                <a16:creationId xmlns:a16="http://schemas.microsoft.com/office/drawing/2014/main" id="{D021D50A-4045-166A-7FC4-012E17A9E4C7}"/>
              </a:ext>
            </a:extLst>
          </p:cNvPr>
          <p:cNvSpPr/>
          <p:nvPr/>
        </p:nvSpPr>
        <p:spPr>
          <a:xfrm>
            <a:off x="4389425" y="3804920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35">
            <a:extLst>
              <a:ext uri="{FF2B5EF4-FFF2-40B4-BE49-F238E27FC236}">
                <a16:creationId xmlns:a16="http://schemas.microsoft.com/office/drawing/2014/main" id="{96CA77C0-BCF4-D254-CB8C-93042C80B540}"/>
              </a:ext>
            </a:extLst>
          </p:cNvPr>
          <p:cNvSpPr/>
          <p:nvPr/>
        </p:nvSpPr>
        <p:spPr>
          <a:xfrm>
            <a:off x="4499153" y="3855212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Throughput</a:t>
            </a:r>
            <a:endParaRPr lang="en-US" sz="1100" dirty="0"/>
          </a:p>
        </p:txBody>
      </p:sp>
      <p:sp>
        <p:nvSpPr>
          <p:cNvPr id="123" name="Shape 36">
            <a:extLst>
              <a:ext uri="{FF2B5EF4-FFF2-40B4-BE49-F238E27FC236}">
                <a16:creationId xmlns:a16="http://schemas.microsoft.com/office/drawing/2014/main" id="{FD277F39-F433-6A6A-AB95-3B452CE83011}"/>
              </a:ext>
            </a:extLst>
          </p:cNvPr>
          <p:cNvSpPr/>
          <p:nvPr/>
        </p:nvSpPr>
        <p:spPr>
          <a:xfrm>
            <a:off x="6629705" y="3811497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37">
            <a:extLst>
              <a:ext uri="{FF2B5EF4-FFF2-40B4-BE49-F238E27FC236}">
                <a16:creationId xmlns:a16="http://schemas.microsoft.com/office/drawing/2014/main" id="{77CC5741-909D-E798-2297-CC8B2E5CEC18}"/>
              </a:ext>
            </a:extLst>
          </p:cNvPr>
          <p:cNvSpPr/>
          <p:nvPr/>
        </p:nvSpPr>
        <p:spPr>
          <a:xfrm>
            <a:off x="6739433" y="3855212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590.384 Mbps</a:t>
            </a:r>
            <a:endParaRPr lang="en-US" sz="1100" dirty="0"/>
          </a:p>
        </p:txBody>
      </p:sp>
      <p:sp>
        <p:nvSpPr>
          <p:cNvPr id="125" name="Shape 38">
            <a:extLst>
              <a:ext uri="{FF2B5EF4-FFF2-40B4-BE49-F238E27FC236}">
                <a16:creationId xmlns:a16="http://schemas.microsoft.com/office/drawing/2014/main" id="{A18EF6FC-B224-31F7-B34B-583808311D7D}"/>
              </a:ext>
            </a:extLst>
          </p:cNvPr>
          <p:cNvSpPr/>
          <p:nvPr/>
        </p:nvSpPr>
        <p:spPr>
          <a:xfrm>
            <a:off x="4389425" y="4188968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39">
            <a:extLst>
              <a:ext uri="{FF2B5EF4-FFF2-40B4-BE49-F238E27FC236}">
                <a16:creationId xmlns:a16="http://schemas.microsoft.com/office/drawing/2014/main" id="{835BA1D4-553C-266F-4605-74A308A79762}"/>
              </a:ext>
            </a:extLst>
          </p:cNvPr>
          <p:cNvSpPr/>
          <p:nvPr/>
        </p:nvSpPr>
        <p:spPr>
          <a:xfrm>
            <a:off x="4499153" y="4239260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</a:t>
            </a:r>
            <a:endParaRPr lang="en-US" sz="1100" dirty="0"/>
          </a:p>
        </p:txBody>
      </p:sp>
      <p:sp>
        <p:nvSpPr>
          <p:cNvPr id="127" name="Shape 40">
            <a:extLst>
              <a:ext uri="{FF2B5EF4-FFF2-40B4-BE49-F238E27FC236}">
                <a16:creationId xmlns:a16="http://schemas.microsoft.com/office/drawing/2014/main" id="{0DD10AFF-280D-8564-0FE7-303FB91C423A}"/>
              </a:ext>
            </a:extLst>
          </p:cNvPr>
          <p:cNvSpPr/>
          <p:nvPr/>
        </p:nvSpPr>
        <p:spPr>
          <a:xfrm>
            <a:off x="6629705" y="4188968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41">
            <a:extLst>
              <a:ext uri="{FF2B5EF4-FFF2-40B4-BE49-F238E27FC236}">
                <a16:creationId xmlns:a16="http://schemas.microsoft.com/office/drawing/2014/main" id="{B4C4AFE8-497E-6AAE-7E7A-2F116CC337B8}"/>
              </a:ext>
            </a:extLst>
          </p:cNvPr>
          <p:cNvSpPr/>
          <p:nvPr/>
        </p:nvSpPr>
        <p:spPr>
          <a:xfrm>
            <a:off x="6739433" y="423926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0.012 ms</a:t>
            </a:r>
            <a:endParaRPr lang="en-US" sz="1100" dirty="0"/>
          </a:p>
        </p:txBody>
      </p:sp>
      <p:sp>
        <p:nvSpPr>
          <p:cNvPr id="129" name="Shape 42">
            <a:extLst>
              <a:ext uri="{FF2B5EF4-FFF2-40B4-BE49-F238E27FC236}">
                <a16:creationId xmlns:a16="http://schemas.microsoft.com/office/drawing/2014/main" id="{EB26644B-AEEE-6C97-3A9E-6F07CD2B7A71}"/>
              </a:ext>
            </a:extLst>
          </p:cNvPr>
          <p:cNvSpPr/>
          <p:nvPr/>
        </p:nvSpPr>
        <p:spPr>
          <a:xfrm>
            <a:off x="4389425" y="4573016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43">
            <a:extLst>
              <a:ext uri="{FF2B5EF4-FFF2-40B4-BE49-F238E27FC236}">
                <a16:creationId xmlns:a16="http://schemas.microsoft.com/office/drawing/2014/main" id="{FDFF6272-8863-E831-D287-23ED6A045860}"/>
              </a:ext>
            </a:extLst>
          </p:cNvPr>
          <p:cNvSpPr/>
          <p:nvPr/>
        </p:nvSpPr>
        <p:spPr>
          <a:xfrm>
            <a:off x="4499153" y="4623308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</a:t>
            </a:r>
            <a:endParaRPr lang="en-US" sz="1100" dirty="0"/>
          </a:p>
        </p:txBody>
      </p:sp>
      <p:sp>
        <p:nvSpPr>
          <p:cNvPr id="131" name="Shape 44">
            <a:extLst>
              <a:ext uri="{FF2B5EF4-FFF2-40B4-BE49-F238E27FC236}">
                <a16:creationId xmlns:a16="http://schemas.microsoft.com/office/drawing/2014/main" id="{339776C7-A63B-1E4A-B3AE-E0EBA4D1F74B}"/>
              </a:ext>
            </a:extLst>
          </p:cNvPr>
          <p:cNvSpPr/>
          <p:nvPr/>
        </p:nvSpPr>
        <p:spPr>
          <a:xfrm>
            <a:off x="6629705" y="4573016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2" name="Text 45">
            <a:extLst>
              <a:ext uri="{FF2B5EF4-FFF2-40B4-BE49-F238E27FC236}">
                <a16:creationId xmlns:a16="http://schemas.microsoft.com/office/drawing/2014/main" id="{534B43EC-9CB7-BCEF-6C6E-74F35241C896}"/>
              </a:ext>
            </a:extLst>
          </p:cNvPr>
          <p:cNvSpPr/>
          <p:nvPr/>
        </p:nvSpPr>
        <p:spPr>
          <a:xfrm>
            <a:off x="6739433" y="4623308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€34.394</a:t>
            </a:r>
            <a:endParaRPr lang="en-US" sz="1100" dirty="0"/>
          </a:p>
        </p:txBody>
      </p:sp>
      <p:sp>
        <p:nvSpPr>
          <p:cNvPr id="133" name="Shape 46">
            <a:extLst>
              <a:ext uri="{FF2B5EF4-FFF2-40B4-BE49-F238E27FC236}">
                <a16:creationId xmlns:a16="http://schemas.microsoft.com/office/drawing/2014/main" id="{BD016955-8FAC-DE45-63DF-0250CCBA6196}"/>
              </a:ext>
            </a:extLst>
          </p:cNvPr>
          <p:cNvSpPr/>
          <p:nvPr/>
        </p:nvSpPr>
        <p:spPr>
          <a:xfrm>
            <a:off x="4389425" y="4957064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47">
            <a:extLst>
              <a:ext uri="{FF2B5EF4-FFF2-40B4-BE49-F238E27FC236}">
                <a16:creationId xmlns:a16="http://schemas.microsoft.com/office/drawing/2014/main" id="{408EC0A4-6DEA-027D-7960-D5DCCD48BAF7}"/>
              </a:ext>
            </a:extLst>
          </p:cNvPr>
          <p:cNvSpPr/>
          <p:nvPr/>
        </p:nvSpPr>
        <p:spPr>
          <a:xfrm>
            <a:off x="4499153" y="5007356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</a:t>
            </a:r>
            <a:endParaRPr lang="en-US" sz="1100" dirty="0"/>
          </a:p>
        </p:txBody>
      </p:sp>
      <p:sp>
        <p:nvSpPr>
          <p:cNvPr id="135" name="Shape 48">
            <a:extLst>
              <a:ext uri="{FF2B5EF4-FFF2-40B4-BE49-F238E27FC236}">
                <a16:creationId xmlns:a16="http://schemas.microsoft.com/office/drawing/2014/main" id="{09777B1C-4029-33A0-CA38-D04498148FF7}"/>
              </a:ext>
            </a:extLst>
          </p:cNvPr>
          <p:cNvSpPr/>
          <p:nvPr/>
        </p:nvSpPr>
        <p:spPr>
          <a:xfrm>
            <a:off x="6629705" y="4957064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49">
            <a:extLst>
              <a:ext uri="{FF2B5EF4-FFF2-40B4-BE49-F238E27FC236}">
                <a16:creationId xmlns:a16="http://schemas.microsoft.com/office/drawing/2014/main" id="{B7613BF9-6891-D1B0-B5C6-AB3337B6DD74}"/>
              </a:ext>
            </a:extLst>
          </p:cNvPr>
          <p:cNvSpPr/>
          <p:nvPr/>
        </p:nvSpPr>
        <p:spPr>
          <a:xfrm>
            <a:off x="6739433" y="5075936"/>
            <a:ext cx="3575304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</a:t>
            </a:r>
            <a:r>
              <a:rPr lang="en-US" sz="1100" dirty="0">
                <a:latin typeface="Aptos" pitchFamily="34" charset="0"/>
                <a:ea typeface="Aptos" pitchFamily="34" charset="-122"/>
                <a:cs typeface="Aptos" pitchFamily="34" charset="-120"/>
              </a:rPr>
              <a:t>4.556 W</a:t>
            </a:r>
            <a:endParaRPr lang="en-US" sz="1100" dirty="0"/>
          </a:p>
          <a:p>
            <a:endParaRPr lang="en-US" sz="1100" dirty="0"/>
          </a:p>
        </p:txBody>
      </p:sp>
      <p:sp>
        <p:nvSpPr>
          <p:cNvPr id="137" name="Shape 50">
            <a:extLst>
              <a:ext uri="{FF2B5EF4-FFF2-40B4-BE49-F238E27FC236}">
                <a16:creationId xmlns:a16="http://schemas.microsoft.com/office/drawing/2014/main" id="{E7FD36AE-6843-E544-A8AE-1CFB90FAABB4}"/>
              </a:ext>
            </a:extLst>
          </p:cNvPr>
          <p:cNvSpPr/>
          <p:nvPr/>
        </p:nvSpPr>
        <p:spPr>
          <a:xfrm>
            <a:off x="4389425" y="5341112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 51">
            <a:extLst>
              <a:ext uri="{FF2B5EF4-FFF2-40B4-BE49-F238E27FC236}">
                <a16:creationId xmlns:a16="http://schemas.microsoft.com/office/drawing/2014/main" id="{549E73AB-3E5C-C89B-D492-9EB9FD22A07C}"/>
              </a:ext>
            </a:extLst>
          </p:cNvPr>
          <p:cNvSpPr/>
          <p:nvPr/>
        </p:nvSpPr>
        <p:spPr>
          <a:xfrm>
            <a:off x="4499153" y="539140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Feasible</a:t>
            </a:r>
            <a:endParaRPr lang="en-US" sz="1100" dirty="0"/>
          </a:p>
        </p:txBody>
      </p:sp>
      <p:sp>
        <p:nvSpPr>
          <p:cNvPr id="139" name="Shape 52">
            <a:extLst>
              <a:ext uri="{FF2B5EF4-FFF2-40B4-BE49-F238E27FC236}">
                <a16:creationId xmlns:a16="http://schemas.microsoft.com/office/drawing/2014/main" id="{1BE2028E-0E98-1ABE-A03F-194D13F409E5}"/>
              </a:ext>
            </a:extLst>
          </p:cNvPr>
          <p:cNvSpPr/>
          <p:nvPr/>
        </p:nvSpPr>
        <p:spPr>
          <a:xfrm>
            <a:off x="6629705" y="5341112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 53">
            <a:extLst>
              <a:ext uri="{FF2B5EF4-FFF2-40B4-BE49-F238E27FC236}">
                <a16:creationId xmlns:a16="http://schemas.microsoft.com/office/drawing/2014/main" id="{B2AA6A3C-C72E-FA11-7BE3-E46E939C25C2}"/>
              </a:ext>
            </a:extLst>
          </p:cNvPr>
          <p:cNvSpPr/>
          <p:nvPr/>
        </p:nvSpPr>
        <p:spPr>
          <a:xfrm>
            <a:off x="6739433" y="5391404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</a:t>
            </a:r>
            <a:endParaRPr lang="en-US" sz="1100" dirty="0"/>
          </a:p>
        </p:txBody>
      </p:sp>
      <p:pic>
        <p:nvPicPr>
          <p:cNvPr id="141" name="Picture 2">
            <a:extLst>
              <a:ext uri="{FF2B5EF4-FFF2-40B4-BE49-F238E27FC236}">
                <a16:creationId xmlns:a16="http://schemas.microsoft.com/office/drawing/2014/main" id="{EE57AD11-1E4C-0874-2002-B83E89245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9948"/>
            <a:ext cx="2446591" cy="710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9" name="Shape 2">
            <a:extLst>
              <a:ext uri="{FF2B5EF4-FFF2-40B4-BE49-F238E27FC236}">
                <a16:creationId xmlns:a16="http://schemas.microsoft.com/office/drawing/2014/main" id="{2802DBC7-74AE-40AC-BBFE-FB02C84E7540}"/>
              </a:ext>
            </a:extLst>
          </p:cNvPr>
          <p:cNvSpPr/>
          <p:nvPr/>
        </p:nvSpPr>
        <p:spPr>
          <a:xfrm>
            <a:off x="3477260" y="1080008"/>
            <a:ext cx="715095" cy="237744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 w="12700">
            <a:solidFill>
              <a:srgbClr val="2F6FDB">
                <a:alpha val="70000"/>
              </a:srgbClr>
            </a:solidFill>
            <a:prstDash val="solid"/>
          </a:ln>
        </p:spPr>
        <p:txBody>
          <a:bodyPr/>
          <a:lstStyle/>
          <a:p>
            <a:r>
              <a:rPr lang="en-US" sz="1020" dirty="0">
                <a:solidFill>
                  <a:schemeClr val="bg1"/>
                </a:solidFill>
                <a:latin typeface="Aptos" panose="020B0004020202020204" pitchFamily="34" charset="0"/>
              </a:rPr>
              <a:t> MCS:28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617720" y="384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TOPSIS Algorithm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281160" y="329184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FFF0EE"/>
          </a:solidFill>
          <a:ln w="12700">
            <a:solidFill>
              <a:srgbClr val="C0392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00032" y="448056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C039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Factory-Ops • URLLC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658368" y="7498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Factory-Ops: all ranked offers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658368" y="1975104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Criterion type: max, min, min, min • Weights: 0.2, 0.5, 0.2, 0.1</a:t>
            </a:r>
            <a:endParaRPr lang="en-US" sz="1050" dirty="0"/>
          </a:p>
        </p:txBody>
      </p:sp>
      <p:sp>
        <p:nvSpPr>
          <p:cNvPr id="159" name="Shape 5">
            <a:extLst>
              <a:ext uri="{FF2B5EF4-FFF2-40B4-BE49-F238E27FC236}">
                <a16:creationId xmlns:a16="http://schemas.microsoft.com/office/drawing/2014/main" id="{49732B59-1B45-7A80-CC2C-8D9D5FC86C72}"/>
              </a:ext>
            </a:extLst>
          </p:cNvPr>
          <p:cNvSpPr/>
          <p:nvPr/>
        </p:nvSpPr>
        <p:spPr>
          <a:xfrm>
            <a:off x="638082" y="1234440"/>
            <a:ext cx="11553613" cy="457200"/>
          </a:xfrm>
          <a:prstGeom prst="roundRect">
            <a:avLst>
              <a:gd name="adj" fmla="val 16000"/>
            </a:avLst>
          </a:prstGeom>
          <a:solidFill>
            <a:srgbClr val="FFF0EE"/>
          </a:solidFill>
          <a:ln w="12700">
            <a:solidFill>
              <a:srgbClr val="FFF0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0" name="Text 6">
            <a:extLst>
              <a:ext uri="{FF2B5EF4-FFF2-40B4-BE49-F238E27FC236}">
                <a16:creationId xmlns:a16="http://schemas.microsoft.com/office/drawing/2014/main" id="{0778037B-7BCE-D897-C88B-313F52D877AD}"/>
              </a:ext>
            </a:extLst>
          </p:cNvPr>
          <p:cNvSpPr/>
          <p:nvPr/>
        </p:nvSpPr>
        <p:spPr>
          <a:xfrm>
            <a:off x="820963" y="1362456"/>
            <a:ext cx="10835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180" b="1" dirty="0">
                <a:solidFill>
                  <a:srgbClr val="C0392B"/>
                </a:solidFill>
              </a:rPr>
              <a:t>User Intent: User wants a URLLC slice for factory operations with throughput (≥ 5), latency (≤ 2), cost (≤ 200), and energy (≤ 100) limits.</a:t>
            </a:r>
            <a:endParaRPr lang="en-US" sz="1180" dirty="0"/>
          </a:p>
        </p:txBody>
      </p:sp>
      <p:pic>
        <p:nvPicPr>
          <p:cNvPr id="161" name="Picture 2">
            <a:extLst>
              <a:ext uri="{FF2B5EF4-FFF2-40B4-BE49-F238E27FC236}">
                <a16:creationId xmlns:a16="http://schemas.microsoft.com/office/drawing/2014/main" id="{0E090753-98A9-7EE3-D8AF-41FAF12CA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8292" y="21475"/>
            <a:ext cx="2446591" cy="710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5" name="Shape 9">
            <a:extLst>
              <a:ext uri="{FF2B5EF4-FFF2-40B4-BE49-F238E27FC236}">
                <a16:creationId xmlns:a16="http://schemas.microsoft.com/office/drawing/2014/main" id="{E8F8F858-B1AD-56D4-EF01-0FD21DD33B0B}"/>
              </a:ext>
            </a:extLst>
          </p:cNvPr>
          <p:cNvSpPr/>
          <p:nvPr/>
        </p:nvSpPr>
        <p:spPr>
          <a:xfrm>
            <a:off x="665515" y="2331042"/>
            <a:ext cx="566928" cy="384048"/>
          </a:xfrm>
          <a:prstGeom prst="rect">
            <a:avLst/>
          </a:prstGeom>
          <a:solidFill>
            <a:srgbClr val="C00000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56" name="Text 10">
            <a:extLst>
              <a:ext uri="{FF2B5EF4-FFF2-40B4-BE49-F238E27FC236}">
                <a16:creationId xmlns:a16="http://schemas.microsoft.com/office/drawing/2014/main" id="{CAEDBB8F-9D3A-3F8F-7E75-62A8C2D04CAC}"/>
              </a:ext>
            </a:extLst>
          </p:cNvPr>
          <p:cNvSpPr/>
          <p:nvPr/>
        </p:nvSpPr>
        <p:spPr>
          <a:xfrm>
            <a:off x="715807" y="2404194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1050" dirty="0"/>
          </a:p>
        </p:txBody>
      </p:sp>
      <p:sp>
        <p:nvSpPr>
          <p:cNvPr id="257" name="Shape 11">
            <a:extLst>
              <a:ext uri="{FF2B5EF4-FFF2-40B4-BE49-F238E27FC236}">
                <a16:creationId xmlns:a16="http://schemas.microsoft.com/office/drawing/2014/main" id="{771023DF-88A8-FAA0-62C3-A9FDE37AAA41}"/>
              </a:ext>
            </a:extLst>
          </p:cNvPr>
          <p:cNvSpPr/>
          <p:nvPr/>
        </p:nvSpPr>
        <p:spPr>
          <a:xfrm>
            <a:off x="1232443" y="2331042"/>
            <a:ext cx="749808" cy="384048"/>
          </a:xfrm>
          <a:prstGeom prst="rect">
            <a:avLst/>
          </a:prstGeom>
          <a:solidFill>
            <a:srgbClr val="C00000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58" name="Text 12">
            <a:extLst>
              <a:ext uri="{FF2B5EF4-FFF2-40B4-BE49-F238E27FC236}">
                <a16:creationId xmlns:a16="http://schemas.microsoft.com/office/drawing/2014/main" id="{3C0B88EC-FE5E-430F-526C-3F569DB9B5DC}"/>
              </a:ext>
            </a:extLst>
          </p:cNvPr>
          <p:cNvSpPr/>
          <p:nvPr/>
        </p:nvSpPr>
        <p:spPr>
          <a:xfrm>
            <a:off x="1282735" y="2404194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</a:t>
            </a:r>
            <a:endParaRPr lang="en-US" sz="1050" dirty="0"/>
          </a:p>
        </p:txBody>
      </p:sp>
      <p:sp>
        <p:nvSpPr>
          <p:cNvPr id="259" name="Shape 13">
            <a:extLst>
              <a:ext uri="{FF2B5EF4-FFF2-40B4-BE49-F238E27FC236}">
                <a16:creationId xmlns:a16="http://schemas.microsoft.com/office/drawing/2014/main" id="{607A4C19-F958-4165-7722-6C1C61FC62A9}"/>
              </a:ext>
            </a:extLst>
          </p:cNvPr>
          <p:cNvSpPr/>
          <p:nvPr/>
        </p:nvSpPr>
        <p:spPr>
          <a:xfrm>
            <a:off x="1982251" y="2331042"/>
            <a:ext cx="1115568" cy="384048"/>
          </a:xfrm>
          <a:prstGeom prst="rect">
            <a:avLst/>
          </a:prstGeom>
          <a:solidFill>
            <a:srgbClr val="C00000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60" name="Text 14">
            <a:extLst>
              <a:ext uri="{FF2B5EF4-FFF2-40B4-BE49-F238E27FC236}">
                <a16:creationId xmlns:a16="http://schemas.microsoft.com/office/drawing/2014/main" id="{EBF11AC3-D019-5B38-AA1F-99CA032B089D}"/>
              </a:ext>
            </a:extLst>
          </p:cNvPr>
          <p:cNvSpPr/>
          <p:nvPr/>
        </p:nvSpPr>
        <p:spPr>
          <a:xfrm>
            <a:off x="2032543" y="2404194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1050" dirty="0"/>
          </a:p>
        </p:txBody>
      </p:sp>
      <p:sp>
        <p:nvSpPr>
          <p:cNvPr id="261" name="Shape 15">
            <a:extLst>
              <a:ext uri="{FF2B5EF4-FFF2-40B4-BE49-F238E27FC236}">
                <a16:creationId xmlns:a16="http://schemas.microsoft.com/office/drawing/2014/main" id="{A576C590-C83C-B9A5-5CB8-B31DF56AF435}"/>
              </a:ext>
            </a:extLst>
          </p:cNvPr>
          <p:cNvSpPr/>
          <p:nvPr/>
        </p:nvSpPr>
        <p:spPr>
          <a:xfrm>
            <a:off x="3097819" y="2331042"/>
            <a:ext cx="1225296" cy="384048"/>
          </a:xfrm>
          <a:prstGeom prst="rect">
            <a:avLst/>
          </a:prstGeom>
          <a:solidFill>
            <a:srgbClr val="C00000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62" name="Text 16">
            <a:extLst>
              <a:ext uri="{FF2B5EF4-FFF2-40B4-BE49-F238E27FC236}">
                <a16:creationId xmlns:a16="http://schemas.microsoft.com/office/drawing/2014/main" id="{74F23167-9C89-6079-0CAA-1D794EE1CD95}"/>
              </a:ext>
            </a:extLst>
          </p:cNvPr>
          <p:cNvSpPr/>
          <p:nvPr/>
        </p:nvSpPr>
        <p:spPr>
          <a:xfrm>
            <a:off x="3148111" y="2404194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Throughput</a:t>
            </a:r>
            <a:endParaRPr lang="en-US" sz="1050" dirty="0"/>
          </a:p>
        </p:txBody>
      </p:sp>
      <p:sp>
        <p:nvSpPr>
          <p:cNvPr id="263" name="Shape 17">
            <a:extLst>
              <a:ext uri="{FF2B5EF4-FFF2-40B4-BE49-F238E27FC236}">
                <a16:creationId xmlns:a16="http://schemas.microsoft.com/office/drawing/2014/main" id="{B56CE2C8-F818-51E9-6D4D-43AC05CF4458}"/>
              </a:ext>
            </a:extLst>
          </p:cNvPr>
          <p:cNvSpPr/>
          <p:nvPr/>
        </p:nvSpPr>
        <p:spPr>
          <a:xfrm>
            <a:off x="4323115" y="2331042"/>
            <a:ext cx="987552" cy="384048"/>
          </a:xfrm>
          <a:prstGeom prst="rect">
            <a:avLst/>
          </a:prstGeom>
          <a:solidFill>
            <a:srgbClr val="C00000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64" name="Text 18">
            <a:extLst>
              <a:ext uri="{FF2B5EF4-FFF2-40B4-BE49-F238E27FC236}">
                <a16:creationId xmlns:a16="http://schemas.microsoft.com/office/drawing/2014/main" id="{CDB997AC-77D5-75DA-C200-E6D23D7E95BB}"/>
              </a:ext>
            </a:extLst>
          </p:cNvPr>
          <p:cNvSpPr/>
          <p:nvPr/>
        </p:nvSpPr>
        <p:spPr>
          <a:xfrm>
            <a:off x="4373407" y="2404194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</a:t>
            </a:r>
            <a:endParaRPr lang="en-US" sz="1050" dirty="0"/>
          </a:p>
        </p:txBody>
      </p:sp>
      <p:sp>
        <p:nvSpPr>
          <p:cNvPr id="265" name="Shape 19">
            <a:extLst>
              <a:ext uri="{FF2B5EF4-FFF2-40B4-BE49-F238E27FC236}">
                <a16:creationId xmlns:a16="http://schemas.microsoft.com/office/drawing/2014/main" id="{43E022BA-B8C4-0B26-77EF-BE7EFC7EDD46}"/>
              </a:ext>
            </a:extLst>
          </p:cNvPr>
          <p:cNvSpPr/>
          <p:nvPr/>
        </p:nvSpPr>
        <p:spPr>
          <a:xfrm>
            <a:off x="5310667" y="2331042"/>
            <a:ext cx="932688" cy="384048"/>
          </a:xfrm>
          <a:prstGeom prst="rect">
            <a:avLst/>
          </a:prstGeom>
          <a:solidFill>
            <a:srgbClr val="C00000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66" name="Text 20">
            <a:extLst>
              <a:ext uri="{FF2B5EF4-FFF2-40B4-BE49-F238E27FC236}">
                <a16:creationId xmlns:a16="http://schemas.microsoft.com/office/drawing/2014/main" id="{AB33297F-9CBA-020C-35DC-3529CA139C3B}"/>
              </a:ext>
            </a:extLst>
          </p:cNvPr>
          <p:cNvSpPr/>
          <p:nvPr/>
        </p:nvSpPr>
        <p:spPr>
          <a:xfrm>
            <a:off x="5360959" y="2404194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</a:t>
            </a:r>
            <a:endParaRPr lang="en-US" sz="1050" dirty="0"/>
          </a:p>
        </p:txBody>
      </p:sp>
      <p:sp>
        <p:nvSpPr>
          <p:cNvPr id="267" name="Shape 21">
            <a:extLst>
              <a:ext uri="{FF2B5EF4-FFF2-40B4-BE49-F238E27FC236}">
                <a16:creationId xmlns:a16="http://schemas.microsoft.com/office/drawing/2014/main" id="{4A493623-EE12-28FD-D157-5C4D58B439AD}"/>
              </a:ext>
            </a:extLst>
          </p:cNvPr>
          <p:cNvSpPr/>
          <p:nvPr/>
        </p:nvSpPr>
        <p:spPr>
          <a:xfrm>
            <a:off x="6243355" y="2331042"/>
            <a:ext cx="932688" cy="384048"/>
          </a:xfrm>
          <a:prstGeom prst="rect">
            <a:avLst/>
          </a:prstGeom>
          <a:solidFill>
            <a:srgbClr val="C00000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68" name="Text 22">
            <a:extLst>
              <a:ext uri="{FF2B5EF4-FFF2-40B4-BE49-F238E27FC236}">
                <a16:creationId xmlns:a16="http://schemas.microsoft.com/office/drawing/2014/main" id="{7D33ECFE-2DD6-0831-E73F-28F2C80F37C1}"/>
              </a:ext>
            </a:extLst>
          </p:cNvPr>
          <p:cNvSpPr/>
          <p:nvPr/>
        </p:nvSpPr>
        <p:spPr>
          <a:xfrm>
            <a:off x="6293647" y="2404194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</a:t>
            </a:r>
            <a:endParaRPr lang="en-US" sz="1050" dirty="0"/>
          </a:p>
        </p:txBody>
      </p:sp>
      <p:sp>
        <p:nvSpPr>
          <p:cNvPr id="269" name="Shape 23">
            <a:extLst>
              <a:ext uri="{FF2B5EF4-FFF2-40B4-BE49-F238E27FC236}">
                <a16:creationId xmlns:a16="http://schemas.microsoft.com/office/drawing/2014/main" id="{2018A56A-6CDD-2826-F360-B23FC48293A0}"/>
              </a:ext>
            </a:extLst>
          </p:cNvPr>
          <p:cNvSpPr/>
          <p:nvPr/>
        </p:nvSpPr>
        <p:spPr>
          <a:xfrm>
            <a:off x="7176043" y="2331042"/>
            <a:ext cx="749808" cy="384048"/>
          </a:xfrm>
          <a:prstGeom prst="rect">
            <a:avLst/>
          </a:prstGeom>
          <a:solidFill>
            <a:srgbClr val="C00000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70" name="Text 24">
            <a:extLst>
              <a:ext uri="{FF2B5EF4-FFF2-40B4-BE49-F238E27FC236}">
                <a16:creationId xmlns:a16="http://schemas.microsoft.com/office/drawing/2014/main" id="{60C5740C-9E6C-9693-9C00-006FF6E26ACF}"/>
              </a:ext>
            </a:extLst>
          </p:cNvPr>
          <p:cNvSpPr/>
          <p:nvPr/>
        </p:nvSpPr>
        <p:spPr>
          <a:xfrm>
            <a:off x="7226335" y="2404194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Feasible</a:t>
            </a:r>
            <a:endParaRPr lang="en-US" sz="1050" dirty="0"/>
          </a:p>
        </p:txBody>
      </p:sp>
      <p:sp>
        <p:nvSpPr>
          <p:cNvPr id="271" name="Shape 25">
            <a:extLst>
              <a:ext uri="{FF2B5EF4-FFF2-40B4-BE49-F238E27FC236}">
                <a16:creationId xmlns:a16="http://schemas.microsoft.com/office/drawing/2014/main" id="{577E32A7-7958-F6CF-BAD1-C9F6F54F041D}"/>
              </a:ext>
            </a:extLst>
          </p:cNvPr>
          <p:cNvSpPr/>
          <p:nvPr/>
        </p:nvSpPr>
        <p:spPr>
          <a:xfrm>
            <a:off x="671815" y="2728806"/>
            <a:ext cx="566928" cy="384048"/>
          </a:xfrm>
          <a:prstGeom prst="rect">
            <a:avLst/>
          </a:prstGeom>
          <a:solidFill>
            <a:srgbClr val="FFF0EE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>
              <a:solidFill>
                <a:srgbClr val="FFFFFF"/>
              </a:solidFill>
            </a:endParaRPr>
          </a:p>
        </p:txBody>
      </p:sp>
      <p:sp>
        <p:nvSpPr>
          <p:cNvPr id="272" name="Text 26">
            <a:extLst>
              <a:ext uri="{FF2B5EF4-FFF2-40B4-BE49-F238E27FC236}">
                <a16:creationId xmlns:a16="http://schemas.microsoft.com/office/drawing/2014/main" id="{574F219A-C5BF-6127-2589-C3FD11A33883}"/>
              </a:ext>
            </a:extLst>
          </p:cNvPr>
          <p:cNvSpPr/>
          <p:nvPr/>
        </p:nvSpPr>
        <p:spPr>
          <a:xfrm>
            <a:off x="715807" y="2788242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>
              <a:solidFill>
                <a:srgbClr val="000000"/>
              </a:solidFill>
            </a:endParaRPr>
          </a:p>
        </p:txBody>
      </p:sp>
      <p:sp>
        <p:nvSpPr>
          <p:cNvPr id="273" name="Shape 27">
            <a:extLst>
              <a:ext uri="{FF2B5EF4-FFF2-40B4-BE49-F238E27FC236}">
                <a16:creationId xmlns:a16="http://schemas.microsoft.com/office/drawing/2014/main" id="{AFBDED58-72E8-46E6-3111-12A3186E008A}"/>
              </a:ext>
            </a:extLst>
          </p:cNvPr>
          <p:cNvSpPr/>
          <p:nvPr/>
        </p:nvSpPr>
        <p:spPr>
          <a:xfrm>
            <a:off x="1232443" y="2715090"/>
            <a:ext cx="749808" cy="384048"/>
          </a:xfrm>
          <a:prstGeom prst="rect">
            <a:avLst/>
          </a:prstGeom>
          <a:solidFill>
            <a:srgbClr val="FFF0EE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274" name="Text 28">
            <a:extLst>
              <a:ext uri="{FF2B5EF4-FFF2-40B4-BE49-F238E27FC236}">
                <a16:creationId xmlns:a16="http://schemas.microsoft.com/office/drawing/2014/main" id="{A1EC78CA-4C1E-7F0B-46D8-C5BF3FA4DAAC}"/>
              </a:ext>
            </a:extLst>
          </p:cNvPr>
          <p:cNvSpPr/>
          <p:nvPr/>
        </p:nvSpPr>
        <p:spPr>
          <a:xfrm>
            <a:off x="1282735" y="2788242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Aptos" pitchFamily="34" charset="0"/>
              </a:rPr>
              <a:t>3</a:t>
            </a:r>
            <a:endParaRPr lang="en-US" sz="1050" dirty="0">
              <a:solidFill>
                <a:srgbClr val="000000"/>
              </a:solidFill>
            </a:endParaRPr>
          </a:p>
        </p:txBody>
      </p:sp>
      <p:sp>
        <p:nvSpPr>
          <p:cNvPr id="275" name="Shape 29">
            <a:extLst>
              <a:ext uri="{FF2B5EF4-FFF2-40B4-BE49-F238E27FC236}">
                <a16:creationId xmlns:a16="http://schemas.microsoft.com/office/drawing/2014/main" id="{972585F7-99CC-7DE0-4B5E-168EEB24F345}"/>
              </a:ext>
            </a:extLst>
          </p:cNvPr>
          <p:cNvSpPr/>
          <p:nvPr/>
        </p:nvSpPr>
        <p:spPr>
          <a:xfrm>
            <a:off x="1957105" y="2731515"/>
            <a:ext cx="1115568" cy="384048"/>
          </a:xfrm>
          <a:prstGeom prst="rect">
            <a:avLst/>
          </a:prstGeom>
          <a:solidFill>
            <a:srgbClr val="FFF0EE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276" name="Text 30">
            <a:extLst>
              <a:ext uri="{FF2B5EF4-FFF2-40B4-BE49-F238E27FC236}">
                <a16:creationId xmlns:a16="http://schemas.microsoft.com/office/drawing/2014/main" id="{13B51507-0F7B-A821-4F72-A6BF418325F9}"/>
              </a:ext>
            </a:extLst>
          </p:cNvPr>
          <p:cNvSpPr/>
          <p:nvPr/>
        </p:nvSpPr>
        <p:spPr>
          <a:xfrm>
            <a:off x="2032543" y="2788242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latin typeface="Aptos" pitchFamily="34" charset="0"/>
                <a:ea typeface="Aptos" pitchFamily="34" charset="-122"/>
                <a:cs typeface="Aptos" pitchFamily="34" charset="-120"/>
              </a:rPr>
              <a:t>0.956</a:t>
            </a:r>
            <a:endParaRPr lang="en-US" sz="1050" dirty="0">
              <a:solidFill>
                <a:srgbClr val="000000"/>
              </a:solidFill>
            </a:endParaRPr>
          </a:p>
        </p:txBody>
      </p:sp>
      <p:sp>
        <p:nvSpPr>
          <p:cNvPr id="277" name="Shape 31">
            <a:extLst>
              <a:ext uri="{FF2B5EF4-FFF2-40B4-BE49-F238E27FC236}">
                <a16:creationId xmlns:a16="http://schemas.microsoft.com/office/drawing/2014/main" id="{63D78682-D799-CFE7-4264-8C0793108775}"/>
              </a:ext>
            </a:extLst>
          </p:cNvPr>
          <p:cNvSpPr/>
          <p:nvPr/>
        </p:nvSpPr>
        <p:spPr>
          <a:xfrm>
            <a:off x="3097819" y="2715090"/>
            <a:ext cx="1225296" cy="384048"/>
          </a:xfrm>
          <a:prstGeom prst="rect">
            <a:avLst/>
          </a:prstGeom>
          <a:solidFill>
            <a:srgbClr val="FFF0EE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278" name="Text 32">
            <a:extLst>
              <a:ext uri="{FF2B5EF4-FFF2-40B4-BE49-F238E27FC236}">
                <a16:creationId xmlns:a16="http://schemas.microsoft.com/office/drawing/2014/main" id="{40E02943-BC67-525F-CE68-466BD7B907C6}"/>
              </a:ext>
            </a:extLst>
          </p:cNvPr>
          <p:cNvSpPr/>
          <p:nvPr/>
        </p:nvSpPr>
        <p:spPr>
          <a:xfrm>
            <a:off x="3148111" y="2788242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590.384</a:t>
            </a:r>
            <a:endParaRPr lang="en-US" sz="1050" dirty="0"/>
          </a:p>
        </p:txBody>
      </p:sp>
      <p:sp>
        <p:nvSpPr>
          <p:cNvPr id="279" name="Shape 33">
            <a:extLst>
              <a:ext uri="{FF2B5EF4-FFF2-40B4-BE49-F238E27FC236}">
                <a16:creationId xmlns:a16="http://schemas.microsoft.com/office/drawing/2014/main" id="{D0356585-E142-D92C-B404-9A4AD75236ED}"/>
              </a:ext>
            </a:extLst>
          </p:cNvPr>
          <p:cNvSpPr/>
          <p:nvPr/>
        </p:nvSpPr>
        <p:spPr>
          <a:xfrm>
            <a:off x="4323115" y="2715090"/>
            <a:ext cx="987552" cy="384048"/>
          </a:xfrm>
          <a:prstGeom prst="rect">
            <a:avLst/>
          </a:prstGeom>
          <a:solidFill>
            <a:srgbClr val="FFF0EE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80" name="Text 34">
            <a:extLst>
              <a:ext uri="{FF2B5EF4-FFF2-40B4-BE49-F238E27FC236}">
                <a16:creationId xmlns:a16="http://schemas.microsoft.com/office/drawing/2014/main" id="{6D1C18E8-667F-59DE-9193-88A820008B2B}"/>
              </a:ext>
            </a:extLst>
          </p:cNvPr>
          <p:cNvSpPr/>
          <p:nvPr/>
        </p:nvSpPr>
        <p:spPr>
          <a:xfrm>
            <a:off x="4373407" y="2788242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0.0123</a:t>
            </a:r>
            <a:endParaRPr lang="en-US" sz="1050" dirty="0"/>
          </a:p>
        </p:txBody>
      </p:sp>
      <p:sp>
        <p:nvSpPr>
          <p:cNvPr id="281" name="Shape 35">
            <a:extLst>
              <a:ext uri="{FF2B5EF4-FFF2-40B4-BE49-F238E27FC236}">
                <a16:creationId xmlns:a16="http://schemas.microsoft.com/office/drawing/2014/main" id="{2CC15ECF-E0C1-2C3C-062D-2E4A15350312}"/>
              </a:ext>
            </a:extLst>
          </p:cNvPr>
          <p:cNvSpPr/>
          <p:nvPr/>
        </p:nvSpPr>
        <p:spPr>
          <a:xfrm>
            <a:off x="5310667" y="2715090"/>
            <a:ext cx="932688" cy="384048"/>
          </a:xfrm>
          <a:prstGeom prst="rect">
            <a:avLst/>
          </a:prstGeom>
          <a:solidFill>
            <a:srgbClr val="FFF0EE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82" name="Text 36">
            <a:extLst>
              <a:ext uri="{FF2B5EF4-FFF2-40B4-BE49-F238E27FC236}">
                <a16:creationId xmlns:a16="http://schemas.microsoft.com/office/drawing/2014/main" id="{30BCBBD8-1C05-FFFE-28FE-E75CEF3CB44F}"/>
              </a:ext>
            </a:extLst>
          </p:cNvPr>
          <p:cNvSpPr/>
          <p:nvPr/>
        </p:nvSpPr>
        <p:spPr>
          <a:xfrm>
            <a:off x="5360959" y="2788242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34.393</a:t>
            </a:r>
            <a:endParaRPr lang="en-US" sz="1050" dirty="0"/>
          </a:p>
        </p:txBody>
      </p:sp>
      <p:sp>
        <p:nvSpPr>
          <p:cNvPr id="283" name="Shape 37">
            <a:extLst>
              <a:ext uri="{FF2B5EF4-FFF2-40B4-BE49-F238E27FC236}">
                <a16:creationId xmlns:a16="http://schemas.microsoft.com/office/drawing/2014/main" id="{45F0B337-54E8-4308-FC7A-D799EF2A0D1C}"/>
              </a:ext>
            </a:extLst>
          </p:cNvPr>
          <p:cNvSpPr/>
          <p:nvPr/>
        </p:nvSpPr>
        <p:spPr>
          <a:xfrm>
            <a:off x="6243355" y="2715090"/>
            <a:ext cx="932688" cy="384048"/>
          </a:xfrm>
          <a:prstGeom prst="rect">
            <a:avLst/>
          </a:prstGeom>
          <a:solidFill>
            <a:srgbClr val="FFF0EE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84" name="Text 38">
            <a:extLst>
              <a:ext uri="{FF2B5EF4-FFF2-40B4-BE49-F238E27FC236}">
                <a16:creationId xmlns:a16="http://schemas.microsoft.com/office/drawing/2014/main" id="{E91922AA-6516-A8CF-1DF2-E0E398854B53}"/>
              </a:ext>
            </a:extLst>
          </p:cNvPr>
          <p:cNvSpPr/>
          <p:nvPr/>
        </p:nvSpPr>
        <p:spPr>
          <a:xfrm>
            <a:off x="6293647" y="2788242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4.558</a:t>
            </a:r>
            <a:endParaRPr lang="en-US" sz="1050" dirty="0"/>
          </a:p>
        </p:txBody>
      </p:sp>
      <p:sp>
        <p:nvSpPr>
          <p:cNvPr id="285" name="Shape 39">
            <a:extLst>
              <a:ext uri="{FF2B5EF4-FFF2-40B4-BE49-F238E27FC236}">
                <a16:creationId xmlns:a16="http://schemas.microsoft.com/office/drawing/2014/main" id="{1189FB12-A6AC-A10E-A148-373899171275}"/>
              </a:ext>
            </a:extLst>
          </p:cNvPr>
          <p:cNvSpPr/>
          <p:nvPr/>
        </p:nvSpPr>
        <p:spPr>
          <a:xfrm>
            <a:off x="7176043" y="2715090"/>
            <a:ext cx="749808" cy="384048"/>
          </a:xfrm>
          <a:prstGeom prst="rect">
            <a:avLst/>
          </a:prstGeom>
          <a:solidFill>
            <a:srgbClr val="FFF0EE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286" name="Text 40">
            <a:extLst>
              <a:ext uri="{FF2B5EF4-FFF2-40B4-BE49-F238E27FC236}">
                <a16:creationId xmlns:a16="http://schemas.microsoft.com/office/drawing/2014/main" id="{23F653FA-1956-1067-B079-35593C359AA2}"/>
              </a:ext>
            </a:extLst>
          </p:cNvPr>
          <p:cNvSpPr/>
          <p:nvPr/>
        </p:nvSpPr>
        <p:spPr>
          <a:xfrm>
            <a:off x="7226335" y="2788242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287" name="Shape 41">
            <a:extLst>
              <a:ext uri="{FF2B5EF4-FFF2-40B4-BE49-F238E27FC236}">
                <a16:creationId xmlns:a16="http://schemas.microsoft.com/office/drawing/2014/main" id="{94AE88FC-3136-8E7D-C554-E5DECA6C4D6E}"/>
              </a:ext>
            </a:extLst>
          </p:cNvPr>
          <p:cNvSpPr/>
          <p:nvPr/>
        </p:nvSpPr>
        <p:spPr>
          <a:xfrm>
            <a:off x="665515" y="3099138"/>
            <a:ext cx="56692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88" name="Text 42">
            <a:extLst>
              <a:ext uri="{FF2B5EF4-FFF2-40B4-BE49-F238E27FC236}">
                <a16:creationId xmlns:a16="http://schemas.microsoft.com/office/drawing/2014/main" id="{57515AB1-755E-443F-0550-AA2199E8D83A}"/>
              </a:ext>
            </a:extLst>
          </p:cNvPr>
          <p:cNvSpPr/>
          <p:nvPr/>
        </p:nvSpPr>
        <p:spPr>
          <a:xfrm>
            <a:off x="715807" y="3172290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289" name="Shape 43">
            <a:extLst>
              <a:ext uri="{FF2B5EF4-FFF2-40B4-BE49-F238E27FC236}">
                <a16:creationId xmlns:a16="http://schemas.microsoft.com/office/drawing/2014/main" id="{FD042FDD-7202-06E1-E1F7-17BAE0290260}"/>
              </a:ext>
            </a:extLst>
          </p:cNvPr>
          <p:cNvSpPr/>
          <p:nvPr/>
        </p:nvSpPr>
        <p:spPr>
          <a:xfrm>
            <a:off x="1232443" y="3099138"/>
            <a:ext cx="74980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290" name="Text 44">
            <a:extLst>
              <a:ext uri="{FF2B5EF4-FFF2-40B4-BE49-F238E27FC236}">
                <a16:creationId xmlns:a16="http://schemas.microsoft.com/office/drawing/2014/main" id="{FCEA6E72-1B3D-44AA-9239-94C099901D2E}"/>
              </a:ext>
            </a:extLst>
          </p:cNvPr>
          <p:cNvSpPr/>
          <p:nvPr/>
        </p:nvSpPr>
        <p:spPr>
          <a:xfrm>
            <a:off x="1282735" y="3172290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</a:rPr>
              <a:t>4</a:t>
            </a:r>
            <a:endParaRPr lang="en-US" sz="1050" dirty="0"/>
          </a:p>
        </p:txBody>
      </p:sp>
      <p:sp>
        <p:nvSpPr>
          <p:cNvPr id="291" name="Shape 45">
            <a:extLst>
              <a:ext uri="{FF2B5EF4-FFF2-40B4-BE49-F238E27FC236}">
                <a16:creationId xmlns:a16="http://schemas.microsoft.com/office/drawing/2014/main" id="{2E66ECCC-0537-04CB-A245-03C679712B0E}"/>
              </a:ext>
            </a:extLst>
          </p:cNvPr>
          <p:cNvSpPr/>
          <p:nvPr/>
        </p:nvSpPr>
        <p:spPr>
          <a:xfrm>
            <a:off x="1982251" y="3099138"/>
            <a:ext cx="111556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92" name="Text 46">
            <a:extLst>
              <a:ext uri="{FF2B5EF4-FFF2-40B4-BE49-F238E27FC236}">
                <a16:creationId xmlns:a16="http://schemas.microsoft.com/office/drawing/2014/main" id="{C4B334A7-691A-5751-FC36-E4AE9EDA70B1}"/>
              </a:ext>
            </a:extLst>
          </p:cNvPr>
          <p:cNvSpPr/>
          <p:nvPr/>
        </p:nvSpPr>
        <p:spPr>
          <a:xfrm>
            <a:off x="2032543" y="3240870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00" dirty="0"/>
              <a:t>0.748</a:t>
            </a:r>
          </a:p>
          <a:p>
            <a:pPr algn="ctr"/>
            <a:endParaRPr lang="en-US" sz="1050" dirty="0"/>
          </a:p>
        </p:txBody>
      </p:sp>
      <p:sp>
        <p:nvSpPr>
          <p:cNvPr id="293" name="Shape 47">
            <a:extLst>
              <a:ext uri="{FF2B5EF4-FFF2-40B4-BE49-F238E27FC236}">
                <a16:creationId xmlns:a16="http://schemas.microsoft.com/office/drawing/2014/main" id="{346120E0-90D5-AE1F-15F2-19B976B47E8E}"/>
              </a:ext>
            </a:extLst>
          </p:cNvPr>
          <p:cNvSpPr/>
          <p:nvPr/>
        </p:nvSpPr>
        <p:spPr>
          <a:xfrm>
            <a:off x="3097819" y="3099138"/>
            <a:ext cx="1225296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94" name="Text 48">
            <a:extLst>
              <a:ext uri="{FF2B5EF4-FFF2-40B4-BE49-F238E27FC236}">
                <a16:creationId xmlns:a16="http://schemas.microsoft.com/office/drawing/2014/main" id="{901B7F2E-CC86-7577-4BA1-ABAE9560BFD6}"/>
              </a:ext>
            </a:extLst>
          </p:cNvPr>
          <p:cNvSpPr/>
          <p:nvPr/>
        </p:nvSpPr>
        <p:spPr>
          <a:xfrm>
            <a:off x="3148111" y="3172290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595.575</a:t>
            </a:r>
            <a:endParaRPr lang="en-US" sz="1050" dirty="0"/>
          </a:p>
        </p:txBody>
      </p:sp>
      <p:sp>
        <p:nvSpPr>
          <p:cNvPr id="295" name="Shape 49">
            <a:extLst>
              <a:ext uri="{FF2B5EF4-FFF2-40B4-BE49-F238E27FC236}">
                <a16:creationId xmlns:a16="http://schemas.microsoft.com/office/drawing/2014/main" id="{C22B8C3B-F028-2B6A-90C0-BF9C503E412A}"/>
              </a:ext>
            </a:extLst>
          </p:cNvPr>
          <p:cNvSpPr/>
          <p:nvPr/>
        </p:nvSpPr>
        <p:spPr>
          <a:xfrm>
            <a:off x="4323115" y="3099138"/>
            <a:ext cx="987552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96" name="Text 50">
            <a:extLst>
              <a:ext uri="{FF2B5EF4-FFF2-40B4-BE49-F238E27FC236}">
                <a16:creationId xmlns:a16="http://schemas.microsoft.com/office/drawing/2014/main" id="{A801BC46-B160-548D-2D03-A46BD18FF478}"/>
              </a:ext>
            </a:extLst>
          </p:cNvPr>
          <p:cNvSpPr/>
          <p:nvPr/>
        </p:nvSpPr>
        <p:spPr>
          <a:xfrm>
            <a:off x="4373407" y="3172290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0.0122</a:t>
            </a:r>
            <a:endParaRPr lang="en-US" sz="1050" dirty="0"/>
          </a:p>
        </p:txBody>
      </p:sp>
      <p:sp>
        <p:nvSpPr>
          <p:cNvPr id="297" name="Shape 51">
            <a:extLst>
              <a:ext uri="{FF2B5EF4-FFF2-40B4-BE49-F238E27FC236}">
                <a16:creationId xmlns:a16="http://schemas.microsoft.com/office/drawing/2014/main" id="{CA696067-346B-79FD-EE21-5B95E2EDFA58}"/>
              </a:ext>
            </a:extLst>
          </p:cNvPr>
          <p:cNvSpPr/>
          <p:nvPr/>
        </p:nvSpPr>
        <p:spPr>
          <a:xfrm>
            <a:off x="5310667" y="3099138"/>
            <a:ext cx="93268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98" name="Text 52">
            <a:extLst>
              <a:ext uri="{FF2B5EF4-FFF2-40B4-BE49-F238E27FC236}">
                <a16:creationId xmlns:a16="http://schemas.microsoft.com/office/drawing/2014/main" id="{0CAF80AD-D68E-07FE-0CAA-FD4C30329A0B}"/>
              </a:ext>
            </a:extLst>
          </p:cNvPr>
          <p:cNvSpPr/>
          <p:nvPr/>
        </p:nvSpPr>
        <p:spPr>
          <a:xfrm>
            <a:off x="5360959" y="3172290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84.501</a:t>
            </a:r>
            <a:endParaRPr lang="en-US" sz="1050" dirty="0"/>
          </a:p>
        </p:txBody>
      </p:sp>
      <p:sp>
        <p:nvSpPr>
          <p:cNvPr id="299" name="Shape 53">
            <a:extLst>
              <a:ext uri="{FF2B5EF4-FFF2-40B4-BE49-F238E27FC236}">
                <a16:creationId xmlns:a16="http://schemas.microsoft.com/office/drawing/2014/main" id="{59072984-7379-BA02-409D-60CAD50F8409}"/>
              </a:ext>
            </a:extLst>
          </p:cNvPr>
          <p:cNvSpPr/>
          <p:nvPr/>
        </p:nvSpPr>
        <p:spPr>
          <a:xfrm>
            <a:off x="6243355" y="3099138"/>
            <a:ext cx="93268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00" name="Text 54">
            <a:extLst>
              <a:ext uri="{FF2B5EF4-FFF2-40B4-BE49-F238E27FC236}">
                <a16:creationId xmlns:a16="http://schemas.microsoft.com/office/drawing/2014/main" id="{4020DEF1-F10B-609A-D907-F1974DE6BC50}"/>
              </a:ext>
            </a:extLst>
          </p:cNvPr>
          <p:cNvSpPr/>
          <p:nvPr/>
        </p:nvSpPr>
        <p:spPr>
          <a:xfrm>
            <a:off x="6535963" y="3163824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dirty="0">
                <a:latin typeface="Aptos" panose="020B0004020202020204" pitchFamily="34" charset="0"/>
              </a:rPr>
              <a:t>21.210</a:t>
            </a:r>
          </a:p>
        </p:txBody>
      </p:sp>
      <p:sp>
        <p:nvSpPr>
          <p:cNvPr id="301" name="Shape 55">
            <a:extLst>
              <a:ext uri="{FF2B5EF4-FFF2-40B4-BE49-F238E27FC236}">
                <a16:creationId xmlns:a16="http://schemas.microsoft.com/office/drawing/2014/main" id="{6C68A21B-E525-446D-3B54-AFEC2092CE14}"/>
              </a:ext>
            </a:extLst>
          </p:cNvPr>
          <p:cNvSpPr/>
          <p:nvPr/>
        </p:nvSpPr>
        <p:spPr>
          <a:xfrm>
            <a:off x="7176043" y="3099138"/>
            <a:ext cx="74980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02" name="Text 56">
            <a:extLst>
              <a:ext uri="{FF2B5EF4-FFF2-40B4-BE49-F238E27FC236}">
                <a16:creationId xmlns:a16="http://schemas.microsoft.com/office/drawing/2014/main" id="{6796D107-9423-CFFA-9852-BBE4C58BB853}"/>
              </a:ext>
            </a:extLst>
          </p:cNvPr>
          <p:cNvSpPr/>
          <p:nvPr/>
        </p:nvSpPr>
        <p:spPr>
          <a:xfrm>
            <a:off x="7226335" y="3172290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303" name="Shape 57">
            <a:extLst>
              <a:ext uri="{FF2B5EF4-FFF2-40B4-BE49-F238E27FC236}">
                <a16:creationId xmlns:a16="http://schemas.microsoft.com/office/drawing/2014/main" id="{402A85F1-E043-918C-224C-07C5EF267183}"/>
              </a:ext>
            </a:extLst>
          </p:cNvPr>
          <p:cNvSpPr/>
          <p:nvPr/>
        </p:nvSpPr>
        <p:spPr>
          <a:xfrm>
            <a:off x="665515" y="3483186"/>
            <a:ext cx="56692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04" name="Text 58">
            <a:extLst>
              <a:ext uri="{FF2B5EF4-FFF2-40B4-BE49-F238E27FC236}">
                <a16:creationId xmlns:a16="http://schemas.microsoft.com/office/drawing/2014/main" id="{3CCB4072-E7FE-89A3-3411-EB321652AB00}"/>
              </a:ext>
            </a:extLst>
          </p:cNvPr>
          <p:cNvSpPr/>
          <p:nvPr/>
        </p:nvSpPr>
        <p:spPr>
          <a:xfrm>
            <a:off x="715807" y="3556338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305" name="Shape 59">
            <a:extLst>
              <a:ext uri="{FF2B5EF4-FFF2-40B4-BE49-F238E27FC236}">
                <a16:creationId xmlns:a16="http://schemas.microsoft.com/office/drawing/2014/main" id="{0A3865C7-87AD-1E9E-7D1F-F4C94842EEA9}"/>
              </a:ext>
            </a:extLst>
          </p:cNvPr>
          <p:cNvSpPr/>
          <p:nvPr/>
        </p:nvSpPr>
        <p:spPr>
          <a:xfrm>
            <a:off x="1232443" y="3483186"/>
            <a:ext cx="74980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306" name="Text 60">
            <a:extLst>
              <a:ext uri="{FF2B5EF4-FFF2-40B4-BE49-F238E27FC236}">
                <a16:creationId xmlns:a16="http://schemas.microsoft.com/office/drawing/2014/main" id="{0441F684-7697-48D2-EC47-3D73A08C5EBC}"/>
              </a:ext>
            </a:extLst>
          </p:cNvPr>
          <p:cNvSpPr/>
          <p:nvPr/>
        </p:nvSpPr>
        <p:spPr>
          <a:xfrm>
            <a:off x="1282735" y="3556338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307" name="Shape 61">
            <a:extLst>
              <a:ext uri="{FF2B5EF4-FFF2-40B4-BE49-F238E27FC236}">
                <a16:creationId xmlns:a16="http://schemas.microsoft.com/office/drawing/2014/main" id="{F9D9D236-72F3-F005-1B4C-4CE77FE8E447}"/>
              </a:ext>
            </a:extLst>
          </p:cNvPr>
          <p:cNvSpPr/>
          <p:nvPr/>
        </p:nvSpPr>
        <p:spPr>
          <a:xfrm>
            <a:off x="1982251" y="3483186"/>
            <a:ext cx="111556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08" name="Text 62">
            <a:extLst>
              <a:ext uri="{FF2B5EF4-FFF2-40B4-BE49-F238E27FC236}">
                <a16:creationId xmlns:a16="http://schemas.microsoft.com/office/drawing/2014/main" id="{A30D6A9B-A30C-4F5F-827D-031D16D829E4}"/>
              </a:ext>
            </a:extLst>
          </p:cNvPr>
          <p:cNvSpPr/>
          <p:nvPr/>
        </p:nvSpPr>
        <p:spPr>
          <a:xfrm>
            <a:off x="2032543" y="3624918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latin typeface="Aptos" panose="020B0004020202020204" pitchFamily="34" charset="0"/>
              </a:rPr>
              <a:t>0.702</a:t>
            </a:r>
          </a:p>
          <a:p>
            <a:pPr algn="ctr"/>
            <a:endParaRPr lang="en-US" sz="1050" dirty="0"/>
          </a:p>
        </p:txBody>
      </p:sp>
      <p:sp>
        <p:nvSpPr>
          <p:cNvPr id="309" name="Shape 63">
            <a:extLst>
              <a:ext uri="{FF2B5EF4-FFF2-40B4-BE49-F238E27FC236}">
                <a16:creationId xmlns:a16="http://schemas.microsoft.com/office/drawing/2014/main" id="{95EFA885-A208-2517-44C5-67905DCD6C13}"/>
              </a:ext>
            </a:extLst>
          </p:cNvPr>
          <p:cNvSpPr/>
          <p:nvPr/>
        </p:nvSpPr>
        <p:spPr>
          <a:xfrm>
            <a:off x="3097819" y="3483186"/>
            <a:ext cx="1225296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10" name="Text 64">
            <a:extLst>
              <a:ext uri="{FF2B5EF4-FFF2-40B4-BE49-F238E27FC236}">
                <a16:creationId xmlns:a16="http://schemas.microsoft.com/office/drawing/2014/main" id="{217E2939-CEDB-F4E6-60CA-0790039A39DD}"/>
              </a:ext>
            </a:extLst>
          </p:cNvPr>
          <p:cNvSpPr/>
          <p:nvPr/>
        </p:nvSpPr>
        <p:spPr>
          <a:xfrm>
            <a:off x="3493008" y="3556338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dirty="0">
                <a:latin typeface="Aptos" panose="020B0004020202020204" pitchFamily="34" charset="0"/>
              </a:rPr>
              <a:t>407.626</a:t>
            </a:r>
          </a:p>
        </p:txBody>
      </p:sp>
      <p:sp>
        <p:nvSpPr>
          <p:cNvPr id="311" name="Shape 65">
            <a:extLst>
              <a:ext uri="{FF2B5EF4-FFF2-40B4-BE49-F238E27FC236}">
                <a16:creationId xmlns:a16="http://schemas.microsoft.com/office/drawing/2014/main" id="{C4E1323E-C1FE-8D74-3CD1-3C0D3B3AEFEA}"/>
              </a:ext>
            </a:extLst>
          </p:cNvPr>
          <p:cNvSpPr/>
          <p:nvPr/>
        </p:nvSpPr>
        <p:spPr>
          <a:xfrm>
            <a:off x="4323115" y="3483186"/>
            <a:ext cx="987552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12" name="Text 66">
            <a:extLst>
              <a:ext uri="{FF2B5EF4-FFF2-40B4-BE49-F238E27FC236}">
                <a16:creationId xmlns:a16="http://schemas.microsoft.com/office/drawing/2014/main" id="{EEB5F09D-04F7-9B7E-6940-5DAFD7FE021E}"/>
              </a:ext>
            </a:extLst>
          </p:cNvPr>
          <p:cNvSpPr/>
          <p:nvPr/>
        </p:nvSpPr>
        <p:spPr>
          <a:xfrm>
            <a:off x="4614403" y="3565143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dirty="0">
                <a:latin typeface="Aptos" panose="020B0004020202020204" pitchFamily="34" charset="0"/>
              </a:rPr>
              <a:t>0.018</a:t>
            </a:r>
          </a:p>
        </p:txBody>
      </p:sp>
      <p:sp>
        <p:nvSpPr>
          <p:cNvPr id="313" name="Shape 67">
            <a:extLst>
              <a:ext uri="{FF2B5EF4-FFF2-40B4-BE49-F238E27FC236}">
                <a16:creationId xmlns:a16="http://schemas.microsoft.com/office/drawing/2014/main" id="{D422A05E-F588-45E3-5CD5-1F6E60F7D5E1}"/>
              </a:ext>
            </a:extLst>
          </p:cNvPr>
          <p:cNvSpPr/>
          <p:nvPr/>
        </p:nvSpPr>
        <p:spPr>
          <a:xfrm>
            <a:off x="5310667" y="3483186"/>
            <a:ext cx="93268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314" name="Text 68">
            <a:extLst>
              <a:ext uri="{FF2B5EF4-FFF2-40B4-BE49-F238E27FC236}">
                <a16:creationId xmlns:a16="http://schemas.microsoft.com/office/drawing/2014/main" id="{26978C0E-AA2D-58A1-4851-78D5039A8414}"/>
              </a:ext>
            </a:extLst>
          </p:cNvPr>
          <p:cNvSpPr/>
          <p:nvPr/>
        </p:nvSpPr>
        <p:spPr>
          <a:xfrm>
            <a:off x="5532594" y="3565143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dirty="0">
                <a:latin typeface="Aptos" panose="020B0004020202020204" pitchFamily="34" charset="0"/>
              </a:rPr>
              <a:t>109.375</a:t>
            </a:r>
          </a:p>
        </p:txBody>
      </p:sp>
      <p:sp>
        <p:nvSpPr>
          <p:cNvPr id="315" name="Shape 69">
            <a:extLst>
              <a:ext uri="{FF2B5EF4-FFF2-40B4-BE49-F238E27FC236}">
                <a16:creationId xmlns:a16="http://schemas.microsoft.com/office/drawing/2014/main" id="{BD593084-6CCE-3D45-1B11-7C3F3038A4FF}"/>
              </a:ext>
            </a:extLst>
          </p:cNvPr>
          <p:cNvSpPr/>
          <p:nvPr/>
        </p:nvSpPr>
        <p:spPr>
          <a:xfrm>
            <a:off x="6243355" y="3483186"/>
            <a:ext cx="93268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316" name="Text 70">
            <a:extLst>
              <a:ext uri="{FF2B5EF4-FFF2-40B4-BE49-F238E27FC236}">
                <a16:creationId xmlns:a16="http://schemas.microsoft.com/office/drawing/2014/main" id="{429D0EC4-5C7C-175E-F1DC-2326FB701D91}"/>
              </a:ext>
            </a:extLst>
          </p:cNvPr>
          <p:cNvSpPr/>
          <p:nvPr/>
        </p:nvSpPr>
        <p:spPr>
          <a:xfrm>
            <a:off x="6293647" y="3602058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latin typeface="Aptos" panose="020B0004020202020204" pitchFamily="34" charset="0"/>
              </a:rPr>
              <a:t>0.981</a:t>
            </a:r>
          </a:p>
          <a:p>
            <a:pPr algn="ctr"/>
            <a:endParaRPr lang="en-US" sz="1050" dirty="0"/>
          </a:p>
        </p:txBody>
      </p:sp>
      <p:sp>
        <p:nvSpPr>
          <p:cNvPr id="317" name="Shape 71">
            <a:extLst>
              <a:ext uri="{FF2B5EF4-FFF2-40B4-BE49-F238E27FC236}">
                <a16:creationId xmlns:a16="http://schemas.microsoft.com/office/drawing/2014/main" id="{DB7D96F0-FE30-59C4-7CCF-A97B4BFDAD98}"/>
              </a:ext>
            </a:extLst>
          </p:cNvPr>
          <p:cNvSpPr/>
          <p:nvPr/>
        </p:nvSpPr>
        <p:spPr>
          <a:xfrm>
            <a:off x="7176043" y="3483186"/>
            <a:ext cx="74980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18" name="Text 72">
            <a:extLst>
              <a:ext uri="{FF2B5EF4-FFF2-40B4-BE49-F238E27FC236}">
                <a16:creationId xmlns:a16="http://schemas.microsoft.com/office/drawing/2014/main" id="{F19C3313-7B85-8431-720C-A3D55E25DE17}"/>
              </a:ext>
            </a:extLst>
          </p:cNvPr>
          <p:cNvSpPr/>
          <p:nvPr/>
        </p:nvSpPr>
        <p:spPr>
          <a:xfrm>
            <a:off x="7226335" y="3556338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319" name="Shape 73">
            <a:extLst>
              <a:ext uri="{FF2B5EF4-FFF2-40B4-BE49-F238E27FC236}">
                <a16:creationId xmlns:a16="http://schemas.microsoft.com/office/drawing/2014/main" id="{21F8E39E-DC41-3469-9B8D-CEBDA0E1E6E1}"/>
              </a:ext>
            </a:extLst>
          </p:cNvPr>
          <p:cNvSpPr/>
          <p:nvPr/>
        </p:nvSpPr>
        <p:spPr>
          <a:xfrm>
            <a:off x="665515" y="3867234"/>
            <a:ext cx="56692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20" name="Text 74">
            <a:extLst>
              <a:ext uri="{FF2B5EF4-FFF2-40B4-BE49-F238E27FC236}">
                <a16:creationId xmlns:a16="http://schemas.microsoft.com/office/drawing/2014/main" id="{CF05382B-120D-A64A-4151-86AC0644855C}"/>
              </a:ext>
            </a:extLst>
          </p:cNvPr>
          <p:cNvSpPr/>
          <p:nvPr/>
        </p:nvSpPr>
        <p:spPr>
          <a:xfrm>
            <a:off x="715807" y="3940386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321" name="Shape 75">
            <a:extLst>
              <a:ext uri="{FF2B5EF4-FFF2-40B4-BE49-F238E27FC236}">
                <a16:creationId xmlns:a16="http://schemas.microsoft.com/office/drawing/2014/main" id="{E36C59E2-C866-310F-7F08-4653DF83676E}"/>
              </a:ext>
            </a:extLst>
          </p:cNvPr>
          <p:cNvSpPr/>
          <p:nvPr/>
        </p:nvSpPr>
        <p:spPr>
          <a:xfrm>
            <a:off x="1232443" y="3867234"/>
            <a:ext cx="74980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322" name="Text 76">
            <a:extLst>
              <a:ext uri="{FF2B5EF4-FFF2-40B4-BE49-F238E27FC236}">
                <a16:creationId xmlns:a16="http://schemas.microsoft.com/office/drawing/2014/main" id="{A35245EA-3A12-FA98-B8D8-433700608777}"/>
              </a:ext>
            </a:extLst>
          </p:cNvPr>
          <p:cNvSpPr/>
          <p:nvPr/>
        </p:nvSpPr>
        <p:spPr>
          <a:xfrm>
            <a:off x="1282735" y="3940386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</a:rPr>
              <a:t>1</a:t>
            </a:r>
            <a:endParaRPr lang="en-US" sz="1050" dirty="0"/>
          </a:p>
        </p:txBody>
      </p:sp>
      <p:sp>
        <p:nvSpPr>
          <p:cNvPr id="323" name="Shape 77">
            <a:extLst>
              <a:ext uri="{FF2B5EF4-FFF2-40B4-BE49-F238E27FC236}">
                <a16:creationId xmlns:a16="http://schemas.microsoft.com/office/drawing/2014/main" id="{F239F815-27AA-CE8D-2309-7D4CDD8A6F30}"/>
              </a:ext>
            </a:extLst>
          </p:cNvPr>
          <p:cNvSpPr/>
          <p:nvPr/>
        </p:nvSpPr>
        <p:spPr>
          <a:xfrm>
            <a:off x="1982251" y="3867234"/>
            <a:ext cx="111556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324" name="Text 78">
            <a:extLst>
              <a:ext uri="{FF2B5EF4-FFF2-40B4-BE49-F238E27FC236}">
                <a16:creationId xmlns:a16="http://schemas.microsoft.com/office/drawing/2014/main" id="{854ACF21-3A2F-B74F-C719-A78EEFE95FC1}"/>
              </a:ext>
            </a:extLst>
          </p:cNvPr>
          <p:cNvSpPr/>
          <p:nvPr/>
        </p:nvSpPr>
        <p:spPr>
          <a:xfrm>
            <a:off x="2193410" y="3927516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dirty="0">
                <a:latin typeface="Aptos" panose="020B0004020202020204" pitchFamily="34" charset="0"/>
              </a:rPr>
              <a:t>   </a:t>
            </a:r>
            <a:r>
              <a:rPr lang="en-US" sz="1050" dirty="0">
                <a:latin typeface="Aptos" panose="020B0004020202020204" pitchFamily="34" charset="0"/>
              </a:rPr>
              <a:t>0.2736</a:t>
            </a:r>
          </a:p>
        </p:txBody>
      </p:sp>
      <p:sp>
        <p:nvSpPr>
          <p:cNvPr id="325" name="Shape 79">
            <a:extLst>
              <a:ext uri="{FF2B5EF4-FFF2-40B4-BE49-F238E27FC236}">
                <a16:creationId xmlns:a16="http://schemas.microsoft.com/office/drawing/2014/main" id="{AAC1792A-6CC9-9A7B-CDFC-4DD205A8E279}"/>
              </a:ext>
            </a:extLst>
          </p:cNvPr>
          <p:cNvSpPr/>
          <p:nvPr/>
        </p:nvSpPr>
        <p:spPr>
          <a:xfrm>
            <a:off x="3097819" y="3890094"/>
            <a:ext cx="1225296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26" name="Text 80">
            <a:extLst>
              <a:ext uri="{FF2B5EF4-FFF2-40B4-BE49-F238E27FC236}">
                <a16:creationId xmlns:a16="http://schemas.microsoft.com/office/drawing/2014/main" id="{4B29CA73-836B-B9E1-25AE-019537466A4C}"/>
              </a:ext>
            </a:extLst>
          </p:cNvPr>
          <p:cNvSpPr/>
          <p:nvPr/>
        </p:nvSpPr>
        <p:spPr>
          <a:xfrm>
            <a:off x="3148111" y="3940386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algn="ctr"/>
            <a:endParaRPr lang="en-US" sz="1050" dirty="0">
              <a:latin typeface="Aptos" panose="020B0004020202020204" pitchFamily="34" charset="0"/>
            </a:endParaRPr>
          </a:p>
          <a:p>
            <a:pPr algn="ctr"/>
            <a:r>
              <a:rPr lang="en-US" sz="1050" dirty="0">
                <a:latin typeface="Aptos" panose="020B0004020202020204" pitchFamily="34" charset="0"/>
              </a:rPr>
              <a:t>161.208</a:t>
            </a:r>
          </a:p>
          <a:p>
            <a:pPr algn="ctr"/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27" name="Shape 81">
            <a:extLst>
              <a:ext uri="{FF2B5EF4-FFF2-40B4-BE49-F238E27FC236}">
                <a16:creationId xmlns:a16="http://schemas.microsoft.com/office/drawing/2014/main" id="{CE95C744-60B7-5903-41B5-55DA43E75947}"/>
              </a:ext>
            </a:extLst>
          </p:cNvPr>
          <p:cNvSpPr/>
          <p:nvPr/>
        </p:nvSpPr>
        <p:spPr>
          <a:xfrm>
            <a:off x="4323115" y="3867234"/>
            <a:ext cx="987552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28" name="Text 82">
            <a:extLst>
              <a:ext uri="{FF2B5EF4-FFF2-40B4-BE49-F238E27FC236}">
                <a16:creationId xmlns:a16="http://schemas.microsoft.com/office/drawing/2014/main" id="{351BB76D-7C54-0F08-D027-4F2EE6500D79}"/>
              </a:ext>
            </a:extLst>
          </p:cNvPr>
          <p:cNvSpPr/>
          <p:nvPr/>
        </p:nvSpPr>
        <p:spPr>
          <a:xfrm>
            <a:off x="4373407" y="3992201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latin typeface="Aptos" panose="020B0004020202020204" pitchFamily="34" charset="0"/>
              </a:rPr>
              <a:t>0.0461</a:t>
            </a:r>
          </a:p>
          <a:p>
            <a:pPr algn="ctr"/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29" name="Shape 83">
            <a:extLst>
              <a:ext uri="{FF2B5EF4-FFF2-40B4-BE49-F238E27FC236}">
                <a16:creationId xmlns:a16="http://schemas.microsoft.com/office/drawing/2014/main" id="{2F8F94F0-04C7-EB66-FDD3-6AD683BB43FE}"/>
              </a:ext>
            </a:extLst>
          </p:cNvPr>
          <p:cNvSpPr/>
          <p:nvPr/>
        </p:nvSpPr>
        <p:spPr>
          <a:xfrm>
            <a:off x="5310667" y="3867234"/>
            <a:ext cx="93268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30" name="Text 84">
            <a:extLst>
              <a:ext uri="{FF2B5EF4-FFF2-40B4-BE49-F238E27FC236}">
                <a16:creationId xmlns:a16="http://schemas.microsoft.com/office/drawing/2014/main" id="{F998787F-688F-FFFB-97B4-811FCDC0CAC2}"/>
              </a:ext>
            </a:extLst>
          </p:cNvPr>
          <p:cNvSpPr/>
          <p:nvPr/>
        </p:nvSpPr>
        <p:spPr>
          <a:xfrm>
            <a:off x="5360959" y="3986106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/>
              <a:t>34.394</a:t>
            </a:r>
          </a:p>
          <a:p>
            <a:pPr algn="ctr"/>
            <a:endParaRPr lang="en-US" sz="1050" dirty="0"/>
          </a:p>
        </p:txBody>
      </p:sp>
      <p:sp>
        <p:nvSpPr>
          <p:cNvPr id="331" name="Shape 85">
            <a:extLst>
              <a:ext uri="{FF2B5EF4-FFF2-40B4-BE49-F238E27FC236}">
                <a16:creationId xmlns:a16="http://schemas.microsoft.com/office/drawing/2014/main" id="{C948F700-9A2F-CD1F-94CB-CBB48264BF68}"/>
              </a:ext>
            </a:extLst>
          </p:cNvPr>
          <p:cNvSpPr/>
          <p:nvPr/>
        </p:nvSpPr>
        <p:spPr>
          <a:xfrm>
            <a:off x="6243355" y="3867234"/>
            <a:ext cx="93268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32" name="Text 86">
            <a:extLst>
              <a:ext uri="{FF2B5EF4-FFF2-40B4-BE49-F238E27FC236}">
                <a16:creationId xmlns:a16="http://schemas.microsoft.com/office/drawing/2014/main" id="{417C78BE-FAF8-A317-5376-431D0EA3328B}"/>
              </a:ext>
            </a:extLst>
          </p:cNvPr>
          <p:cNvSpPr/>
          <p:nvPr/>
        </p:nvSpPr>
        <p:spPr>
          <a:xfrm>
            <a:off x="6285554" y="3986106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/>
              <a:t>4.556</a:t>
            </a:r>
          </a:p>
          <a:p>
            <a:pPr algn="ctr"/>
            <a:endParaRPr lang="en-US" sz="1050" dirty="0"/>
          </a:p>
        </p:txBody>
      </p:sp>
      <p:sp>
        <p:nvSpPr>
          <p:cNvPr id="333" name="Shape 87">
            <a:extLst>
              <a:ext uri="{FF2B5EF4-FFF2-40B4-BE49-F238E27FC236}">
                <a16:creationId xmlns:a16="http://schemas.microsoft.com/office/drawing/2014/main" id="{2E0D19EF-0707-F29F-3190-B1E8BD72DB5B}"/>
              </a:ext>
            </a:extLst>
          </p:cNvPr>
          <p:cNvSpPr/>
          <p:nvPr/>
        </p:nvSpPr>
        <p:spPr>
          <a:xfrm>
            <a:off x="7176043" y="3867234"/>
            <a:ext cx="74980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34" name="Text 88">
            <a:extLst>
              <a:ext uri="{FF2B5EF4-FFF2-40B4-BE49-F238E27FC236}">
                <a16:creationId xmlns:a16="http://schemas.microsoft.com/office/drawing/2014/main" id="{410A7CAB-5C9E-BF3F-895F-AC6FE44693D0}"/>
              </a:ext>
            </a:extLst>
          </p:cNvPr>
          <p:cNvSpPr/>
          <p:nvPr/>
        </p:nvSpPr>
        <p:spPr>
          <a:xfrm>
            <a:off x="7226335" y="3940386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363" name="Shape 153">
            <a:extLst>
              <a:ext uri="{FF2B5EF4-FFF2-40B4-BE49-F238E27FC236}">
                <a16:creationId xmlns:a16="http://schemas.microsoft.com/office/drawing/2014/main" id="{DAF60D1F-4F10-9F3C-B7D5-0ABD40007F33}"/>
              </a:ext>
            </a:extLst>
          </p:cNvPr>
          <p:cNvSpPr/>
          <p:nvPr/>
        </p:nvSpPr>
        <p:spPr>
          <a:xfrm>
            <a:off x="8365505" y="2285322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0EE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4" name="Text 154">
            <a:extLst>
              <a:ext uri="{FF2B5EF4-FFF2-40B4-BE49-F238E27FC236}">
                <a16:creationId xmlns:a16="http://schemas.microsoft.com/office/drawing/2014/main" id="{38ABA092-BC77-D3FF-6D22-B731DFF90EDA}"/>
              </a:ext>
            </a:extLst>
          </p:cNvPr>
          <p:cNvSpPr/>
          <p:nvPr/>
        </p:nvSpPr>
        <p:spPr>
          <a:xfrm>
            <a:off x="8575817" y="254135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C039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score</a:t>
            </a:r>
            <a:endParaRPr lang="en-US" sz="1060" dirty="0">
              <a:solidFill>
                <a:srgbClr val="C0392B"/>
              </a:solidFill>
            </a:endParaRPr>
          </a:p>
        </p:txBody>
      </p:sp>
      <p:sp>
        <p:nvSpPr>
          <p:cNvPr id="365" name="Text 155">
            <a:extLst>
              <a:ext uri="{FF2B5EF4-FFF2-40B4-BE49-F238E27FC236}">
                <a16:creationId xmlns:a16="http://schemas.microsoft.com/office/drawing/2014/main" id="{2414850D-8B44-CDB9-E21E-1C4441C41038}"/>
              </a:ext>
            </a:extLst>
          </p:cNvPr>
          <p:cNvSpPr/>
          <p:nvPr/>
        </p:nvSpPr>
        <p:spPr>
          <a:xfrm>
            <a:off x="8575817" y="287968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4  •  0.9568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8865B"/>
          </a:solidFill>
          <a:ln w="12700">
            <a:solidFill>
              <a:srgbClr val="1886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642104" y="4292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865B"/>
                </a:solidFill>
              </a:rPr>
              <a:t>TOPSIS Algorithm 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6720" y="9956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</a:rPr>
              <a:t>IoT-Sense — best ranked offer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9022080" y="703072"/>
            <a:ext cx="2514600" cy="402336"/>
          </a:xfrm>
          <a:prstGeom prst="roundRect">
            <a:avLst>
              <a:gd name="adj" fmla="val 18182"/>
            </a:avLst>
          </a:prstGeom>
          <a:solidFill>
            <a:srgbClr val="EAF8F1"/>
          </a:solidFill>
          <a:ln w="12700">
            <a:solidFill>
              <a:srgbClr val="18865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13520" y="81280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8865B"/>
                </a:solidFill>
              </a:rPr>
              <a:t>slice = mMTC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6720" y="1526032"/>
            <a:ext cx="11173968" cy="457200"/>
          </a:xfrm>
          <a:prstGeom prst="roundRect">
            <a:avLst>
              <a:gd name="adj" fmla="val 16000"/>
            </a:avLst>
          </a:prstGeom>
          <a:solidFill>
            <a:srgbClr val="EAF8F1"/>
          </a:solidFill>
          <a:ln w="12700">
            <a:solidFill>
              <a:srgbClr val="EAF8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09600" y="1654048"/>
            <a:ext cx="10835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80" b="1" dirty="0">
                <a:solidFill>
                  <a:srgbClr val="18865B"/>
                </a:solidFill>
              </a:rPr>
              <a:t>User Intent: User wants an mMTC slice for IoT sensing with throughput (≥ 20), latency (≤ 10), cost (≤ 50), and energy (≤ 100) limits.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609600" y="22849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Best TOPSIS score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600" y="25227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88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0.6993</a:t>
            </a:r>
            <a:endParaRPr lang="en-US" sz="3100" dirty="0">
              <a:solidFill>
                <a:srgbClr val="18865B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09600" y="31353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Rank 1 • Offer 4 • Feasible: true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41520" y="2294128"/>
            <a:ext cx="2240280" cy="384048"/>
          </a:xfrm>
          <a:prstGeom prst="rect">
            <a:avLst/>
          </a:prstGeom>
          <a:solidFill>
            <a:srgbClr val="18865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51248" y="2344420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781800" y="2294128"/>
            <a:ext cx="3794760" cy="384048"/>
          </a:xfrm>
          <a:prstGeom prst="rect">
            <a:avLst/>
          </a:prstGeom>
          <a:solidFill>
            <a:srgbClr val="18865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91528" y="234442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41520" y="2678176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51248" y="2728468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81800" y="2678176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91528" y="2728468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41520" y="3062224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51248" y="3112516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ID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781800" y="3062224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891528" y="3112516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</a:rPr>
              <a:t>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41520" y="3446272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51248" y="349656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TOPSIS score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781800" y="3502321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891528" y="3496564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endParaRPr lang="en-US" sz="1400" dirty="0"/>
          </a:p>
          <a:p>
            <a:r>
              <a:rPr lang="en-US" sz="1400" dirty="0"/>
              <a:t>0.699</a:t>
            </a:r>
          </a:p>
          <a:p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41520" y="3830320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651248" y="3880612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Throughput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781800" y="3830320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891528" y="3880612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312.088 Mbps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41520" y="4214368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651248" y="4264660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781800" y="4214368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891528" y="426466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0.154 ms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41520" y="4598416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651248" y="4648708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781800" y="4598416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891528" y="4648708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€10.385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41520" y="4982464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651248" y="5032756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781800" y="4982464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891528" y="5032756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5.786 W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41520" y="5366512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651248" y="541680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Feasible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781800" y="5366512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891528" y="5416804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</a:t>
            </a:r>
            <a:endParaRPr lang="en-US" sz="1100" dirty="0"/>
          </a:p>
        </p:txBody>
      </p:sp>
      <p:sp>
        <p:nvSpPr>
          <p:cNvPr id="57" name="Shape 49">
            <a:extLst>
              <a:ext uri="{FF2B5EF4-FFF2-40B4-BE49-F238E27FC236}">
                <a16:creationId xmlns:a16="http://schemas.microsoft.com/office/drawing/2014/main" id="{F1B62407-2263-A42D-F4DF-59F7FD10791C}"/>
              </a:ext>
            </a:extLst>
          </p:cNvPr>
          <p:cNvSpPr/>
          <p:nvPr/>
        </p:nvSpPr>
        <p:spPr>
          <a:xfrm>
            <a:off x="362712" y="5970016"/>
            <a:ext cx="26700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0">
            <a:extLst>
              <a:ext uri="{FF2B5EF4-FFF2-40B4-BE49-F238E27FC236}">
                <a16:creationId xmlns:a16="http://schemas.microsoft.com/office/drawing/2014/main" id="{9F04BA77-EB78-7AA6-9280-CB639B2A1A5E}"/>
              </a:ext>
            </a:extLst>
          </p:cNvPr>
          <p:cNvSpPr/>
          <p:nvPr/>
        </p:nvSpPr>
        <p:spPr>
          <a:xfrm>
            <a:off x="527304" y="6079744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Throughput min</a:t>
            </a:r>
            <a:endParaRPr lang="en-US" sz="850" dirty="0"/>
          </a:p>
        </p:txBody>
      </p:sp>
      <p:sp>
        <p:nvSpPr>
          <p:cNvPr id="59" name="Text 51">
            <a:extLst>
              <a:ext uri="{FF2B5EF4-FFF2-40B4-BE49-F238E27FC236}">
                <a16:creationId xmlns:a16="http://schemas.microsoft.com/office/drawing/2014/main" id="{842AAEBC-148C-6721-7418-8EA0F4278388}"/>
              </a:ext>
            </a:extLst>
          </p:cNvPr>
          <p:cNvSpPr/>
          <p:nvPr/>
        </p:nvSpPr>
        <p:spPr>
          <a:xfrm>
            <a:off x="527304" y="6299200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8865B"/>
                </a:solidFill>
              </a:rPr>
              <a:t>20.0 Mbps</a:t>
            </a:r>
            <a:endParaRPr lang="en-US" dirty="0"/>
          </a:p>
        </p:txBody>
      </p:sp>
      <p:sp>
        <p:nvSpPr>
          <p:cNvPr id="60" name="Shape 52">
            <a:extLst>
              <a:ext uri="{FF2B5EF4-FFF2-40B4-BE49-F238E27FC236}">
                <a16:creationId xmlns:a16="http://schemas.microsoft.com/office/drawing/2014/main" id="{537CEB09-8721-73F1-E0F8-40EC4D8D78C0}"/>
              </a:ext>
            </a:extLst>
          </p:cNvPr>
          <p:cNvSpPr/>
          <p:nvPr/>
        </p:nvSpPr>
        <p:spPr>
          <a:xfrm>
            <a:off x="3197352" y="5970016"/>
            <a:ext cx="26700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3">
            <a:extLst>
              <a:ext uri="{FF2B5EF4-FFF2-40B4-BE49-F238E27FC236}">
                <a16:creationId xmlns:a16="http://schemas.microsoft.com/office/drawing/2014/main" id="{852550C2-9AEC-20B3-E27C-C3608BD642C3}"/>
              </a:ext>
            </a:extLst>
          </p:cNvPr>
          <p:cNvSpPr/>
          <p:nvPr/>
        </p:nvSpPr>
        <p:spPr>
          <a:xfrm>
            <a:off x="3361944" y="6079744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Latency max</a:t>
            </a:r>
            <a:endParaRPr lang="en-US" sz="850" dirty="0"/>
          </a:p>
        </p:txBody>
      </p:sp>
      <p:sp>
        <p:nvSpPr>
          <p:cNvPr id="62" name="Text 54">
            <a:extLst>
              <a:ext uri="{FF2B5EF4-FFF2-40B4-BE49-F238E27FC236}">
                <a16:creationId xmlns:a16="http://schemas.microsoft.com/office/drawing/2014/main" id="{B465B296-83DC-1ED6-A9F1-C68C710A23E2}"/>
              </a:ext>
            </a:extLst>
          </p:cNvPr>
          <p:cNvSpPr/>
          <p:nvPr/>
        </p:nvSpPr>
        <p:spPr>
          <a:xfrm>
            <a:off x="3361944" y="6299200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8865B"/>
                </a:solidFill>
              </a:rPr>
              <a:t>10.0 ms</a:t>
            </a:r>
            <a:endParaRPr lang="en-US" dirty="0"/>
          </a:p>
        </p:txBody>
      </p:sp>
      <p:sp>
        <p:nvSpPr>
          <p:cNvPr id="63" name="Shape 55">
            <a:extLst>
              <a:ext uri="{FF2B5EF4-FFF2-40B4-BE49-F238E27FC236}">
                <a16:creationId xmlns:a16="http://schemas.microsoft.com/office/drawing/2014/main" id="{AC97FC7D-81F4-5BF9-5FF8-4637991D9550}"/>
              </a:ext>
            </a:extLst>
          </p:cNvPr>
          <p:cNvSpPr/>
          <p:nvPr/>
        </p:nvSpPr>
        <p:spPr>
          <a:xfrm>
            <a:off x="6031992" y="5970016"/>
            <a:ext cx="26700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56">
            <a:extLst>
              <a:ext uri="{FF2B5EF4-FFF2-40B4-BE49-F238E27FC236}">
                <a16:creationId xmlns:a16="http://schemas.microsoft.com/office/drawing/2014/main" id="{F048995D-AC8D-A164-829E-EBA052D35ADD}"/>
              </a:ext>
            </a:extLst>
          </p:cNvPr>
          <p:cNvSpPr/>
          <p:nvPr/>
        </p:nvSpPr>
        <p:spPr>
          <a:xfrm>
            <a:off x="6196584" y="6079744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Cost max</a:t>
            </a:r>
            <a:endParaRPr lang="en-US" sz="850" dirty="0"/>
          </a:p>
        </p:txBody>
      </p:sp>
      <p:sp>
        <p:nvSpPr>
          <p:cNvPr id="65" name="Text 57">
            <a:extLst>
              <a:ext uri="{FF2B5EF4-FFF2-40B4-BE49-F238E27FC236}">
                <a16:creationId xmlns:a16="http://schemas.microsoft.com/office/drawing/2014/main" id="{4F9E57EB-99BF-8E16-6708-83D32E538C63}"/>
              </a:ext>
            </a:extLst>
          </p:cNvPr>
          <p:cNvSpPr/>
          <p:nvPr/>
        </p:nvSpPr>
        <p:spPr>
          <a:xfrm>
            <a:off x="6196584" y="6299200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8865B"/>
                </a:solidFill>
              </a:rPr>
              <a:t>€50.0</a:t>
            </a:r>
            <a:endParaRPr lang="en-US" dirty="0"/>
          </a:p>
        </p:txBody>
      </p:sp>
      <p:sp>
        <p:nvSpPr>
          <p:cNvPr id="66" name="Shape 58">
            <a:extLst>
              <a:ext uri="{FF2B5EF4-FFF2-40B4-BE49-F238E27FC236}">
                <a16:creationId xmlns:a16="http://schemas.microsoft.com/office/drawing/2014/main" id="{0CA84FD9-19F6-8729-EED3-3DA3459F2ACE}"/>
              </a:ext>
            </a:extLst>
          </p:cNvPr>
          <p:cNvSpPr/>
          <p:nvPr/>
        </p:nvSpPr>
        <p:spPr>
          <a:xfrm>
            <a:off x="8866632" y="5970016"/>
            <a:ext cx="26700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59">
            <a:extLst>
              <a:ext uri="{FF2B5EF4-FFF2-40B4-BE49-F238E27FC236}">
                <a16:creationId xmlns:a16="http://schemas.microsoft.com/office/drawing/2014/main" id="{9D84B4F3-1699-104E-2342-835811707A9C}"/>
              </a:ext>
            </a:extLst>
          </p:cNvPr>
          <p:cNvSpPr/>
          <p:nvPr/>
        </p:nvSpPr>
        <p:spPr>
          <a:xfrm>
            <a:off x="9031224" y="6079744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Energy max</a:t>
            </a:r>
            <a:endParaRPr lang="en-US" sz="850" dirty="0"/>
          </a:p>
        </p:txBody>
      </p:sp>
      <p:sp>
        <p:nvSpPr>
          <p:cNvPr id="68" name="Text 60">
            <a:extLst>
              <a:ext uri="{FF2B5EF4-FFF2-40B4-BE49-F238E27FC236}">
                <a16:creationId xmlns:a16="http://schemas.microsoft.com/office/drawing/2014/main" id="{B25CEC17-E713-EEBC-3918-6AAEBC8A1BA3}"/>
              </a:ext>
            </a:extLst>
          </p:cNvPr>
          <p:cNvSpPr/>
          <p:nvPr/>
        </p:nvSpPr>
        <p:spPr>
          <a:xfrm>
            <a:off x="9031224" y="6299200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8865B"/>
                </a:solidFill>
              </a:rPr>
              <a:t>100.0 W</a:t>
            </a:r>
            <a:endParaRPr lang="en-US" dirty="0"/>
          </a:p>
        </p:txBody>
      </p:sp>
      <p:pic>
        <p:nvPicPr>
          <p:cNvPr id="69" name="Picture 2">
            <a:extLst>
              <a:ext uri="{FF2B5EF4-FFF2-40B4-BE49-F238E27FC236}">
                <a16:creationId xmlns:a16="http://schemas.microsoft.com/office/drawing/2014/main" id="{7121279C-2AB8-1CBC-7D5E-CD85CE2F5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615" y="246888"/>
            <a:ext cx="2446591" cy="710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hape 2">
            <a:extLst>
              <a:ext uri="{FF2B5EF4-FFF2-40B4-BE49-F238E27FC236}">
                <a16:creationId xmlns:a16="http://schemas.microsoft.com/office/drawing/2014/main" id="{0A749075-4CAE-17D0-2A3D-972AABD7E5CB}"/>
              </a:ext>
            </a:extLst>
          </p:cNvPr>
          <p:cNvSpPr/>
          <p:nvPr/>
        </p:nvSpPr>
        <p:spPr>
          <a:xfrm>
            <a:off x="4532376" y="1096264"/>
            <a:ext cx="715095" cy="237744"/>
          </a:xfrm>
          <a:prstGeom prst="roundRect">
            <a:avLst>
              <a:gd name="adj" fmla="val 14286"/>
            </a:avLst>
          </a:prstGeom>
          <a:solidFill>
            <a:srgbClr val="18865B"/>
          </a:solidFill>
          <a:ln w="12700">
            <a:solidFill>
              <a:srgbClr val="2F6FDB">
                <a:alpha val="70000"/>
              </a:srgbClr>
            </a:solidFill>
            <a:prstDash val="solid"/>
          </a:ln>
        </p:spPr>
        <p:txBody>
          <a:bodyPr/>
          <a:lstStyle/>
          <a:p>
            <a:r>
              <a:rPr lang="en-US" sz="1020" dirty="0">
                <a:solidFill>
                  <a:schemeClr val="bg1"/>
                </a:solidFill>
                <a:latin typeface="Aptos" panose="020B0004020202020204" pitchFamily="34" charset="0"/>
              </a:rPr>
              <a:t> MCS:28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865B"/>
          </a:solidFill>
          <a:ln w="12700">
            <a:solidFill>
              <a:srgbClr val="1886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3657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88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TOPSIS Algorithm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281160" y="329184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EAF8F1"/>
          </a:solidFill>
          <a:ln w="12700">
            <a:solidFill>
              <a:srgbClr val="18865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00032" y="448056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88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IoT-Sense • mMTC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658368" y="7498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IoT-Sense: all ranked offers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658368" y="1225296"/>
            <a:ext cx="10863072" cy="566928"/>
          </a:xfrm>
          <a:prstGeom prst="roundRect">
            <a:avLst>
              <a:gd name="adj" fmla="val 9677"/>
            </a:avLst>
          </a:prstGeom>
          <a:solidFill>
            <a:srgbClr val="EAF8F1"/>
          </a:solidFill>
          <a:ln w="12700">
            <a:solidFill>
              <a:srgbClr val="EAF8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9536" y="1389888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1400" b="1" dirty="0">
                <a:solidFill>
                  <a:srgbClr val="18865B"/>
                </a:solidFill>
              </a:rPr>
              <a:t>User Intent: User wants an mMTC slice for IoT sensing with throughput (≥ 20), latency (≤ 10), cost (≤ 50), and energy (≤ 100) limits.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1975104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Criterion type: max, min, min, min • Weights: 0.2, 0.2, 0.3, 0.3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8368" y="2286000"/>
            <a:ext cx="566928" cy="384048"/>
          </a:xfrm>
          <a:prstGeom prst="rect">
            <a:avLst/>
          </a:prstGeom>
          <a:solidFill>
            <a:srgbClr val="18865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8660" y="2359152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225296" y="2286000"/>
            <a:ext cx="749808" cy="384048"/>
          </a:xfrm>
          <a:prstGeom prst="rect">
            <a:avLst/>
          </a:prstGeom>
          <a:solidFill>
            <a:srgbClr val="18865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75588" y="2359152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975104" y="2286000"/>
            <a:ext cx="1115568" cy="384048"/>
          </a:xfrm>
          <a:prstGeom prst="rect">
            <a:avLst/>
          </a:prstGeom>
          <a:solidFill>
            <a:srgbClr val="18865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025396" y="2359152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090672" y="2286000"/>
            <a:ext cx="1225296" cy="384048"/>
          </a:xfrm>
          <a:prstGeom prst="rect">
            <a:avLst/>
          </a:prstGeom>
          <a:solidFill>
            <a:srgbClr val="18865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140964" y="2359152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Throughput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15968" y="2286000"/>
            <a:ext cx="987552" cy="384048"/>
          </a:xfrm>
          <a:prstGeom prst="rect">
            <a:avLst/>
          </a:prstGeom>
          <a:solidFill>
            <a:srgbClr val="18865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366260" y="2359152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303520" y="2286000"/>
            <a:ext cx="932688" cy="384048"/>
          </a:xfrm>
          <a:prstGeom prst="rect">
            <a:avLst/>
          </a:prstGeom>
          <a:solidFill>
            <a:srgbClr val="18865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53812" y="2359152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36208" y="2286000"/>
            <a:ext cx="932688" cy="384048"/>
          </a:xfrm>
          <a:prstGeom prst="rect">
            <a:avLst/>
          </a:prstGeom>
          <a:solidFill>
            <a:srgbClr val="18865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86500" y="2359152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168896" y="2286000"/>
            <a:ext cx="749808" cy="384048"/>
          </a:xfrm>
          <a:prstGeom prst="rect">
            <a:avLst/>
          </a:prstGeom>
          <a:solidFill>
            <a:srgbClr val="18865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219188" y="2359152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Feasible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8368" y="2670048"/>
            <a:ext cx="566928" cy="384048"/>
          </a:xfrm>
          <a:prstGeom prst="rect">
            <a:avLst/>
          </a:prstGeom>
          <a:solidFill>
            <a:srgbClr val="EAF8F1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08660" y="2743200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8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225296" y="2670048"/>
            <a:ext cx="749808" cy="384048"/>
          </a:xfrm>
          <a:prstGeom prst="rect">
            <a:avLst/>
          </a:prstGeom>
          <a:solidFill>
            <a:srgbClr val="EAF8F1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275588" y="2743200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8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975104" y="2670048"/>
            <a:ext cx="1115568" cy="384048"/>
          </a:xfrm>
          <a:prstGeom prst="rect">
            <a:avLst/>
          </a:prstGeom>
          <a:solidFill>
            <a:srgbClr val="EAF8F1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327148" y="2729484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dirty="0">
                <a:latin typeface="Aptos" panose="020B0004020202020204" pitchFamily="34" charset="0"/>
              </a:rPr>
              <a:t>0.699</a:t>
            </a:r>
          </a:p>
        </p:txBody>
      </p:sp>
      <p:sp>
        <p:nvSpPr>
          <p:cNvPr id="33" name="Shape 31"/>
          <p:cNvSpPr/>
          <p:nvPr/>
        </p:nvSpPr>
        <p:spPr>
          <a:xfrm>
            <a:off x="3090672" y="2670048"/>
            <a:ext cx="1225296" cy="384048"/>
          </a:xfrm>
          <a:prstGeom prst="rect">
            <a:avLst/>
          </a:prstGeom>
          <a:solidFill>
            <a:srgbClr val="EAF8F1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474720" y="2743200"/>
            <a:ext cx="694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dirty="0">
                <a:latin typeface="Aptos" panose="020B0004020202020204" pitchFamily="34" charset="0"/>
              </a:rPr>
              <a:t>312.088</a:t>
            </a:r>
          </a:p>
        </p:txBody>
      </p:sp>
      <p:sp>
        <p:nvSpPr>
          <p:cNvPr id="35" name="Shape 33"/>
          <p:cNvSpPr/>
          <p:nvPr/>
        </p:nvSpPr>
        <p:spPr>
          <a:xfrm>
            <a:off x="4315968" y="2670048"/>
            <a:ext cx="987552" cy="384048"/>
          </a:xfrm>
          <a:prstGeom prst="rect">
            <a:avLst/>
          </a:prstGeom>
          <a:solidFill>
            <a:srgbClr val="EAF8F1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366260" y="2743200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88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0.154</a:t>
            </a:r>
            <a:endParaRPr lang="en-US" sz="1050" dirty="0">
              <a:solidFill>
                <a:srgbClr val="18865B"/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303520" y="2670048"/>
            <a:ext cx="932688" cy="384048"/>
          </a:xfrm>
          <a:prstGeom prst="rect">
            <a:avLst/>
          </a:prstGeom>
          <a:solidFill>
            <a:srgbClr val="EAF8F1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353812" y="2743200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88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10.386</a:t>
            </a:r>
            <a:endParaRPr lang="en-US" sz="1050" dirty="0">
              <a:solidFill>
                <a:srgbClr val="18865B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236208" y="2670048"/>
            <a:ext cx="932688" cy="384048"/>
          </a:xfrm>
          <a:prstGeom prst="rect">
            <a:avLst/>
          </a:prstGeom>
          <a:solidFill>
            <a:srgbClr val="EAF8F1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286500" y="2743200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88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5.787</a:t>
            </a:r>
            <a:endParaRPr lang="en-US" sz="1050" dirty="0">
              <a:solidFill>
                <a:srgbClr val="18865B"/>
              </a:solidFill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168896" y="2670048"/>
            <a:ext cx="749808" cy="384048"/>
          </a:xfrm>
          <a:prstGeom prst="rect">
            <a:avLst/>
          </a:prstGeom>
          <a:solidFill>
            <a:srgbClr val="EAF8F1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219188" y="2743200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8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58368" y="3054096"/>
            <a:ext cx="56692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08660" y="3127248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225296" y="3054096"/>
            <a:ext cx="74980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275588" y="3127248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</a:rPr>
              <a:t>2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975104" y="3054096"/>
            <a:ext cx="111556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340172" y="3113532"/>
            <a:ext cx="568313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dirty="0">
                <a:latin typeface="Aptos" panose="020B0004020202020204" pitchFamily="34" charset="0"/>
              </a:rPr>
              <a:t>0.580</a:t>
            </a:r>
          </a:p>
        </p:txBody>
      </p:sp>
      <p:sp>
        <p:nvSpPr>
          <p:cNvPr id="49" name="Shape 47"/>
          <p:cNvSpPr/>
          <p:nvPr/>
        </p:nvSpPr>
        <p:spPr>
          <a:xfrm>
            <a:off x="3090672" y="3054096"/>
            <a:ext cx="1225296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459619" y="3127248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dirty="0">
                <a:latin typeface="Aptos" panose="020B0004020202020204" pitchFamily="34" charset="0"/>
              </a:rPr>
              <a:t>278.869</a:t>
            </a:r>
          </a:p>
        </p:txBody>
      </p:sp>
      <p:sp>
        <p:nvSpPr>
          <p:cNvPr id="51" name="Shape 49"/>
          <p:cNvSpPr/>
          <p:nvPr/>
        </p:nvSpPr>
        <p:spPr>
          <a:xfrm>
            <a:off x="4315968" y="3054096"/>
            <a:ext cx="987552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630952" y="3127248"/>
            <a:ext cx="6446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dirty="0">
                <a:latin typeface="Aptos" panose="020B0004020202020204" pitchFamily="34" charset="0"/>
              </a:rPr>
              <a:t>0.172</a:t>
            </a:r>
          </a:p>
        </p:txBody>
      </p:sp>
      <p:sp>
        <p:nvSpPr>
          <p:cNvPr id="53" name="Shape 51"/>
          <p:cNvSpPr/>
          <p:nvPr/>
        </p:nvSpPr>
        <p:spPr>
          <a:xfrm>
            <a:off x="5303520" y="3054096"/>
            <a:ext cx="93268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5353812" y="3127248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dirty="0">
                <a:latin typeface="Aptos" panose="020B0004020202020204" pitchFamily="34" charset="0"/>
              </a:rPr>
              <a:t>         1.928</a:t>
            </a:r>
          </a:p>
        </p:txBody>
      </p:sp>
      <p:sp>
        <p:nvSpPr>
          <p:cNvPr id="55" name="Shape 53"/>
          <p:cNvSpPr/>
          <p:nvPr/>
        </p:nvSpPr>
        <p:spPr>
          <a:xfrm>
            <a:off x="6236208" y="3054096"/>
            <a:ext cx="93268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286500" y="3127248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algn="ctr"/>
            <a:endParaRPr lang="en-US" sz="1050" dirty="0">
              <a:latin typeface="Aptos" panose="020B0004020202020204" pitchFamily="34" charset="0"/>
            </a:endParaRPr>
          </a:p>
          <a:p>
            <a:pPr algn="ctr"/>
            <a:r>
              <a:rPr lang="en-US" sz="1050" dirty="0">
                <a:latin typeface="Aptos" panose="020B0004020202020204" pitchFamily="34" charset="0"/>
              </a:rPr>
              <a:t>7.548</a:t>
            </a:r>
          </a:p>
          <a:p>
            <a:pPr algn="ctr"/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7168896" y="3054096"/>
            <a:ext cx="74980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219188" y="3127248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58368" y="3438144"/>
            <a:ext cx="56692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08660" y="3511296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1225296" y="3438144"/>
            <a:ext cx="74980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1275588" y="3511296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1975104" y="3438144"/>
            <a:ext cx="111556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1987127" y="3511635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algn="ctr"/>
            <a:endParaRPr lang="en-US" sz="1050" dirty="0"/>
          </a:p>
          <a:p>
            <a:pPr algn="ctr"/>
            <a:r>
              <a:rPr lang="en-US" sz="1050" dirty="0">
                <a:latin typeface="Aptos" panose="020B0004020202020204" pitchFamily="34" charset="0"/>
              </a:rPr>
              <a:t>0.463</a:t>
            </a:r>
          </a:p>
          <a:p>
            <a:pPr algn="ctr"/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3090672" y="3438144"/>
            <a:ext cx="1225296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140964" y="3511296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dirty="0">
                <a:latin typeface="Aptos" panose="020B0004020202020204" pitchFamily="34" charset="0"/>
              </a:rPr>
              <a:t>            430.242</a:t>
            </a:r>
          </a:p>
        </p:txBody>
      </p:sp>
      <p:sp>
        <p:nvSpPr>
          <p:cNvPr id="67" name="Shape 65"/>
          <p:cNvSpPr/>
          <p:nvPr/>
        </p:nvSpPr>
        <p:spPr>
          <a:xfrm>
            <a:off x="4315968" y="3438144"/>
            <a:ext cx="987552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372973" y="3465576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dirty="0"/>
              <a:t>         0.112</a:t>
            </a:r>
          </a:p>
        </p:txBody>
      </p:sp>
      <p:sp>
        <p:nvSpPr>
          <p:cNvPr id="69" name="Shape 67"/>
          <p:cNvSpPr/>
          <p:nvPr/>
        </p:nvSpPr>
        <p:spPr>
          <a:xfrm>
            <a:off x="5303520" y="3438144"/>
            <a:ext cx="93268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5353812" y="3511296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algn="ctr"/>
            <a:endParaRPr lang="en-US" sz="1050" dirty="0"/>
          </a:p>
          <a:p>
            <a:pPr algn="ctr"/>
            <a:r>
              <a:rPr lang="en-US" sz="1050" dirty="0">
                <a:latin typeface="Aptos" panose="020B0004020202020204" pitchFamily="34" charset="0"/>
              </a:rPr>
              <a:t>18.048</a:t>
            </a:r>
          </a:p>
          <a:p>
            <a:pPr algn="ctr"/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6236208" y="3438144"/>
            <a:ext cx="93268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286500" y="3497580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dirty="0"/>
              <a:t>       </a:t>
            </a:r>
            <a:r>
              <a:rPr lang="en-US" sz="1050" dirty="0">
                <a:latin typeface="Aptos" panose="020B0004020202020204" pitchFamily="34" charset="0"/>
              </a:rPr>
              <a:t>27.037</a:t>
            </a:r>
          </a:p>
        </p:txBody>
      </p:sp>
      <p:sp>
        <p:nvSpPr>
          <p:cNvPr id="73" name="Shape 71"/>
          <p:cNvSpPr/>
          <p:nvPr/>
        </p:nvSpPr>
        <p:spPr>
          <a:xfrm>
            <a:off x="7168896" y="3438144"/>
            <a:ext cx="74980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7219188" y="3511296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658368" y="3822192"/>
            <a:ext cx="56692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708660" y="3895344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1225296" y="3822192"/>
            <a:ext cx="74980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1275588" y="3895344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1975104" y="3822192"/>
            <a:ext cx="111556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1987127" y="3881628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algn="ctr"/>
            <a:endParaRPr lang="en-US" sz="1050" dirty="0"/>
          </a:p>
          <a:p>
            <a:pPr algn="ctr"/>
            <a:r>
              <a:rPr lang="en-US" sz="1100" dirty="0">
                <a:latin typeface="Aptos" panose="020B0004020202020204" pitchFamily="34" charset="0"/>
              </a:rPr>
              <a:t>0.399</a:t>
            </a:r>
          </a:p>
          <a:p>
            <a:pPr algn="ctr"/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3090672" y="3822192"/>
            <a:ext cx="1225296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3135715" y="3941064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/>
              <a:t>60.930</a:t>
            </a:r>
          </a:p>
          <a:p>
            <a:pPr algn="ctr"/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4315968" y="3822192"/>
            <a:ext cx="987552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4324205" y="3924808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latin typeface="Aptos" panose="020B0004020202020204" pitchFamily="34" charset="0"/>
              </a:rPr>
              <a:t>  0.794</a:t>
            </a:r>
          </a:p>
          <a:p>
            <a:pPr algn="ctr"/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5303520" y="3822192"/>
            <a:ext cx="93268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5353812" y="3919051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/>
              <a:t>8.979</a:t>
            </a:r>
          </a:p>
          <a:p>
            <a:pPr algn="ctr"/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6236208" y="3822192"/>
            <a:ext cx="93268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6286500" y="3941064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latin typeface="Aptos" panose="020B0004020202020204" pitchFamily="34" charset="0"/>
              </a:rPr>
              <a:t>19.783</a:t>
            </a:r>
          </a:p>
          <a:p>
            <a:pPr algn="ctr"/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7168896" y="3822192"/>
            <a:ext cx="74980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7219188" y="3895344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155" name="Shape 153"/>
          <p:cNvSpPr/>
          <p:nvPr/>
        </p:nvSpPr>
        <p:spPr>
          <a:xfrm>
            <a:off x="8366760" y="228600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EAF8F1"/>
          </a:solidFill>
          <a:ln w="12700">
            <a:solidFill>
              <a:srgbClr val="EAF8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Text 154"/>
          <p:cNvSpPr/>
          <p:nvPr/>
        </p:nvSpPr>
        <p:spPr>
          <a:xfrm>
            <a:off x="8503920" y="25420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188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score</a:t>
            </a:r>
            <a:endParaRPr lang="en-US" sz="1060" dirty="0"/>
          </a:p>
        </p:txBody>
      </p:sp>
      <p:sp>
        <p:nvSpPr>
          <p:cNvPr id="157" name="Text 155"/>
          <p:cNvSpPr/>
          <p:nvPr/>
        </p:nvSpPr>
        <p:spPr>
          <a:xfrm>
            <a:off x="8577072" y="28803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4  •  0.699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2187</TotalTime>
  <Words>700</Words>
  <Application>Microsoft Office PowerPoint</Application>
  <PresentationFormat>Widescreen</PresentationFormat>
  <Paragraphs>273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Adnan Al Rawass</dc:creator>
  <cp:lastModifiedBy>Adnan Al Rawass</cp:lastModifiedBy>
  <cp:revision>24</cp:revision>
  <dcterms:created xsi:type="dcterms:W3CDTF">2026-04-24T09:03:09Z</dcterms:created>
  <dcterms:modified xsi:type="dcterms:W3CDTF">2026-06-08T18:13:26Z</dcterms:modified>
</cp:coreProperties>
</file>