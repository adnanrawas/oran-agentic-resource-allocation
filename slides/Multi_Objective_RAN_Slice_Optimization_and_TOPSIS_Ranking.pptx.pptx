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7" r:id="rId3"/>
    <p:sldId id="268" r:id="rId4"/>
    <p:sldId id="26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65B"/>
    <a:srgbClr val="C0392B"/>
    <a:srgbClr val="000000"/>
    <a:srgbClr val="FFF0EE"/>
    <a:srgbClr val="FFFFFF"/>
    <a:srgbClr val="062DEC"/>
    <a:srgbClr val="4472C4"/>
    <a:srgbClr val="CB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23DBD5-A0CA-F32B-AE10-EC39DFE807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84A46-144C-875A-6071-DC55545E90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D79B1-6B7F-4B16-809B-3FCFA3C93DE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113C4-5DFB-0CE8-731C-8962B948A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A53B4-6992-A0CD-FF87-5ED66176DE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B984D-C48D-4A5C-A1FD-4A000B0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4688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8A259-EC5C-486F-8E25-9A7145B17D36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84B5D-137E-4885-9181-B35E089F3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7090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20CF-F3C3-B65F-0518-36D8D07C0F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5AA9-4A3B-DFAB-BFAC-DFEEA2662E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AE83A-56EE-3756-198F-A3508D6AEC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E546A-2C4A-A17F-AF04-DD6DDB2BA3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E0ED-A1EE-8B7C-6F64-F7560C93F5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845A-68FE-F567-7CE6-F6C6731474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28BA-F2F2-AA9B-85C4-BE88A748B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8453A-AE22-B256-30C8-A64C8C05B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F810-265E-36E0-C941-6A005F14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610A0-4144-CB70-B4B8-1080F8ED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A858-95D0-80B4-AEDA-415AF441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C31A-25EE-5F27-3E99-8BB74BDA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FDF4-34B8-DDD0-73C3-D00F9780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FACB-13F9-74BA-F81F-516B542E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3A8DF-8C00-8ECA-0A62-22B90FE6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B4735-219D-8E53-14C0-40A9F77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2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3F49-2B4E-2B7F-3D1B-74B33A21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6C52-E706-DBB0-3BA4-C11CA954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C4408-C7A5-A98D-418E-96D471D7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491E7-0912-6CEB-462E-C4E80416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176C1-A3BD-5F68-F615-D77FDDA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7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8B60-124A-705D-CDF9-67B0D1D2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28E2-5B64-1C6E-6D8A-16DDE85B2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71486-48B3-630A-E450-9795DEE19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2B4F-756A-1D81-6B9E-F28FD02A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12180-853E-6718-FFE4-71A59D29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63474-2CDD-F14E-2EC6-8F54A9CB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0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D403-EF0E-FCA8-F71A-A1380DBD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9ED11-04A9-230B-7BCA-2E8619524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3BE01-6D94-B4D1-36A3-B90CEE4F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F8835-9358-0D7A-6AA5-980C1F26B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0BD4A-9307-078C-1B03-7C9301865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FEEB5-F0F6-A764-2C54-F692E932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1F987-CFE4-4A4E-2A3E-C7EB947B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1E885-D3A2-262A-9196-6FFABA16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8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2CDF-7353-4B17-154F-14C6C36D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DAABE-6F8B-4926-6134-1FE1B9F8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A9D91-8321-3637-2369-DB55AD21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7C1A-612E-EC85-324D-6D3225C6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5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8C74-10E0-9161-8EFD-5EFA3BAB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4B529-9C51-F80E-0161-FE3CD3C7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34FD-548C-D5C7-7EE9-E84B8A3D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8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BE4D-8AE0-7D76-B9E2-8C11C350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D3A5-7511-6E96-FA9F-C0B7D9FF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AF36E-7A2D-615C-E80B-B4EEA006E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7EF8E-D1CE-6894-CC4A-ABE89C47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D7909-52CA-9EC1-A145-53D793E8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8DD3-FF0D-0C69-977F-E4BF82AA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0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BBD1-32E4-07CD-677A-4234179B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BD5DC-E384-246E-166E-96400D5E5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D1C13-F534-BBA9-B6A7-1C002AF3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A9117-EBE5-09A6-7CD9-836018D5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980C7-88FB-E343-E142-CD61BBB9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5CAE-EC46-6BAF-B71B-8F837184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0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9FA-0F20-6BE4-27C4-85AA0F5B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EEA0D-556C-5DC9-FBDC-1A0FA928D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377-4F08-3F3F-726E-ED4B6BB7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8D4C-A882-18EA-3304-4A938D33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4DD9A-8CF4-81A2-B3F2-0E0BB0CF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E2187-8BED-D821-B049-E81FE34EC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FD67E-C3AB-7B2A-A2CA-A73631C6C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9B3A-EE6F-BEBE-743A-431AA78F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BF4B-39A0-90C7-6779-958C7A7C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FE8C-539C-9DE2-9D2B-FDA80BEB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0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33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45761-6FC6-27BF-C01E-640D24654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C0511-7138-CFC9-6BE8-A46F0069C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992D-B164-28C2-5A77-9D2B6507B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7344-E586-A80A-9E34-D4E4B770B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244D-CD63-B26C-B970-26DF2F937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11099" y="283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DB"/>
                </a:solidFill>
              </a:rPr>
              <a:t>TOPSIS Algorithm • eMBB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Media-Flex — best ranked offer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098280" y="3474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89720" y="4572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</a:rPr>
              <a:t>slice = eMBB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0.9605</a:t>
            </a:r>
            <a:endParaRPr lang="en-US" sz="3100" dirty="0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779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4 • Feasible: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1938528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19888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1938528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67728" y="19888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23225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23728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3225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67728" y="23728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7066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7448" y="27569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27066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67728" y="27569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0906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27448" y="31409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0906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67728" y="31409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0.9605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4747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27448" y="35250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4747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67728" y="35250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595.2 Mbps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8587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27448" y="39090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38587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67728" y="39090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0.0407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42428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27448" y="42931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2428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67728" y="42931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€34.48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46268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27448" y="46771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58000" y="46268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67728" y="46771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9.701 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50109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27448" y="50612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50109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67728" y="50612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C889E59B-37A1-35B1-5DFA-D3231B287E16}"/>
              </a:ext>
            </a:extLst>
          </p:cNvPr>
          <p:cNvSpPr/>
          <p:nvPr/>
        </p:nvSpPr>
        <p:spPr>
          <a:xfrm>
            <a:off x="53170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>
            <a:extLst>
              <a:ext uri="{FF2B5EF4-FFF2-40B4-BE49-F238E27FC236}">
                <a16:creationId xmlns:a16="http://schemas.microsoft.com/office/drawing/2014/main" id="{F969C361-F8CA-E1B2-79E1-A4EA71D3923F}"/>
              </a:ext>
            </a:extLst>
          </p:cNvPr>
          <p:cNvSpPr/>
          <p:nvPr/>
        </p:nvSpPr>
        <p:spPr>
          <a:xfrm>
            <a:off x="69629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46BF7055-0487-F1F2-EF40-4A8139173D23}"/>
              </a:ext>
            </a:extLst>
          </p:cNvPr>
          <p:cNvSpPr/>
          <p:nvPr/>
        </p:nvSpPr>
        <p:spPr>
          <a:xfrm>
            <a:off x="69629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60.0 Mbps</a:t>
            </a:r>
            <a:endParaRPr lang="en-US" sz="1700" dirty="0"/>
          </a:p>
        </p:txBody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9F44B344-568D-CE21-BAED-EA5FF8F56024}"/>
              </a:ext>
            </a:extLst>
          </p:cNvPr>
          <p:cNvSpPr/>
          <p:nvPr/>
        </p:nvSpPr>
        <p:spPr>
          <a:xfrm>
            <a:off x="336634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3">
            <a:extLst>
              <a:ext uri="{FF2B5EF4-FFF2-40B4-BE49-F238E27FC236}">
                <a16:creationId xmlns:a16="http://schemas.microsoft.com/office/drawing/2014/main" id="{038B33B6-D97D-E9B2-4244-3E1A67D4FDB6}"/>
              </a:ext>
            </a:extLst>
          </p:cNvPr>
          <p:cNvSpPr/>
          <p:nvPr/>
        </p:nvSpPr>
        <p:spPr>
          <a:xfrm>
            <a:off x="353093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7" name="Text 54">
            <a:extLst>
              <a:ext uri="{FF2B5EF4-FFF2-40B4-BE49-F238E27FC236}">
                <a16:creationId xmlns:a16="http://schemas.microsoft.com/office/drawing/2014/main" id="{1A31A2AC-3EA7-EDD3-35C6-7B7956D4403E}"/>
              </a:ext>
            </a:extLst>
          </p:cNvPr>
          <p:cNvSpPr/>
          <p:nvPr/>
        </p:nvSpPr>
        <p:spPr>
          <a:xfrm>
            <a:off x="353093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10.0 ms</a:t>
            </a:r>
            <a:endParaRPr lang="en-US" sz="1700" dirty="0"/>
          </a:p>
        </p:txBody>
      </p:sp>
      <p:sp>
        <p:nvSpPr>
          <p:cNvPr id="68" name="Shape 55">
            <a:extLst>
              <a:ext uri="{FF2B5EF4-FFF2-40B4-BE49-F238E27FC236}">
                <a16:creationId xmlns:a16="http://schemas.microsoft.com/office/drawing/2014/main" id="{BC39B4F9-D550-C9CD-4435-9267C3854241}"/>
              </a:ext>
            </a:extLst>
          </p:cNvPr>
          <p:cNvSpPr/>
          <p:nvPr/>
        </p:nvSpPr>
        <p:spPr>
          <a:xfrm>
            <a:off x="620098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6">
            <a:extLst>
              <a:ext uri="{FF2B5EF4-FFF2-40B4-BE49-F238E27FC236}">
                <a16:creationId xmlns:a16="http://schemas.microsoft.com/office/drawing/2014/main" id="{3159F228-483C-DFF5-6D47-F88A687EBDF1}"/>
              </a:ext>
            </a:extLst>
          </p:cNvPr>
          <p:cNvSpPr/>
          <p:nvPr/>
        </p:nvSpPr>
        <p:spPr>
          <a:xfrm>
            <a:off x="636557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2CFA8069-9DFF-F510-FCB6-346544BFF2EC}"/>
              </a:ext>
            </a:extLst>
          </p:cNvPr>
          <p:cNvSpPr/>
          <p:nvPr/>
        </p:nvSpPr>
        <p:spPr>
          <a:xfrm>
            <a:off x="636557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€200.0</a:t>
            </a:r>
            <a:endParaRPr lang="en-US" sz="1700" dirty="0"/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E2FD2A5-A5AA-F124-1846-7ECD06195A03}"/>
              </a:ext>
            </a:extLst>
          </p:cNvPr>
          <p:cNvSpPr/>
          <p:nvPr/>
        </p:nvSpPr>
        <p:spPr>
          <a:xfrm>
            <a:off x="903562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9">
            <a:extLst>
              <a:ext uri="{FF2B5EF4-FFF2-40B4-BE49-F238E27FC236}">
                <a16:creationId xmlns:a16="http://schemas.microsoft.com/office/drawing/2014/main" id="{55A1178B-2808-4BE0-7E35-7577875F58C2}"/>
              </a:ext>
            </a:extLst>
          </p:cNvPr>
          <p:cNvSpPr/>
          <p:nvPr/>
        </p:nvSpPr>
        <p:spPr>
          <a:xfrm>
            <a:off x="920021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73" name="Text 60">
            <a:extLst>
              <a:ext uri="{FF2B5EF4-FFF2-40B4-BE49-F238E27FC236}">
                <a16:creationId xmlns:a16="http://schemas.microsoft.com/office/drawing/2014/main" id="{E22C10AF-BC76-BACD-2688-4CBC90DD050E}"/>
              </a:ext>
            </a:extLst>
          </p:cNvPr>
          <p:cNvSpPr/>
          <p:nvPr/>
        </p:nvSpPr>
        <p:spPr>
          <a:xfrm>
            <a:off x="920021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100.0 W</a:t>
            </a:r>
            <a:endParaRPr lang="en-US" sz="1700" dirty="0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5CC2DBDA-6A30-D713-0BFA-A561FE30F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32807" y="603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8572" y="859536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8572" y="9784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 • eMBB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06908" y="1280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Media-Flex: all ranked offers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908" y="25054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0.5, 0.2, 0.2, 0.1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06908" y="2816352"/>
            <a:ext cx="56692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38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0241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23644" y="2816352"/>
            <a:ext cx="111556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1773936" y="288950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9212" y="2816352"/>
            <a:ext cx="1225296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2889504" y="288950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64508" y="2816352"/>
            <a:ext cx="987552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114800" y="288950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52060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5102352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4748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035040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174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9677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" y="3200400"/>
            <a:ext cx="56692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57200" y="32735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38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10241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23644" y="3200400"/>
            <a:ext cx="111556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1773936" y="32735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0.9605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9212" y="3200400"/>
            <a:ext cx="1225296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9504" y="32735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595.2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4508" y="3200400"/>
            <a:ext cx="987552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114800" y="32735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0.0407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52060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102352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34.48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4748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035040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9.701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174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9677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06908" y="358444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57200" y="36576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738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41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723644" y="358444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1773936" y="36576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0.825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39212" y="358444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2889504" y="36576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543.8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064508" y="358444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4114800" y="36576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52060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5102352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68.58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984748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6035040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174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69677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06908" y="396849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Text 58"/>
          <p:cNvSpPr/>
          <p:nvPr/>
        </p:nvSpPr>
        <p:spPr>
          <a:xfrm>
            <a:off x="457200" y="40416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738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241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723644" y="396849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4" name="Text 62"/>
          <p:cNvSpPr/>
          <p:nvPr/>
        </p:nvSpPr>
        <p:spPr>
          <a:xfrm>
            <a:off x="1773936" y="404164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0.7573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839212" y="396849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2889504" y="40416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543.8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064508" y="396849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4114800" y="404164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52060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5102352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984748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035040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9174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4" name="Text 72"/>
          <p:cNvSpPr/>
          <p:nvPr/>
        </p:nvSpPr>
        <p:spPr>
          <a:xfrm>
            <a:off x="69677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06908" y="435254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6" name="Text 74"/>
          <p:cNvSpPr/>
          <p:nvPr/>
        </p:nvSpPr>
        <p:spPr>
          <a:xfrm>
            <a:off x="457200" y="44256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738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241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5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723644" y="435254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773936" y="442569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0.7532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839212" y="435254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2" name="Text 80"/>
          <p:cNvSpPr/>
          <p:nvPr/>
        </p:nvSpPr>
        <p:spPr>
          <a:xfrm>
            <a:off x="2889504" y="44256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543.8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064508" y="435254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4" name="Text 82"/>
          <p:cNvSpPr/>
          <p:nvPr/>
        </p:nvSpPr>
        <p:spPr>
          <a:xfrm>
            <a:off x="4114800" y="442569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0.0445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052060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6" name="Text 84"/>
          <p:cNvSpPr/>
          <p:nvPr/>
        </p:nvSpPr>
        <p:spPr>
          <a:xfrm>
            <a:off x="5102352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91.45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984748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8" name="Text 86"/>
          <p:cNvSpPr/>
          <p:nvPr/>
        </p:nvSpPr>
        <p:spPr>
          <a:xfrm>
            <a:off x="6035040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9174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0" name="Text 88"/>
          <p:cNvSpPr/>
          <p:nvPr/>
        </p:nvSpPr>
        <p:spPr>
          <a:xfrm>
            <a:off x="69677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406908" y="4736592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2" name="Text 90"/>
          <p:cNvSpPr/>
          <p:nvPr/>
        </p:nvSpPr>
        <p:spPr>
          <a:xfrm>
            <a:off x="457200" y="480974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973836" y="4736592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024128" y="48097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1723644" y="4736592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1773936" y="480974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0.6146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2839212" y="4736592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8" name="Text 96"/>
          <p:cNvSpPr/>
          <p:nvPr/>
        </p:nvSpPr>
        <p:spPr>
          <a:xfrm>
            <a:off x="2889504" y="480974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543.8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4064508" y="4736592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0" name="Text 98"/>
          <p:cNvSpPr/>
          <p:nvPr/>
        </p:nvSpPr>
        <p:spPr>
          <a:xfrm>
            <a:off x="4114800" y="480974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0.0815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5052060" y="4736592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2" name="Text 100"/>
          <p:cNvSpPr/>
          <p:nvPr/>
        </p:nvSpPr>
        <p:spPr>
          <a:xfrm>
            <a:off x="5102352" y="480974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0.8945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5984748" y="4736592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4" name="Text 102"/>
          <p:cNvSpPr/>
          <p:nvPr/>
        </p:nvSpPr>
        <p:spPr>
          <a:xfrm>
            <a:off x="6035040" y="480974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0.4931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6917436" y="4736592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6" name="Text 104"/>
          <p:cNvSpPr/>
          <p:nvPr/>
        </p:nvSpPr>
        <p:spPr>
          <a:xfrm>
            <a:off x="6967728" y="48097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8115300" y="281635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8325612" y="30723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/>
          <p:cNvSpPr/>
          <p:nvPr/>
        </p:nvSpPr>
        <p:spPr>
          <a:xfrm>
            <a:off x="8325612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4  •  0.9605</a:t>
            </a:r>
            <a:endParaRPr lang="en-US" sz="1650" dirty="0"/>
          </a:p>
        </p:txBody>
      </p:sp>
      <p:sp>
        <p:nvSpPr>
          <p:cNvPr id="160" name="Shape 5">
            <a:extLst>
              <a:ext uri="{FF2B5EF4-FFF2-40B4-BE49-F238E27FC236}">
                <a16:creationId xmlns:a16="http://schemas.microsoft.com/office/drawing/2014/main" id="{2B795FB3-B281-745C-69B6-F6C581CBB84F}"/>
              </a:ext>
            </a:extLst>
          </p:cNvPr>
          <p:cNvSpPr/>
          <p:nvPr/>
        </p:nvSpPr>
        <p:spPr>
          <a:xfrm>
            <a:off x="347472" y="175564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9212625A-505E-8C68-B4FD-C7FC5544E105}"/>
              </a:ext>
            </a:extLst>
          </p:cNvPr>
          <p:cNvSpPr/>
          <p:nvPr/>
        </p:nvSpPr>
        <p:spPr>
          <a:xfrm>
            <a:off x="530352" y="184708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pic>
        <p:nvPicPr>
          <p:cNvPr id="162" name="Picture 2">
            <a:extLst>
              <a:ext uri="{FF2B5EF4-FFF2-40B4-BE49-F238E27FC236}">
                <a16:creationId xmlns:a16="http://schemas.microsoft.com/office/drawing/2014/main" id="{ADAFBE51-1DDC-7BD7-8F5A-BF2D382B2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856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Shape 2">
            <a:extLst>
              <a:ext uri="{FF2B5EF4-FFF2-40B4-BE49-F238E27FC236}">
                <a16:creationId xmlns:a16="http://schemas.microsoft.com/office/drawing/2014/main" id="{48FCA56F-87D7-6F39-2C65-0158ECA1887E}"/>
              </a:ext>
            </a:extLst>
          </p:cNvPr>
          <p:cNvSpPr/>
          <p:nvPr/>
        </p:nvSpPr>
        <p:spPr>
          <a:xfrm>
            <a:off x="3451860" y="1362456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rgbClr val="062DEC"/>
                </a:solidFill>
                <a:latin typeface="Aptos" panose="020B0004020202020204" pitchFamily="34" charset="0"/>
              </a:rPr>
              <a:t> MCS:28</a:t>
            </a:r>
          </a:p>
        </p:txBody>
      </p:sp>
      <p:sp>
        <p:nvSpPr>
          <p:cNvPr id="186" name="Shape 89">
            <a:extLst>
              <a:ext uri="{FF2B5EF4-FFF2-40B4-BE49-F238E27FC236}">
                <a16:creationId xmlns:a16="http://schemas.microsoft.com/office/drawing/2014/main" id="{03B6EAA4-A873-F060-B5D8-DCE26FF9E5AE}"/>
              </a:ext>
            </a:extLst>
          </p:cNvPr>
          <p:cNvSpPr/>
          <p:nvPr/>
        </p:nvSpPr>
        <p:spPr>
          <a:xfrm>
            <a:off x="406908" y="5120640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/>
              <a:t>     </a:t>
            </a:r>
            <a:r>
              <a:rPr lang="en-US" sz="105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87" name="Shape 91">
            <a:extLst>
              <a:ext uri="{FF2B5EF4-FFF2-40B4-BE49-F238E27FC236}">
                <a16:creationId xmlns:a16="http://schemas.microsoft.com/office/drawing/2014/main" id="{B197208B-C241-4190-0C70-7B6ACA92B9BA}"/>
              </a:ext>
            </a:extLst>
          </p:cNvPr>
          <p:cNvSpPr/>
          <p:nvPr/>
        </p:nvSpPr>
        <p:spPr>
          <a:xfrm>
            <a:off x="973836" y="5120640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/>
              <a:t>       </a:t>
            </a:r>
            <a:r>
              <a:rPr lang="en-US" sz="1050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88" name="Shape 93">
            <a:extLst>
              <a:ext uri="{FF2B5EF4-FFF2-40B4-BE49-F238E27FC236}">
                <a16:creationId xmlns:a16="http://schemas.microsoft.com/office/drawing/2014/main" id="{5A950A0A-8F12-FB0D-DEB1-A80369501179}"/>
              </a:ext>
            </a:extLst>
          </p:cNvPr>
          <p:cNvSpPr/>
          <p:nvPr/>
        </p:nvSpPr>
        <p:spPr>
          <a:xfrm>
            <a:off x="1723644" y="5120640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/>
              <a:t>         </a:t>
            </a:r>
            <a:r>
              <a:rPr lang="en-US" sz="1050" dirty="0">
                <a:latin typeface="Aptos" panose="020B0004020202020204" pitchFamily="34" charset="0"/>
              </a:rPr>
              <a:t>0.5994</a:t>
            </a:r>
          </a:p>
          <a:p>
            <a:endParaRPr lang="en-US" sz="1050" dirty="0"/>
          </a:p>
        </p:txBody>
      </p:sp>
      <p:sp>
        <p:nvSpPr>
          <p:cNvPr id="189" name="Shape 95">
            <a:extLst>
              <a:ext uri="{FF2B5EF4-FFF2-40B4-BE49-F238E27FC236}">
                <a16:creationId xmlns:a16="http://schemas.microsoft.com/office/drawing/2014/main" id="{5201F32B-0DFA-FFFB-541C-83632E938B05}"/>
              </a:ext>
            </a:extLst>
          </p:cNvPr>
          <p:cNvSpPr/>
          <p:nvPr/>
        </p:nvSpPr>
        <p:spPr>
          <a:xfrm>
            <a:off x="2839212" y="5120640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/>
              <a:t>            </a:t>
            </a:r>
            <a:r>
              <a:rPr lang="en-US" sz="1050" dirty="0">
                <a:latin typeface="Aptos" panose="020B0004020202020204" pitchFamily="34" charset="0"/>
              </a:rPr>
              <a:t>420.8</a:t>
            </a:r>
          </a:p>
        </p:txBody>
      </p:sp>
      <p:sp>
        <p:nvSpPr>
          <p:cNvPr id="190" name="Shape 97">
            <a:extLst>
              <a:ext uri="{FF2B5EF4-FFF2-40B4-BE49-F238E27FC236}">
                <a16:creationId xmlns:a16="http://schemas.microsoft.com/office/drawing/2014/main" id="{35CC4E4D-3241-C825-559D-9F303E37BCCD}"/>
              </a:ext>
            </a:extLst>
          </p:cNvPr>
          <p:cNvSpPr/>
          <p:nvPr/>
        </p:nvSpPr>
        <p:spPr>
          <a:xfrm>
            <a:off x="4064508" y="5120640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>
                <a:latin typeface="Aptos" panose="020B0004020202020204" pitchFamily="34" charset="0"/>
              </a:rPr>
              <a:t>       0.0577</a:t>
            </a:r>
          </a:p>
          <a:p>
            <a:endParaRPr lang="en-US" sz="1050" dirty="0"/>
          </a:p>
        </p:txBody>
      </p:sp>
      <p:sp>
        <p:nvSpPr>
          <p:cNvPr id="191" name="Shape 99">
            <a:extLst>
              <a:ext uri="{FF2B5EF4-FFF2-40B4-BE49-F238E27FC236}">
                <a16:creationId xmlns:a16="http://schemas.microsoft.com/office/drawing/2014/main" id="{14EB210B-95FF-2084-867E-6A33F8803B24}"/>
              </a:ext>
            </a:extLst>
          </p:cNvPr>
          <p:cNvSpPr/>
          <p:nvPr/>
        </p:nvSpPr>
        <p:spPr>
          <a:xfrm>
            <a:off x="5052060" y="5120640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/>
              <a:t>     72.8867</a:t>
            </a:r>
          </a:p>
          <a:p>
            <a:endParaRPr lang="en-US" sz="1050" dirty="0"/>
          </a:p>
        </p:txBody>
      </p:sp>
      <p:sp>
        <p:nvSpPr>
          <p:cNvPr id="192" name="Shape 101">
            <a:extLst>
              <a:ext uri="{FF2B5EF4-FFF2-40B4-BE49-F238E27FC236}">
                <a16:creationId xmlns:a16="http://schemas.microsoft.com/office/drawing/2014/main" id="{225D74E6-66C2-C063-DB50-F4F6512230EF}"/>
              </a:ext>
            </a:extLst>
          </p:cNvPr>
          <p:cNvSpPr/>
          <p:nvPr/>
        </p:nvSpPr>
        <p:spPr>
          <a:xfrm>
            <a:off x="5984748" y="5120640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>
                <a:latin typeface="Aptos" panose="020B0004020202020204" pitchFamily="34" charset="0"/>
              </a:rPr>
              <a:t>     27.0772</a:t>
            </a:r>
          </a:p>
        </p:txBody>
      </p:sp>
      <p:sp>
        <p:nvSpPr>
          <p:cNvPr id="193" name="Shape 103">
            <a:extLst>
              <a:ext uri="{FF2B5EF4-FFF2-40B4-BE49-F238E27FC236}">
                <a16:creationId xmlns:a16="http://schemas.microsoft.com/office/drawing/2014/main" id="{413BAD60-4234-DA78-7330-3993F30E30FD}"/>
              </a:ext>
            </a:extLst>
          </p:cNvPr>
          <p:cNvSpPr/>
          <p:nvPr/>
        </p:nvSpPr>
        <p:spPr>
          <a:xfrm>
            <a:off x="6917436" y="5120640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50" dirty="0"/>
              <a:t>      </a:t>
            </a:r>
            <a:r>
              <a:rPr lang="en-US" sz="1050" dirty="0">
                <a:latin typeface="Aptos" panose="020B0004020202020204" pitchFamily="34" charset="0"/>
              </a:rPr>
              <a:t>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5" y="-5618"/>
            <a:ext cx="12204344" cy="12676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65497" y="520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TOPSIS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625" y="97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Factory-Ops — best ranked offer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869985" y="6776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0EE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425" y="7874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slice = URLLC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624" y="1500632"/>
            <a:ext cx="11553613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505" y="16286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80" b="1" dirty="0">
                <a:solidFill>
                  <a:srgbClr val="C0392B"/>
                </a:solidFill>
              </a:rPr>
              <a:t>User Intent: User wants a URLLC slice for factory operations with throughput (≥ 5), latency (≤ 2), cost (≤ 200),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505" y="225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505" y="2497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0.8992</a:t>
            </a:r>
            <a:endParaRPr lang="en-US" sz="3100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505" y="3109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4 • Feasible: true</a:t>
            </a:r>
            <a:endParaRPr lang="en-US" sz="13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76D72182-A65A-B319-E573-43EEC42A7B3A}"/>
              </a:ext>
            </a:extLst>
          </p:cNvPr>
          <p:cNvSpPr/>
          <p:nvPr/>
        </p:nvSpPr>
        <p:spPr>
          <a:xfrm>
            <a:off x="27462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C12DEB41-AD27-803D-0DC6-F93E75B2C710}"/>
              </a:ext>
            </a:extLst>
          </p:cNvPr>
          <p:cNvSpPr/>
          <p:nvPr/>
        </p:nvSpPr>
        <p:spPr>
          <a:xfrm>
            <a:off x="43921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B853FC1C-C3E6-D885-9D97-EA0B333FF50B}"/>
              </a:ext>
            </a:extLst>
          </p:cNvPr>
          <p:cNvSpPr/>
          <p:nvPr/>
        </p:nvSpPr>
        <p:spPr>
          <a:xfrm>
            <a:off x="43921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5.0 Mbps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6456410F-5A14-EAC4-7E2C-7C85837B283C}"/>
              </a:ext>
            </a:extLst>
          </p:cNvPr>
          <p:cNvSpPr/>
          <p:nvPr/>
        </p:nvSpPr>
        <p:spPr>
          <a:xfrm>
            <a:off x="310926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0DBDB3AD-5143-39C1-17B4-90CA3EBE9A24}"/>
              </a:ext>
            </a:extLst>
          </p:cNvPr>
          <p:cNvSpPr/>
          <p:nvPr/>
        </p:nvSpPr>
        <p:spPr>
          <a:xfrm>
            <a:off x="327385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EA37D563-A84A-FED6-4208-22C12147FC08}"/>
              </a:ext>
            </a:extLst>
          </p:cNvPr>
          <p:cNvSpPr/>
          <p:nvPr/>
        </p:nvSpPr>
        <p:spPr>
          <a:xfrm>
            <a:off x="327385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2.0 ms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BD665870-218A-16DC-F7E2-097B7C59BF82}"/>
              </a:ext>
            </a:extLst>
          </p:cNvPr>
          <p:cNvSpPr/>
          <p:nvPr/>
        </p:nvSpPr>
        <p:spPr>
          <a:xfrm>
            <a:off x="594390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1A29103E-D8C0-34DC-7805-19AED5E5EE9A}"/>
              </a:ext>
            </a:extLst>
          </p:cNvPr>
          <p:cNvSpPr/>
          <p:nvPr/>
        </p:nvSpPr>
        <p:spPr>
          <a:xfrm>
            <a:off x="610849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8FC13720-399E-976C-F94E-E8F5292A6B36}"/>
              </a:ext>
            </a:extLst>
          </p:cNvPr>
          <p:cNvSpPr/>
          <p:nvPr/>
        </p:nvSpPr>
        <p:spPr>
          <a:xfrm>
            <a:off x="610849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€200.0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C82F3BE0-5BC0-B0FB-B6DF-01B326CEEA38}"/>
              </a:ext>
            </a:extLst>
          </p:cNvPr>
          <p:cNvSpPr/>
          <p:nvPr/>
        </p:nvSpPr>
        <p:spPr>
          <a:xfrm>
            <a:off x="877854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42094965-D1AA-1ADE-FD95-2F429BAB7776}"/>
              </a:ext>
            </a:extLst>
          </p:cNvPr>
          <p:cNvSpPr/>
          <p:nvPr/>
        </p:nvSpPr>
        <p:spPr>
          <a:xfrm>
            <a:off x="894313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1D0E1542-7BE9-5FB1-4D65-3FB85703AFDA}"/>
              </a:ext>
            </a:extLst>
          </p:cNvPr>
          <p:cNvSpPr/>
          <p:nvPr/>
        </p:nvSpPr>
        <p:spPr>
          <a:xfrm>
            <a:off x="894313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100.0 W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105" name="Shape 18">
            <a:extLst>
              <a:ext uri="{FF2B5EF4-FFF2-40B4-BE49-F238E27FC236}">
                <a16:creationId xmlns:a16="http://schemas.microsoft.com/office/drawing/2014/main" id="{4BDAE512-F834-F09D-2BD3-FB018A1D886A}"/>
              </a:ext>
            </a:extLst>
          </p:cNvPr>
          <p:cNvSpPr/>
          <p:nvPr/>
        </p:nvSpPr>
        <p:spPr>
          <a:xfrm>
            <a:off x="4389425" y="2268728"/>
            <a:ext cx="2240280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8E547DBD-91A6-F05A-4096-D09794402AA1}"/>
              </a:ext>
            </a:extLst>
          </p:cNvPr>
          <p:cNvSpPr/>
          <p:nvPr/>
        </p:nvSpPr>
        <p:spPr>
          <a:xfrm>
            <a:off x="4499153" y="23190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107" name="Shape 20">
            <a:extLst>
              <a:ext uri="{FF2B5EF4-FFF2-40B4-BE49-F238E27FC236}">
                <a16:creationId xmlns:a16="http://schemas.microsoft.com/office/drawing/2014/main" id="{4EBEE671-3E75-3A80-D4B1-BA1FF9FC8A3D}"/>
              </a:ext>
            </a:extLst>
          </p:cNvPr>
          <p:cNvSpPr/>
          <p:nvPr/>
        </p:nvSpPr>
        <p:spPr>
          <a:xfrm>
            <a:off x="6629705" y="2268728"/>
            <a:ext cx="3794760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21">
            <a:extLst>
              <a:ext uri="{FF2B5EF4-FFF2-40B4-BE49-F238E27FC236}">
                <a16:creationId xmlns:a16="http://schemas.microsoft.com/office/drawing/2014/main" id="{E1002072-65CE-A25B-EF41-3F66CA23501A}"/>
              </a:ext>
            </a:extLst>
          </p:cNvPr>
          <p:cNvSpPr/>
          <p:nvPr/>
        </p:nvSpPr>
        <p:spPr>
          <a:xfrm>
            <a:off x="6739433" y="23190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09" name="Shape 22">
            <a:extLst>
              <a:ext uri="{FF2B5EF4-FFF2-40B4-BE49-F238E27FC236}">
                <a16:creationId xmlns:a16="http://schemas.microsoft.com/office/drawing/2014/main" id="{EE14E26D-2C62-B834-8721-DBBED51EC5A1}"/>
              </a:ext>
            </a:extLst>
          </p:cNvPr>
          <p:cNvSpPr/>
          <p:nvPr/>
        </p:nvSpPr>
        <p:spPr>
          <a:xfrm>
            <a:off x="4389425" y="26527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23">
            <a:extLst>
              <a:ext uri="{FF2B5EF4-FFF2-40B4-BE49-F238E27FC236}">
                <a16:creationId xmlns:a16="http://schemas.microsoft.com/office/drawing/2014/main" id="{D6576451-2984-7E7B-0D4A-D86ECDA259E3}"/>
              </a:ext>
            </a:extLst>
          </p:cNvPr>
          <p:cNvSpPr/>
          <p:nvPr/>
        </p:nvSpPr>
        <p:spPr>
          <a:xfrm>
            <a:off x="4499153" y="27030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111" name="Shape 24">
            <a:extLst>
              <a:ext uri="{FF2B5EF4-FFF2-40B4-BE49-F238E27FC236}">
                <a16:creationId xmlns:a16="http://schemas.microsoft.com/office/drawing/2014/main" id="{89EF3396-ADB2-8B76-415E-E6EE356D9B14}"/>
              </a:ext>
            </a:extLst>
          </p:cNvPr>
          <p:cNvSpPr/>
          <p:nvPr/>
        </p:nvSpPr>
        <p:spPr>
          <a:xfrm>
            <a:off x="6629705" y="26527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Text 25">
            <a:extLst>
              <a:ext uri="{FF2B5EF4-FFF2-40B4-BE49-F238E27FC236}">
                <a16:creationId xmlns:a16="http://schemas.microsoft.com/office/drawing/2014/main" id="{F882ADAC-F42D-C1DD-0300-5CB00FEB2093}"/>
              </a:ext>
            </a:extLst>
          </p:cNvPr>
          <p:cNvSpPr/>
          <p:nvPr/>
        </p:nvSpPr>
        <p:spPr>
          <a:xfrm>
            <a:off x="6739433" y="27030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3" name="Shape 26">
            <a:extLst>
              <a:ext uri="{FF2B5EF4-FFF2-40B4-BE49-F238E27FC236}">
                <a16:creationId xmlns:a16="http://schemas.microsoft.com/office/drawing/2014/main" id="{D836E5B4-4CAC-E8F5-0C2F-C6D609679EC6}"/>
              </a:ext>
            </a:extLst>
          </p:cNvPr>
          <p:cNvSpPr/>
          <p:nvPr/>
        </p:nvSpPr>
        <p:spPr>
          <a:xfrm>
            <a:off x="4389425" y="30368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27">
            <a:extLst>
              <a:ext uri="{FF2B5EF4-FFF2-40B4-BE49-F238E27FC236}">
                <a16:creationId xmlns:a16="http://schemas.microsoft.com/office/drawing/2014/main" id="{C9D6671D-1264-0393-720C-3DA1CCC75E4A}"/>
              </a:ext>
            </a:extLst>
          </p:cNvPr>
          <p:cNvSpPr/>
          <p:nvPr/>
        </p:nvSpPr>
        <p:spPr>
          <a:xfrm>
            <a:off x="4499153" y="30871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115" name="Shape 28">
            <a:extLst>
              <a:ext uri="{FF2B5EF4-FFF2-40B4-BE49-F238E27FC236}">
                <a16:creationId xmlns:a16="http://schemas.microsoft.com/office/drawing/2014/main" id="{D2D3ADC3-FFE7-2943-DF5D-5C51A65379C2}"/>
              </a:ext>
            </a:extLst>
          </p:cNvPr>
          <p:cNvSpPr/>
          <p:nvPr/>
        </p:nvSpPr>
        <p:spPr>
          <a:xfrm>
            <a:off x="6629705" y="30368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9">
            <a:extLst>
              <a:ext uri="{FF2B5EF4-FFF2-40B4-BE49-F238E27FC236}">
                <a16:creationId xmlns:a16="http://schemas.microsoft.com/office/drawing/2014/main" id="{94CF8969-7D8E-82C3-03A8-56DF3D836A45}"/>
              </a:ext>
            </a:extLst>
          </p:cNvPr>
          <p:cNvSpPr/>
          <p:nvPr/>
        </p:nvSpPr>
        <p:spPr>
          <a:xfrm>
            <a:off x="6739433" y="30871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100" dirty="0"/>
          </a:p>
        </p:txBody>
      </p:sp>
      <p:sp>
        <p:nvSpPr>
          <p:cNvPr id="117" name="Shape 30">
            <a:extLst>
              <a:ext uri="{FF2B5EF4-FFF2-40B4-BE49-F238E27FC236}">
                <a16:creationId xmlns:a16="http://schemas.microsoft.com/office/drawing/2014/main" id="{EE00339E-AF9C-EE0D-7D30-FB12EEEBA435}"/>
              </a:ext>
            </a:extLst>
          </p:cNvPr>
          <p:cNvSpPr/>
          <p:nvPr/>
        </p:nvSpPr>
        <p:spPr>
          <a:xfrm>
            <a:off x="4389425" y="34208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31">
            <a:extLst>
              <a:ext uri="{FF2B5EF4-FFF2-40B4-BE49-F238E27FC236}">
                <a16:creationId xmlns:a16="http://schemas.microsoft.com/office/drawing/2014/main" id="{26C50F00-A946-DD84-63EB-AF678AD496C5}"/>
              </a:ext>
            </a:extLst>
          </p:cNvPr>
          <p:cNvSpPr/>
          <p:nvPr/>
        </p:nvSpPr>
        <p:spPr>
          <a:xfrm>
            <a:off x="4499153" y="34711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119" name="Shape 32">
            <a:extLst>
              <a:ext uri="{FF2B5EF4-FFF2-40B4-BE49-F238E27FC236}">
                <a16:creationId xmlns:a16="http://schemas.microsoft.com/office/drawing/2014/main" id="{E26653AC-83C9-D3EC-4BC8-342B7F96EFF2}"/>
              </a:ext>
            </a:extLst>
          </p:cNvPr>
          <p:cNvSpPr/>
          <p:nvPr/>
        </p:nvSpPr>
        <p:spPr>
          <a:xfrm>
            <a:off x="6629705" y="34208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 0.8992</a:t>
            </a:r>
            <a:endParaRPr lang="en-US" sz="1100" dirty="0"/>
          </a:p>
        </p:txBody>
      </p:sp>
      <p:sp>
        <p:nvSpPr>
          <p:cNvPr id="120" name="Text 33">
            <a:extLst>
              <a:ext uri="{FF2B5EF4-FFF2-40B4-BE49-F238E27FC236}">
                <a16:creationId xmlns:a16="http://schemas.microsoft.com/office/drawing/2014/main" id="{16FF73E2-784A-C750-5A16-91852EF31D71}"/>
              </a:ext>
            </a:extLst>
          </p:cNvPr>
          <p:cNvSpPr/>
          <p:nvPr/>
        </p:nvSpPr>
        <p:spPr>
          <a:xfrm>
            <a:off x="6739433" y="34711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0.6556</a:t>
            </a:r>
            <a:endParaRPr lang="en-US" sz="1100" dirty="0"/>
          </a:p>
        </p:txBody>
      </p:sp>
      <p:sp>
        <p:nvSpPr>
          <p:cNvPr id="121" name="Shape 34">
            <a:extLst>
              <a:ext uri="{FF2B5EF4-FFF2-40B4-BE49-F238E27FC236}">
                <a16:creationId xmlns:a16="http://schemas.microsoft.com/office/drawing/2014/main" id="{D021D50A-4045-166A-7FC4-012E17A9E4C7}"/>
              </a:ext>
            </a:extLst>
          </p:cNvPr>
          <p:cNvSpPr/>
          <p:nvPr/>
        </p:nvSpPr>
        <p:spPr>
          <a:xfrm>
            <a:off x="4389425" y="38049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5">
            <a:extLst>
              <a:ext uri="{FF2B5EF4-FFF2-40B4-BE49-F238E27FC236}">
                <a16:creationId xmlns:a16="http://schemas.microsoft.com/office/drawing/2014/main" id="{96CA77C0-BCF4-D254-CB8C-93042C80B540}"/>
              </a:ext>
            </a:extLst>
          </p:cNvPr>
          <p:cNvSpPr/>
          <p:nvPr/>
        </p:nvSpPr>
        <p:spPr>
          <a:xfrm>
            <a:off x="4499153" y="38552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23" name="Shape 36">
            <a:extLst>
              <a:ext uri="{FF2B5EF4-FFF2-40B4-BE49-F238E27FC236}">
                <a16:creationId xmlns:a16="http://schemas.microsoft.com/office/drawing/2014/main" id="{FD277F39-F433-6A6A-AB95-3B452CE83011}"/>
              </a:ext>
            </a:extLst>
          </p:cNvPr>
          <p:cNvSpPr/>
          <p:nvPr/>
        </p:nvSpPr>
        <p:spPr>
          <a:xfrm>
            <a:off x="6629705" y="3811497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7">
            <a:extLst>
              <a:ext uri="{FF2B5EF4-FFF2-40B4-BE49-F238E27FC236}">
                <a16:creationId xmlns:a16="http://schemas.microsoft.com/office/drawing/2014/main" id="{77CC5741-909D-E798-2297-CC8B2E5CEC18}"/>
              </a:ext>
            </a:extLst>
          </p:cNvPr>
          <p:cNvSpPr/>
          <p:nvPr/>
        </p:nvSpPr>
        <p:spPr>
          <a:xfrm>
            <a:off x="6739433" y="38552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590.4 Mbps</a:t>
            </a:r>
            <a:endParaRPr lang="en-US" sz="1100" dirty="0"/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A18EF6FC-B224-31F7-B34B-583808311D7D}"/>
              </a:ext>
            </a:extLst>
          </p:cNvPr>
          <p:cNvSpPr/>
          <p:nvPr/>
        </p:nvSpPr>
        <p:spPr>
          <a:xfrm>
            <a:off x="4389425" y="41889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39">
            <a:extLst>
              <a:ext uri="{FF2B5EF4-FFF2-40B4-BE49-F238E27FC236}">
                <a16:creationId xmlns:a16="http://schemas.microsoft.com/office/drawing/2014/main" id="{835BA1D4-553C-266F-4605-74A308A79762}"/>
              </a:ext>
            </a:extLst>
          </p:cNvPr>
          <p:cNvSpPr/>
          <p:nvPr/>
        </p:nvSpPr>
        <p:spPr>
          <a:xfrm>
            <a:off x="4499153" y="42392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127" name="Shape 40">
            <a:extLst>
              <a:ext uri="{FF2B5EF4-FFF2-40B4-BE49-F238E27FC236}">
                <a16:creationId xmlns:a16="http://schemas.microsoft.com/office/drawing/2014/main" id="{0DD10AFF-280D-8564-0FE7-303FB91C423A}"/>
              </a:ext>
            </a:extLst>
          </p:cNvPr>
          <p:cNvSpPr/>
          <p:nvPr/>
        </p:nvSpPr>
        <p:spPr>
          <a:xfrm>
            <a:off x="6629705" y="41889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41">
            <a:extLst>
              <a:ext uri="{FF2B5EF4-FFF2-40B4-BE49-F238E27FC236}">
                <a16:creationId xmlns:a16="http://schemas.microsoft.com/office/drawing/2014/main" id="{B4C4AFE8-497E-6AAE-7E7A-2F116CC337B8}"/>
              </a:ext>
            </a:extLst>
          </p:cNvPr>
          <p:cNvSpPr/>
          <p:nvPr/>
        </p:nvSpPr>
        <p:spPr>
          <a:xfrm>
            <a:off x="6739433" y="42392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0.0123 ms</a:t>
            </a:r>
            <a:endParaRPr lang="en-US" sz="1100" dirty="0"/>
          </a:p>
        </p:txBody>
      </p:sp>
      <p:sp>
        <p:nvSpPr>
          <p:cNvPr id="129" name="Shape 42">
            <a:extLst>
              <a:ext uri="{FF2B5EF4-FFF2-40B4-BE49-F238E27FC236}">
                <a16:creationId xmlns:a16="http://schemas.microsoft.com/office/drawing/2014/main" id="{EB26644B-AEEE-6C97-3A9E-6F07CD2B7A71}"/>
              </a:ext>
            </a:extLst>
          </p:cNvPr>
          <p:cNvSpPr/>
          <p:nvPr/>
        </p:nvSpPr>
        <p:spPr>
          <a:xfrm>
            <a:off x="4389425" y="45730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3">
            <a:extLst>
              <a:ext uri="{FF2B5EF4-FFF2-40B4-BE49-F238E27FC236}">
                <a16:creationId xmlns:a16="http://schemas.microsoft.com/office/drawing/2014/main" id="{FDFF6272-8863-E831-D287-23ED6A045860}"/>
              </a:ext>
            </a:extLst>
          </p:cNvPr>
          <p:cNvSpPr/>
          <p:nvPr/>
        </p:nvSpPr>
        <p:spPr>
          <a:xfrm>
            <a:off x="4499153" y="46233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131" name="Shape 44">
            <a:extLst>
              <a:ext uri="{FF2B5EF4-FFF2-40B4-BE49-F238E27FC236}">
                <a16:creationId xmlns:a16="http://schemas.microsoft.com/office/drawing/2014/main" id="{339776C7-A63B-1E4A-B3AE-E0EBA4D1F74B}"/>
              </a:ext>
            </a:extLst>
          </p:cNvPr>
          <p:cNvSpPr/>
          <p:nvPr/>
        </p:nvSpPr>
        <p:spPr>
          <a:xfrm>
            <a:off x="6629705" y="45730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45">
            <a:extLst>
              <a:ext uri="{FF2B5EF4-FFF2-40B4-BE49-F238E27FC236}">
                <a16:creationId xmlns:a16="http://schemas.microsoft.com/office/drawing/2014/main" id="{534B43EC-9CB7-BCEF-6C6E-74F35241C896}"/>
              </a:ext>
            </a:extLst>
          </p:cNvPr>
          <p:cNvSpPr/>
          <p:nvPr/>
        </p:nvSpPr>
        <p:spPr>
          <a:xfrm>
            <a:off x="6739433" y="46233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€34.39</a:t>
            </a:r>
            <a:endParaRPr lang="en-US" sz="1100" dirty="0"/>
          </a:p>
        </p:txBody>
      </p:sp>
      <p:sp>
        <p:nvSpPr>
          <p:cNvPr id="133" name="Shape 46">
            <a:extLst>
              <a:ext uri="{FF2B5EF4-FFF2-40B4-BE49-F238E27FC236}">
                <a16:creationId xmlns:a16="http://schemas.microsoft.com/office/drawing/2014/main" id="{BD016955-8FAC-DE45-63DF-0250CCBA6196}"/>
              </a:ext>
            </a:extLst>
          </p:cNvPr>
          <p:cNvSpPr/>
          <p:nvPr/>
        </p:nvSpPr>
        <p:spPr>
          <a:xfrm>
            <a:off x="4389425" y="49570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47">
            <a:extLst>
              <a:ext uri="{FF2B5EF4-FFF2-40B4-BE49-F238E27FC236}">
                <a16:creationId xmlns:a16="http://schemas.microsoft.com/office/drawing/2014/main" id="{408EC0A4-6DEA-027D-7960-D5DCCD48BAF7}"/>
              </a:ext>
            </a:extLst>
          </p:cNvPr>
          <p:cNvSpPr/>
          <p:nvPr/>
        </p:nvSpPr>
        <p:spPr>
          <a:xfrm>
            <a:off x="4499153" y="50073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135" name="Shape 48">
            <a:extLst>
              <a:ext uri="{FF2B5EF4-FFF2-40B4-BE49-F238E27FC236}">
                <a16:creationId xmlns:a16="http://schemas.microsoft.com/office/drawing/2014/main" id="{09777B1C-4029-33A0-CA38-D04498148FF7}"/>
              </a:ext>
            </a:extLst>
          </p:cNvPr>
          <p:cNvSpPr/>
          <p:nvPr/>
        </p:nvSpPr>
        <p:spPr>
          <a:xfrm>
            <a:off x="6629705" y="49570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49">
            <a:extLst>
              <a:ext uri="{FF2B5EF4-FFF2-40B4-BE49-F238E27FC236}">
                <a16:creationId xmlns:a16="http://schemas.microsoft.com/office/drawing/2014/main" id="{B7613BF9-6891-D1B0-B5C6-AB3337B6DD74}"/>
              </a:ext>
            </a:extLst>
          </p:cNvPr>
          <p:cNvSpPr/>
          <p:nvPr/>
        </p:nvSpPr>
        <p:spPr>
          <a:xfrm>
            <a:off x="6739433" y="5075936"/>
            <a:ext cx="357530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</a:t>
            </a:r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4.556 W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137" name="Shape 50">
            <a:extLst>
              <a:ext uri="{FF2B5EF4-FFF2-40B4-BE49-F238E27FC236}">
                <a16:creationId xmlns:a16="http://schemas.microsoft.com/office/drawing/2014/main" id="{E7FD36AE-6843-E544-A8AE-1CFB90FAABB4}"/>
              </a:ext>
            </a:extLst>
          </p:cNvPr>
          <p:cNvSpPr/>
          <p:nvPr/>
        </p:nvSpPr>
        <p:spPr>
          <a:xfrm>
            <a:off x="4389425" y="53411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51">
            <a:extLst>
              <a:ext uri="{FF2B5EF4-FFF2-40B4-BE49-F238E27FC236}">
                <a16:creationId xmlns:a16="http://schemas.microsoft.com/office/drawing/2014/main" id="{549E73AB-3E5C-C89B-D492-9EB9FD22A07C}"/>
              </a:ext>
            </a:extLst>
          </p:cNvPr>
          <p:cNvSpPr/>
          <p:nvPr/>
        </p:nvSpPr>
        <p:spPr>
          <a:xfrm>
            <a:off x="4499153" y="53914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139" name="Shape 52">
            <a:extLst>
              <a:ext uri="{FF2B5EF4-FFF2-40B4-BE49-F238E27FC236}">
                <a16:creationId xmlns:a16="http://schemas.microsoft.com/office/drawing/2014/main" id="{1BE2028E-0E98-1ABE-A03F-194D13F409E5}"/>
              </a:ext>
            </a:extLst>
          </p:cNvPr>
          <p:cNvSpPr/>
          <p:nvPr/>
        </p:nvSpPr>
        <p:spPr>
          <a:xfrm>
            <a:off x="6629705" y="53411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53">
            <a:extLst>
              <a:ext uri="{FF2B5EF4-FFF2-40B4-BE49-F238E27FC236}">
                <a16:creationId xmlns:a16="http://schemas.microsoft.com/office/drawing/2014/main" id="{B2AA6A3C-C72E-FA11-7BE3-E46E939C25C2}"/>
              </a:ext>
            </a:extLst>
          </p:cNvPr>
          <p:cNvSpPr/>
          <p:nvPr/>
        </p:nvSpPr>
        <p:spPr>
          <a:xfrm>
            <a:off x="6739433" y="53914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pic>
        <p:nvPicPr>
          <p:cNvPr id="141" name="Picture 2">
            <a:extLst>
              <a:ext uri="{FF2B5EF4-FFF2-40B4-BE49-F238E27FC236}">
                <a16:creationId xmlns:a16="http://schemas.microsoft.com/office/drawing/2014/main" id="{EE57AD11-1E4C-0874-2002-B83E89245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948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Shape 2">
            <a:extLst>
              <a:ext uri="{FF2B5EF4-FFF2-40B4-BE49-F238E27FC236}">
                <a16:creationId xmlns:a16="http://schemas.microsoft.com/office/drawing/2014/main" id="{2802DBC7-74AE-40AC-BBFE-FB02C84E7540}"/>
              </a:ext>
            </a:extLst>
          </p:cNvPr>
          <p:cNvSpPr/>
          <p:nvPr/>
        </p:nvSpPr>
        <p:spPr>
          <a:xfrm>
            <a:off x="3477260" y="1080008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chemeClr val="bg1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177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81160" y="32918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0EE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00032" y="4480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Factory-Ops • URLLC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Factory-Ops: all ranked offers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8368" y="1975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0.2, 0.5, 0.2, 0.1</a:t>
            </a:r>
            <a:endParaRPr lang="en-US" sz="1050" dirty="0"/>
          </a:p>
        </p:txBody>
      </p:sp>
      <p:sp>
        <p:nvSpPr>
          <p:cNvPr id="159" name="Shape 5">
            <a:extLst>
              <a:ext uri="{FF2B5EF4-FFF2-40B4-BE49-F238E27FC236}">
                <a16:creationId xmlns:a16="http://schemas.microsoft.com/office/drawing/2014/main" id="{49732B59-1B45-7A80-CC2C-8D9D5FC86C72}"/>
              </a:ext>
            </a:extLst>
          </p:cNvPr>
          <p:cNvSpPr/>
          <p:nvPr/>
        </p:nvSpPr>
        <p:spPr>
          <a:xfrm>
            <a:off x="638082" y="1234440"/>
            <a:ext cx="11553613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0" name="Text 6">
            <a:extLst>
              <a:ext uri="{FF2B5EF4-FFF2-40B4-BE49-F238E27FC236}">
                <a16:creationId xmlns:a16="http://schemas.microsoft.com/office/drawing/2014/main" id="{0778037B-7BCE-D897-C88B-313F52D877AD}"/>
              </a:ext>
            </a:extLst>
          </p:cNvPr>
          <p:cNvSpPr/>
          <p:nvPr/>
        </p:nvSpPr>
        <p:spPr>
          <a:xfrm>
            <a:off x="820963" y="1362456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80" b="1" dirty="0">
                <a:solidFill>
                  <a:srgbClr val="C0392B"/>
                </a:solidFill>
              </a:rPr>
              <a:t>User Intent: User wants a URLLC slice for factory operations with throughput (≥ 5), latency (≤ 2), cost (≤ 200), and energy (≤ 100) limits.</a:t>
            </a:r>
            <a:endParaRPr lang="en-US" sz="1180" dirty="0"/>
          </a:p>
        </p:txBody>
      </p:sp>
      <p:pic>
        <p:nvPicPr>
          <p:cNvPr id="161" name="Picture 2">
            <a:extLst>
              <a:ext uri="{FF2B5EF4-FFF2-40B4-BE49-F238E27FC236}">
                <a16:creationId xmlns:a16="http://schemas.microsoft.com/office/drawing/2014/main" id="{0E090753-98A9-7EE3-D8AF-41FAF12CA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292" y="21475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5" name="Shape 9">
            <a:extLst>
              <a:ext uri="{FF2B5EF4-FFF2-40B4-BE49-F238E27FC236}">
                <a16:creationId xmlns:a16="http://schemas.microsoft.com/office/drawing/2014/main" id="{E8F8F858-B1AD-56D4-EF01-0FD21DD33B0B}"/>
              </a:ext>
            </a:extLst>
          </p:cNvPr>
          <p:cNvSpPr/>
          <p:nvPr/>
        </p:nvSpPr>
        <p:spPr>
          <a:xfrm>
            <a:off x="665515" y="2331042"/>
            <a:ext cx="56692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6" name="Text 10">
            <a:extLst>
              <a:ext uri="{FF2B5EF4-FFF2-40B4-BE49-F238E27FC236}">
                <a16:creationId xmlns:a16="http://schemas.microsoft.com/office/drawing/2014/main" id="{CAEDBB8F-9D3A-3F8F-7E75-62A8C2D04CAC}"/>
              </a:ext>
            </a:extLst>
          </p:cNvPr>
          <p:cNvSpPr/>
          <p:nvPr/>
        </p:nvSpPr>
        <p:spPr>
          <a:xfrm>
            <a:off x="715807" y="240419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257" name="Shape 11">
            <a:extLst>
              <a:ext uri="{FF2B5EF4-FFF2-40B4-BE49-F238E27FC236}">
                <a16:creationId xmlns:a16="http://schemas.microsoft.com/office/drawing/2014/main" id="{771023DF-88A8-FAA0-62C3-A9FDE37AAA41}"/>
              </a:ext>
            </a:extLst>
          </p:cNvPr>
          <p:cNvSpPr/>
          <p:nvPr/>
        </p:nvSpPr>
        <p:spPr>
          <a:xfrm>
            <a:off x="1232443" y="2331042"/>
            <a:ext cx="74980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8" name="Text 12">
            <a:extLst>
              <a:ext uri="{FF2B5EF4-FFF2-40B4-BE49-F238E27FC236}">
                <a16:creationId xmlns:a16="http://schemas.microsoft.com/office/drawing/2014/main" id="{3C0B88EC-FE5E-430F-526C-3F569DB9B5DC}"/>
              </a:ext>
            </a:extLst>
          </p:cNvPr>
          <p:cNvSpPr/>
          <p:nvPr/>
        </p:nvSpPr>
        <p:spPr>
          <a:xfrm>
            <a:off x="1282735" y="240419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259" name="Shape 13">
            <a:extLst>
              <a:ext uri="{FF2B5EF4-FFF2-40B4-BE49-F238E27FC236}">
                <a16:creationId xmlns:a16="http://schemas.microsoft.com/office/drawing/2014/main" id="{607A4C19-F958-4165-7722-6C1C61FC62A9}"/>
              </a:ext>
            </a:extLst>
          </p:cNvPr>
          <p:cNvSpPr/>
          <p:nvPr/>
        </p:nvSpPr>
        <p:spPr>
          <a:xfrm>
            <a:off x="1982251" y="2331042"/>
            <a:ext cx="111556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0" name="Text 14">
            <a:extLst>
              <a:ext uri="{FF2B5EF4-FFF2-40B4-BE49-F238E27FC236}">
                <a16:creationId xmlns:a16="http://schemas.microsoft.com/office/drawing/2014/main" id="{EBF11AC3-D019-5B38-AA1F-99CA032B089D}"/>
              </a:ext>
            </a:extLst>
          </p:cNvPr>
          <p:cNvSpPr/>
          <p:nvPr/>
        </p:nvSpPr>
        <p:spPr>
          <a:xfrm>
            <a:off x="2032543" y="240419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261" name="Shape 15">
            <a:extLst>
              <a:ext uri="{FF2B5EF4-FFF2-40B4-BE49-F238E27FC236}">
                <a16:creationId xmlns:a16="http://schemas.microsoft.com/office/drawing/2014/main" id="{A576C590-C83C-B9A5-5CB8-B31DF56AF435}"/>
              </a:ext>
            </a:extLst>
          </p:cNvPr>
          <p:cNvSpPr/>
          <p:nvPr/>
        </p:nvSpPr>
        <p:spPr>
          <a:xfrm>
            <a:off x="3097819" y="2331042"/>
            <a:ext cx="1225296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2" name="Text 16">
            <a:extLst>
              <a:ext uri="{FF2B5EF4-FFF2-40B4-BE49-F238E27FC236}">
                <a16:creationId xmlns:a16="http://schemas.microsoft.com/office/drawing/2014/main" id="{74F23167-9C89-6079-0CAA-1D794EE1CD95}"/>
              </a:ext>
            </a:extLst>
          </p:cNvPr>
          <p:cNvSpPr/>
          <p:nvPr/>
        </p:nvSpPr>
        <p:spPr>
          <a:xfrm>
            <a:off x="3148111" y="240419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263" name="Shape 17">
            <a:extLst>
              <a:ext uri="{FF2B5EF4-FFF2-40B4-BE49-F238E27FC236}">
                <a16:creationId xmlns:a16="http://schemas.microsoft.com/office/drawing/2014/main" id="{B56CE2C8-F818-51E9-6D4D-43AC05CF4458}"/>
              </a:ext>
            </a:extLst>
          </p:cNvPr>
          <p:cNvSpPr/>
          <p:nvPr/>
        </p:nvSpPr>
        <p:spPr>
          <a:xfrm>
            <a:off x="4323115" y="2331042"/>
            <a:ext cx="987552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4" name="Text 18">
            <a:extLst>
              <a:ext uri="{FF2B5EF4-FFF2-40B4-BE49-F238E27FC236}">
                <a16:creationId xmlns:a16="http://schemas.microsoft.com/office/drawing/2014/main" id="{CDB997AC-77D5-75DA-C200-E6D23D7E95BB}"/>
              </a:ext>
            </a:extLst>
          </p:cNvPr>
          <p:cNvSpPr/>
          <p:nvPr/>
        </p:nvSpPr>
        <p:spPr>
          <a:xfrm>
            <a:off x="4373407" y="240419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65" name="Shape 19">
            <a:extLst>
              <a:ext uri="{FF2B5EF4-FFF2-40B4-BE49-F238E27FC236}">
                <a16:creationId xmlns:a16="http://schemas.microsoft.com/office/drawing/2014/main" id="{43E022BA-B8C4-0B26-77EF-BE7EFC7EDD46}"/>
              </a:ext>
            </a:extLst>
          </p:cNvPr>
          <p:cNvSpPr/>
          <p:nvPr/>
        </p:nvSpPr>
        <p:spPr>
          <a:xfrm>
            <a:off x="5310667" y="2331042"/>
            <a:ext cx="93268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6" name="Text 20">
            <a:extLst>
              <a:ext uri="{FF2B5EF4-FFF2-40B4-BE49-F238E27FC236}">
                <a16:creationId xmlns:a16="http://schemas.microsoft.com/office/drawing/2014/main" id="{AB33297F-9CBA-020C-35DC-3529CA139C3B}"/>
              </a:ext>
            </a:extLst>
          </p:cNvPr>
          <p:cNvSpPr/>
          <p:nvPr/>
        </p:nvSpPr>
        <p:spPr>
          <a:xfrm>
            <a:off x="5360959" y="240419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67" name="Shape 21">
            <a:extLst>
              <a:ext uri="{FF2B5EF4-FFF2-40B4-BE49-F238E27FC236}">
                <a16:creationId xmlns:a16="http://schemas.microsoft.com/office/drawing/2014/main" id="{4A493623-EE12-28FD-D157-5C4D58B439AD}"/>
              </a:ext>
            </a:extLst>
          </p:cNvPr>
          <p:cNvSpPr/>
          <p:nvPr/>
        </p:nvSpPr>
        <p:spPr>
          <a:xfrm>
            <a:off x="6243355" y="2331042"/>
            <a:ext cx="93268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8" name="Text 22">
            <a:extLst>
              <a:ext uri="{FF2B5EF4-FFF2-40B4-BE49-F238E27FC236}">
                <a16:creationId xmlns:a16="http://schemas.microsoft.com/office/drawing/2014/main" id="{7D33ECFE-2DD6-0831-E73F-28F2C80F37C1}"/>
              </a:ext>
            </a:extLst>
          </p:cNvPr>
          <p:cNvSpPr/>
          <p:nvPr/>
        </p:nvSpPr>
        <p:spPr>
          <a:xfrm>
            <a:off x="6293647" y="240419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69" name="Shape 23">
            <a:extLst>
              <a:ext uri="{FF2B5EF4-FFF2-40B4-BE49-F238E27FC236}">
                <a16:creationId xmlns:a16="http://schemas.microsoft.com/office/drawing/2014/main" id="{2018A56A-6CDD-2826-F360-B23FC48293A0}"/>
              </a:ext>
            </a:extLst>
          </p:cNvPr>
          <p:cNvSpPr/>
          <p:nvPr/>
        </p:nvSpPr>
        <p:spPr>
          <a:xfrm>
            <a:off x="7176043" y="2331042"/>
            <a:ext cx="74980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0" name="Text 24">
            <a:extLst>
              <a:ext uri="{FF2B5EF4-FFF2-40B4-BE49-F238E27FC236}">
                <a16:creationId xmlns:a16="http://schemas.microsoft.com/office/drawing/2014/main" id="{60C5740C-9E6C-9693-9C00-006FF6E26ACF}"/>
              </a:ext>
            </a:extLst>
          </p:cNvPr>
          <p:cNvSpPr/>
          <p:nvPr/>
        </p:nvSpPr>
        <p:spPr>
          <a:xfrm>
            <a:off x="7226335" y="240419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1" name="Shape 25">
            <a:extLst>
              <a:ext uri="{FF2B5EF4-FFF2-40B4-BE49-F238E27FC236}">
                <a16:creationId xmlns:a16="http://schemas.microsoft.com/office/drawing/2014/main" id="{577E32A7-7958-F6CF-BAD1-C9F6F54F041D}"/>
              </a:ext>
            </a:extLst>
          </p:cNvPr>
          <p:cNvSpPr/>
          <p:nvPr/>
        </p:nvSpPr>
        <p:spPr>
          <a:xfrm>
            <a:off x="671815" y="2728806"/>
            <a:ext cx="56692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>
              <a:solidFill>
                <a:srgbClr val="FFFFFF"/>
              </a:solidFill>
            </a:endParaRPr>
          </a:p>
        </p:txBody>
      </p:sp>
      <p:sp>
        <p:nvSpPr>
          <p:cNvPr id="272" name="Text 26">
            <a:extLst>
              <a:ext uri="{FF2B5EF4-FFF2-40B4-BE49-F238E27FC236}">
                <a16:creationId xmlns:a16="http://schemas.microsoft.com/office/drawing/2014/main" id="{574F219A-C5BF-6127-2589-C3FD11A33883}"/>
              </a:ext>
            </a:extLst>
          </p:cNvPr>
          <p:cNvSpPr/>
          <p:nvPr/>
        </p:nvSpPr>
        <p:spPr>
          <a:xfrm>
            <a:off x="715807" y="278824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3" name="Shape 27">
            <a:extLst>
              <a:ext uri="{FF2B5EF4-FFF2-40B4-BE49-F238E27FC236}">
                <a16:creationId xmlns:a16="http://schemas.microsoft.com/office/drawing/2014/main" id="{AFBDED58-72E8-46E6-3111-12A3186E008A}"/>
              </a:ext>
            </a:extLst>
          </p:cNvPr>
          <p:cNvSpPr/>
          <p:nvPr/>
        </p:nvSpPr>
        <p:spPr>
          <a:xfrm>
            <a:off x="1232443" y="2715090"/>
            <a:ext cx="74980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4" name="Text 28">
            <a:extLst>
              <a:ext uri="{FF2B5EF4-FFF2-40B4-BE49-F238E27FC236}">
                <a16:creationId xmlns:a16="http://schemas.microsoft.com/office/drawing/2014/main" id="{A1EC78CA-4C1E-7F0B-46D8-C5BF3FA4DAAC}"/>
              </a:ext>
            </a:extLst>
          </p:cNvPr>
          <p:cNvSpPr/>
          <p:nvPr/>
        </p:nvSpPr>
        <p:spPr>
          <a:xfrm>
            <a:off x="1282735" y="278824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5" name="Shape 29">
            <a:extLst>
              <a:ext uri="{FF2B5EF4-FFF2-40B4-BE49-F238E27FC236}">
                <a16:creationId xmlns:a16="http://schemas.microsoft.com/office/drawing/2014/main" id="{972585F7-99CC-7DE0-4B5E-168EEB24F345}"/>
              </a:ext>
            </a:extLst>
          </p:cNvPr>
          <p:cNvSpPr/>
          <p:nvPr/>
        </p:nvSpPr>
        <p:spPr>
          <a:xfrm>
            <a:off x="1957105" y="2731515"/>
            <a:ext cx="111556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6" name="Text 30">
            <a:extLst>
              <a:ext uri="{FF2B5EF4-FFF2-40B4-BE49-F238E27FC236}">
                <a16:creationId xmlns:a16="http://schemas.microsoft.com/office/drawing/2014/main" id="{13B51507-0F7B-A821-4F72-A6BF418325F9}"/>
              </a:ext>
            </a:extLst>
          </p:cNvPr>
          <p:cNvSpPr/>
          <p:nvPr/>
        </p:nvSpPr>
        <p:spPr>
          <a:xfrm>
            <a:off x="2032543" y="278824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0.8992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7" name="Shape 31">
            <a:extLst>
              <a:ext uri="{FF2B5EF4-FFF2-40B4-BE49-F238E27FC236}">
                <a16:creationId xmlns:a16="http://schemas.microsoft.com/office/drawing/2014/main" id="{63D78682-D799-CFE7-4264-8C0793108775}"/>
              </a:ext>
            </a:extLst>
          </p:cNvPr>
          <p:cNvSpPr/>
          <p:nvPr/>
        </p:nvSpPr>
        <p:spPr>
          <a:xfrm>
            <a:off x="3097819" y="2715090"/>
            <a:ext cx="1225296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8" name="Text 32">
            <a:extLst>
              <a:ext uri="{FF2B5EF4-FFF2-40B4-BE49-F238E27FC236}">
                <a16:creationId xmlns:a16="http://schemas.microsoft.com/office/drawing/2014/main" id="{40E02943-BC67-525F-CE68-466BD7B907C6}"/>
              </a:ext>
            </a:extLst>
          </p:cNvPr>
          <p:cNvSpPr/>
          <p:nvPr/>
        </p:nvSpPr>
        <p:spPr>
          <a:xfrm>
            <a:off x="3148111" y="278824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590.4</a:t>
            </a:r>
            <a:endParaRPr lang="en-US" sz="1050" dirty="0"/>
          </a:p>
        </p:txBody>
      </p:sp>
      <p:sp>
        <p:nvSpPr>
          <p:cNvPr id="279" name="Shape 33">
            <a:extLst>
              <a:ext uri="{FF2B5EF4-FFF2-40B4-BE49-F238E27FC236}">
                <a16:creationId xmlns:a16="http://schemas.microsoft.com/office/drawing/2014/main" id="{D0356585-E142-D92C-B404-9A4AD75236ED}"/>
              </a:ext>
            </a:extLst>
          </p:cNvPr>
          <p:cNvSpPr/>
          <p:nvPr/>
        </p:nvSpPr>
        <p:spPr>
          <a:xfrm>
            <a:off x="4323115" y="2715090"/>
            <a:ext cx="987552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0" name="Text 34">
            <a:extLst>
              <a:ext uri="{FF2B5EF4-FFF2-40B4-BE49-F238E27FC236}">
                <a16:creationId xmlns:a16="http://schemas.microsoft.com/office/drawing/2014/main" id="{6D1C18E8-667F-59DE-9193-88A820008B2B}"/>
              </a:ext>
            </a:extLst>
          </p:cNvPr>
          <p:cNvSpPr/>
          <p:nvPr/>
        </p:nvSpPr>
        <p:spPr>
          <a:xfrm>
            <a:off x="4373407" y="278824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0.0123</a:t>
            </a:r>
            <a:endParaRPr lang="en-US" sz="1050" dirty="0"/>
          </a:p>
        </p:txBody>
      </p:sp>
      <p:sp>
        <p:nvSpPr>
          <p:cNvPr id="281" name="Shape 35">
            <a:extLst>
              <a:ext uri="{FF2B5EF4-FFF2-40B4-BE49-F238E27FC236}">
                <a16:creationId xmlns:a16="http://schemas.microsoft.com/office/drawing/2014/main" id="{2CC15ECF-E0C1-2C3C-062D-2E4A15350312}"/>
              </a:ext>
            </a:extLst>
          </p:cNvPr>
          <p:cNvSpPr/>
          <p:nvPr/>
        </p:nvSpPr>
        <p:spPr>
          <a:xfrm>
            <a:off x="5310667" y="2715090"/>
            <a:ext cx="93268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2" name="Text 36">
            <a:extLst>
              <a:ext uri="{FF2B5EF4-FFF2-40B4-BE49-F238E27FC236}">
                <a16:creationId xmlns:a16="http://schemas.microsoft.com/office/drawing/2014/main" id="{30BCBBD8-1C05-FFFE-28FE-E75CEF3CB44F}"/>
              </a:ext>
            </a:extLst>
          </p:cNvPr>
          <p:cNvSpPr/>
          <p:nvPr/>
        </p:nvSpPr>
        <p:spPr>
          <a:xfrm>
            <a:off x="5360959" y="278824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34.39</a:t>
            </a:r>
            <a:endParaRPr lang="en-US" sz="1050" dirty="0"/>
          </a:p>
        </p:txBody>
      </p:sp>
      <p:sp>
        <p:nvSpPr>
          <p:cNvPr id="283" name="Shape 37">
            <a:extLst>
              <a:ext uri="{FF2B5EF4-FFF2-40B4-BE49-F238E27FC236}">
                <a16:creationId xmlns:a16="http://schemas.microsoft.com/office/drawing/2014/main" id="{45F0B337-54E8-4308-FC7A-D799EF2A0D1C}"/>
              </a:ext>
            </a:extLst>
          </p:cNvPr>
          <p:cNvSpPr/>
          <p:nvPr/>
        </p:nvSpPr>
        <p:spPr>
          <a:xfrm>
            <a:off x="6243355" y="2715090"/>
            <a:ext cx="93268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4" name="Text 38">
            <a:extLst>
              <a:ext uri="{FF2B5EF4-FFF2-40B4-BE49-F238E27FC236}">
                <a16:creationId xmlns:a16="http://schemas.microsoft.com/office/drawing/2014/main" id="{E91922AA-6516-A8CF-1DF2-E0E398854B53}"/>
              </a:ext>
            </a:extLst>
          </p:cNvPr>
          <p:cNvSpPr/>
          <p:nvPr/>
        </p:nvSpPr>
        <p:spPr>
          <a:xfrm>
            <a:off x="6293647" y="278824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4.556</a:t>
            </a:r>
            <a:endParaRPr lang="en-US" sz="1050" dirty="0"/>
          </a:p>
        </p:txBody>
      </p:sp>
      <p:sp>
        <p:nvSpPr>
          <p:cNvPr id="285" name="Shape 39">
            <a:extLst>
              <a:ext uri="{FF2B5EF4-FFF2-40B4-BE49-F238E27FC236}">
                <a16:creationId xmlns:a16="http://schemas.microsoft.com/office/drawing/2014/main" id="{1189FB12-A6AC-A10E-A148-373899171275}"/>
              </a:ext>
            </a:extLst>
          </p:cNvPr>
          <p:cNvSpPr/>
          <p:nvPr/>
        </p:nvSpPr>
        <p:spPr>
          <a:xfrm>
            <a:off x="7176043" y="2715090"/>
            <a:ext cx="74980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86" name="Text 40">
            <a:extLst>
              <a:ext uri="{FF2B5EF4-FFF2-40B4-BE49-F238E27FC236}">
                <a16:creationId xmlns:a16="http://schemas.microsoft.com/office/drawing/2014/main" id="{23F653FA-1956-1067-B079-35593C359AA2}"/>
              </a:ext>
            </a:extLst>
          </p:cNvPr>
          <p:cNvSpPr/>
          <p:nvPr/>
        </p:nvSpPr>
        <p:spPr>
          <a:xfrm>
            <a:off x="7226335" y="278824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87" name="Shape 41">
            <a:extLst>
              <a:ext uri="{FF2B5EF4-FFF2-40B4-BE49-F238E27FC236}">
                <a16:creationId xmlns:a16="http://schemas.microsoft.com/office/drawing/2014/main" id="{94AE88FC-3136-8E7D-C554-E5DECA6C4D6E}"/>
              </a:ext>
            </a:extLst>
          </p:cNvPr>
          <p:cNvSpPr/>
          <p:nvPr/>
        </p:nvSpPr>
        <p:spPr>
          <a:xfrm>
            <a:off x="665515" y="309913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8" name="Text 42">
            <a:extLst>
              <a:ext uri="{FF2B5EF4-FFF2-40B4-BE49-F238E27FC236}">
                <a16:creationId xmlns:a16="http://schemas.microsoft.com/office/drawing/2014/main" id="{57515AB1-755E-443F-0550-AA2199E8D83A}"/>
              </a:ext>
            </a:extLst>
          </p:cNvPr>
          <p:cNvSpPr/>
          <p:nvPr/>
        </p:nvSpPr>
        <p:spPr>
          <a:xfrm>
            <a:off x="715807" y="317229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89" name="Shape 43">
            <a:extLst>
              <a:ext uri="{FF2B5EF4-FFF2-40B4-BE49-F238E27FC236}">
                <a16:creationId xmlns:a16="http://schemas.microsoft.com/office/drawing/2014/main" id="{FD042FDD-7202-06E1-E1F7-17BAE0290260}"/>
              </a:ext>
            </a:extLst>
          </p:cNvPr>
          <p:cNvSpPr/>
          <p:nvPr/>
        </p:nvSpPr>
        <p:spPr>
          <a:xfrm>
            <a:off x="1232443" y="309913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90" name="Text 44">
            <a:extLst>
              <a:ext uri="{FF2B5EF4-FFF2-40B4-BE49-F238E27FC236}">
                <a16:creationId xmlns:a16="http://schemas.microsoft.com/office/drawing/2014/main" id="{FCEA6E72-1B3D-44AA-9239-94C099901D2E}"/>
              </a:ext>
            </a:extLst>
          </p:cNvPr>
          <p:cNvSpPr/>
          <p:nvPr/>
        </p:nvSpPr>
        <p:spPr>
          <a:xfrm>
            <a:off x="1282735" y="317229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91" name="Shape 45">
            <a:extLst>
              <a:ext uri="{FF2B5EF4-FFF2-40B4-BE49-F238E27FC236}">
                <a16:creationId xmlns:a16="http://schemas.microsoft.com/office/drawing/2014/main" id="{2E66ECCC-0537-04CB-A245-03C679712B0E}"/>
              </a:ext>
            </a:extLst>
          </p:cNvPr>
          <p:cNvSpPr/>
          <p:nvPr/>
        </p:nvSpPr>
        <p:spPr>
          <a:xfrm>
            <a:off x="1982251" y="309913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2" name="Text 46">
            <a:extLst>
              <a:ext uri="{FF2B5EF4-FFF2-40B4-BE49-F238E27FC236}">
                <a16:creationId xmlns:a16="http://schemas.microsoft.com/office/drawing/2014/main" id="{C4B334A7-691A-5751-FC36-E4AE9EDA70B1}"/>
              </a:ext>
            </a:extLst>
          </p:cNvPr>
          <p:cNvSpPr/>
          <p:nvPr/>
        </p:nvSpPr>
        <p:spPr>
          <a:xfrm>
            <a:off x="2032543" y="317229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0.8478</a:t>
            </a:r>
            <a:endParaRPr lang="en-US" sz="1050" dirty="0"/>
          </a:p>
        </p:txBody>
      </p:sp>
      <p:sp>
        <p:nvSpPr>
          <p:cNvPr id="293" name="Shape 47">
            <a:extLst>
              <a:ext uri="{FF2B5EF4-FFF2-40B4-BE49-F238E27FC236}">
                <a16:creationId xmlns:a16="http://schemas.microsoft.com/office/drawing/2014/main" id="{346120E0-90D5-AE1F-15F2-19B976B47E8E}"/>
              </a:ext>
            </a:extLst>
          </p:cNvPr>
          <p:cNvSpPr/>
          <p:nvPr/>
        </p:nvSpPr>
        <p:spPr>
          <a:xfrm>
            <a:off x="3097819" y="309913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4" name="Text 48">
            <a:extLst>
              <a:ext uri="{FF2B5EF4-FFF2-40B4-BE49-F238E27FC236}">
                <a16:creationId xmlns:a16="http://schemas.microsoft.com/office/drawing/2014/main" id="{901B7F2E-CC86-7577-4BA1-ABAE9560BFD6}"/>
              </a:ext>
            </a:extLst>
          </p:cNvPr>
          <p:cNvSpPr/>
          <p:nvPr/>
        </p:nvSpPr>
        <p:spPr>
          <a:xfrm>
            <a:off x="3148111" y="317229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590.4</a:t>
            </a:r>
            <a:endParaRPr lang="en-US" sz="1050" dirty="0"/>
          </a:p>
        </p:txBody>
      </p:sp>
      <p:sp>
        <p:nvSpPr>
          <p:cNvPr id="295" name="Shape 49">
            <a:extLst>
              <a:ext uri="{FF2B5EF4-FFF2-40B4-BE49-F238E27FC236}">
                <a16:creationId xmlns:a16="http://schemas.microsoft.com/office/drawing/2014/main" id="{C22B8C3B-F028-2B6A-90C0-BF9C503E412A}"/>
              </a:ext>
            </a:extLst>
          </p:cNvPr>
          <p:cNvSpPr/>
          <p:nvPr/>
        </p:nvSpPr>
        <p:spPr>
          <a:xfrm>
            <a:off x="4323115" y="309913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6" name="Text 50">
            <a:extLst>
              <a:ext uri="{FF2B5EF4-FFF2-40B4-BE49-F238E27FC236}">
                <a16:creationId xmlns:a16="http://schemas.microsoft.com/office/drawing/2014/main" id="{A801BC46-B160-548D-2D03-A46BD18FF478}"/>
              </a:ext>
            </a:extLst>
          </p:cNvPr>
          <p:cNvSpPr/>
          <p:nvPr/>
        </p:nvSpPr>
        <p:spPr>
          <a:xfrm>
            <a:off x="4373407" y="317229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0.0123</a:t>
            </a:r>
            <a:endParaRPr lang="en-US" sz="1050" dirty="0"/>
          </a:p>
        </p:txBody>
      </p:sp>
      <p:sp>
        <p:nvSpPr>
          <p:cNvPr id="297" name="Shape 51">
            <a:extLst>
              <a:ext uri="{FF2B5EF4-FFF2-40B4-BE49-F238E27FC236}">
                <a16:creationId xmlns:a16="http://schemas.microsoft.com/office/drawing/2014/main" id="{CA696067-346B-79FD-EE21-5B95E2EDFA58}"/>
              </a:ext>
            </a:extLst>
          </p:cNvPr>
          <p:cNvSpPr/>
          <p:nvPr/>
        </p:nvSpPr>
        <p:spPr>
          <a:xfrm>
            <a:off x="5310667" y="309913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8" name="Text 52">
            <a:extLst>
              <a:ext uri="{FF2B5EF4-FFF2-40B4-BE49-F238E27FC236}">
                <a16:creationId xmlns:a16="http://schemas.microsoft.com/office/drawing/2014/main" id="{0CAF80AD-D68E-07FE-0CAA-FD4C30329A0B}"/>
              </a:ext>
            </a:extLst>
          </p:cNvPr>
          <p:cNvSpPr/>
          <p:nvPr/>
        </p:nvSpPr>
        <p:spPr>
          <a:xfrm>
            <a:off x="5360959" y="317229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57.68</a:t>
            </a:r>
            <a:endParaRPr lang="en-US" sz="1050" dirty="0"/>
          </a:p>
        </p:txBody>
      </p:sp>
      <p:sp>
        <p:nvSpPr>
          <p:cNvPr id="299" name="Shape 53">
            <a:extLst>
              <a:ext uri="{FF2B5EF4-FFF2-40B4-BE49-F238E27FC236}">
                <a16:creationId xmlns:a16="http://schemas.microsoft.com/office/drawing/2014/main" id="{59072984-7379-BA02-409D-60CAD50F8409}"/>
              </a:ext>
            </a:extLst>
          </p:cNvPr>
          <p:cNvSpPr/>
          <p:nvPr/>
        </p:nvSpPr>
        <p:spPr>
          <a:xfrm>
            <a:off x="6243355" y="309913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0" name="Text 54">
            <a:extLst>
              <a:ext uri="{FF2B5EF4-FFF2-40B4-BE49-F238E27FC236}">
                <a16:creationId xmlns:a16="http://schemas.microsoft.com/office/drawing/2014/main" id="{4020DEF1-F10B-609A-D907-F1974DE6BC50}"/>
              </a:ext>
            </a:extLst>
          </p:cNvPr>
          <p:cNvSpPr/>
          <p:nvPr/>
        </p:nvSpPr>
        <p:spPr>
          <a:xfrm>
            <a:off x="6293647" y="317229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2.783</a:t>
            </a:r>
            <a:endParaRPr lang="en-US" sz="1050" dirty="0"/>
          </a:p>
        </p:txBody>
      </p:sp>
      <p:sp>
        <p:nvSpPr>
          <p:cNvPr id="301" name="Shape 55">
            <a:extLst>
              <a:ext uri="{FF2B5EF4-FFF2-40B4-BE49-F238E27FC236}">
                <a16:creationId xmlns:a16="http://schemas.microsoft.com/office/drawing/2014/main" id="{6C68A21B-E525-446D-3B54-AFEC2092CE14}"/>
              </a:ext>
            </a:extLst>
          </p:cNvPr>
          <p:cNvSpPr/>
          <p:nvPr/>
        </p:nvSpPr>
        <p:spPr>
          <a:xfrm>
            <a:off x="7176043" y="309913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2" name="Text 56">
            <a:extLst>
              <a:ext uri="{FF2B5EF4-FFF2-40B4-BE49-F238E27FC236}">
                <a16:creationId xmlns:a16="http://schemas.microsoft.com/office/drawing/2014/main" id="{6796D107-9423-CFFA-9852-BBE4C58BB853}"/>
              </a:ext>
            </a:extLst>
          </p:cNvPr>
          <p:cNvSpPr/>
          <p:nvPr/>
        </p:nvSpPr>
        <p:spPr>
          <a:xfrm>
            <a:off x="7226335" y="317229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03" name="Shape 57">
            <a:extLst>
              <a:ext uri="{FF2B5EF4-FFF2-40B4-BE49-F238E27FC236}">
                <a16:creationId xmlns:a16="http://schemas.microsoft.com/office/drawing/2014/main" id="{402A85F1-E043-918C-224C-07C5EF267183}"/>
              </a:ext>
            </a:extLst>
          </p:cNvPr>
          <p:cNvSpPr/>
          <p:nvPr/>
        </p:nvSpPr>
        <p:spPr>
          <a:xfrm>
            <a:off x="665515" y="348318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4" name="Text 58">
            <a:extLst>
              <a:ext uri="{FF2B5EF4-FFF2-40B4-BE49-F238E27FC236}">
                <a16:creationId xmlns:a16="http://schemas.microsoft.com/office/drawing/2014/main" id="{3CCB4072-E7FE-89A3-3411-EB321652AB00}"/>
              </a:ext>
            </a:extLst>
          </p:cNvPr>
          <p:cNvSpPr/>
          <p:nvPr/>
        </p:nvSpPr>
        <p:spPr>
          <a:xfrm>
            <a:off x="715807" y="355633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05" name="Shape 59">
            <a:extLst>
              <a:ext uri="{FF2B5EF4-FFF2-40B4-BE49-F238E27FC236}">
                <a16:creationId xmlns:a16="http://schemas.microsoft.com/office/drawing/2014/main" id="{0A3865C7-87AD-1E9E-7D1F-F4C94842EEA9}"/>
              </a:ext>
            </a:extLst>
          </p:cNvPr>
          <p:cNvSpPr/>
          <p:nvPr/>
        </p:nvSpPr>
        <p:spPr>
          <a:xfrm>
            <a:off x="1232443" y="348318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06" name="Text 60">
            <a:extLst>
              <a:ext uri="{FF2B5EF4-FFF2-40B4-BE49-F238E27FC236}">
                <a16:creationId xmlns:a16="http://schemas.microsoft.com/office/drawing/2014/main" id="{0441F684-7697-48D2-EC47-3D73A08C5EBC}"/>
              </a:ext>
            </a:extLst>
          </p:cNvPr>
          <p:cNvSpPr/>
          <p:nvPr/>
        </p:nvSpPr>
        <p:spPr>
          <a:xfrm>
            <a:off x="1282735" y="355633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307" name="Shape 61">
            <a:extLst>
              <a:ext uri="{FF2B5EF4-FFF2-40B4-BE49-F238E27FC236}">
                <a16:creationId xmlns:a16="http://schemas.microsoft.com/office/drawing/2014/main" id="{F9D9D236-72F3-F005-1B4C-4CE77FE8E447}"/>
              </a:ext>
            </a:extLst>
          </p:cNvPr>
          <p:cNvSpPr/>
          <p:nvPr/>
        </p:nvSpPr>
        <p:spPr>
          <a:xfrm>
            <a:off x="1982251" y="348318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8" name="Text 62">
            <a:extLst>
              <a:ext uri="{FF2B5EF4-FFF2-40B4-BE49-F238E27FC236}">
                <a16:creationId xmlns:a16="http://schemas.microsoft.com/office/drawing/2014/main" id="{A30D6A9B-A30C-4F5F-827D-031D16D829E4}"/>
              </a:ext>
            </a:extLst>
          </p:cNvPr>
          <p:cNvSpPr/>
          <p:nvPr/>
        </p:nvSpPr>
        <p:spPr>
          <a:xfrm>
            <a:off x="2032543" y="355633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0.8324</a:t>
            </a:r>
            <a:endParaRPr lang="en-US" sz="1050" dirty="0"/>
          </a:p>
        </p:txBody>
      </p:sp>
      <p:sp>
        <p:nvSpPr>
          <p:cNvPr id="309" name="Shape 63">
            <a:extLst>
              <a:ext uri="{FF2B5EF4-FFF2-40B4-BE49-F238E27FC236}">
                <a16:creationId xmlns:a16="http://schemas.microsoft.com/office/drawing/2014/main" id="{95EFA885-A208-2517-44C5-67905DCD6C13}"/>
              </a:ext>
            </a:extLst>
          </p:cNvPr>
          <p:cNvSpPr/>
          <p:nvPr/>
        </p:nvSpPr>
        <p:spPr>
          <a:xfrm>
            <a:off x="3097819" y="348318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0" name="Text 64">
            <a:extLst>
              <a:ext uri="{FF2B5EF4-FFF2-40B4-BE49-F238E27FC236}">
                <a16:creationId xmlns:a16="http://schemas.microsoft.com/office/drawing/2014/main" id="{217E2939-CEDB-F4E6-60CA-0790039A39DD}"/>
              </a:ext>
            </a:extLst>
          </p:cNvPr>
          <p:cNvSpPr/>
          <p:nvPr/>
        </p:nvSpPr>
        <p:spPr>
          <a:xfrm>
            <a:off x="3148111" y="355633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407.6</a:t>
            </a:r>
            <a:endParaRPr lang="en-US" sz="1050" dirty="0"/>
          </a:p>
        </p:txBody>
      </p:sp>
      <p:sp>
        <p:nvSpPr>
          <p:cNvPr id="311" name="Shape 65">
            <a:extLst>
              <a:ext uri="{FF2B5EF4-FFF2-40B4-BE49-F238E27FC236}">
                <a16:creationId xmlns:a16="http://schemas.microsoft.com/office/drawing/2014/main" id="{C4E1323E-C1FE-8D74-3CD1-3C0D3B3AEFEA}"/>
              </a:ext>
            </a:extLst>
          </p:cNvPr>
          <p:cNvSpPr/>
          <p:nvPr/>
        </p:nvSpPr>
        <p:spPr>
          <a:xfrm>
            <a:off x="4323115" y="348318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2" name="Text 66">
            <a:extLst>
              <a:ext uri="{FF2B5EF4-FFF2-40B4-BE49-F238E27FC236}">
                <a16:creationId xmlns:a16="http://schemas.microsoft.com/office/drawing/2014/main" id="{EEB5F09D-04F7-9B7E-6940-5DAFD7FE021E}"/>
              </a:ext>
            </a:extLst>
          </p:cNvPr>
          <p:cNvSpPr/>
          <p:nvPr/>
        </p:nvSpPr>
        <p:spPr>
          <a:xfrm>
            <a:off x="4373407" y="355633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0.0179</a:t>
            </a:r>
            <a:endParaRPr lang="en-US" sz="1050" dirty="0"/>
          </a:p>
        </p:txBody>
      </p:sp>
      <p:sp>
        <p:nvSpPr>
          <p:cNvPr id="313" name="Shape 67">
            <a:extLst>
              <a:ext uri="{FF2B5EF4-FFF2-40B4-BE49-F238E27FC236}">
                <a16:creationId xmlns:a16="http://schemas.microsoft.com/office/drawing/2014/main" id="{D422A05E-F588-45E3-5CD5-1F6E60F7D5E1}"/>
              </a:ext>
            </a:extLst>
          </p:cNvPr>
          <p:cNvSpPr/>
          <p:nvPr/>
        </p:nvSpPr>
        <p:spPr>
          <a:xfrm>
            <a:off x="5310667" y="348318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4" name="Text 68">
            <a:extLst>
              <a:ext uri="{FF2B5EF4-FFF2-40B4-BE49-F238E27FC236}">
                <a16:creationId xmlns:a16="http://schemas.microsoft.com/office/drawing/2014/main" id="{26978C0E-AA2D-58A1-4851-78D5039A8414}"/>
              </a:ext>
            </a:extLst>
          </p:cNvPr>
          <p:cNvSpPr/>
          <p:nvPr/>
        </p:nvSpPr>
        <p:spPr>
          <a:xfrm>
            <a:off x="5360959" y="355633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4.39</a:t>
            </a:r>
            <a:endParaRPr lang="en-US" sz="1050" dirty="0"/>
          </a:p>
        </p:txBody>
      </p:sp>
      <p:sp>
        <p:nvSpPr>
          <p:cNvPr id="315" name="Shape 69">
            <a:extLst>
              <a:ext uri="{FF2B5EF4-FFF2-40B4-BE49-F238E27FC236}">
                <a16:creationId xmlns:a16="http://schemas.microsoft.com/office/drawing/2014/main" id="{BD593084-6CCE-3D45-1B11-7C3F3038A4FF}"/>
              </a:ext>
            </a:extLst>
          </p:cNvPr>
          <p:cNvSpPr/>
          <p:nvPr/>
        </p:nvSpPr>
        <p:spPr>
          <a:xfrm>
            <a:off x="6243355" y="348318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16" name="Text 70">
            <a:extLst>
              <a:ext uri="{FF2B5EF4-FFF2-40B4-BE49-F238E27FC236}">
                <a16:creationId xmlns:a16="http://schemas.microsoft.com/office/drawing/2014/main" id="{429D0EC4-5C7C-175E-F1DC-2326FB701D91}"/>
              </a:ext>
            </a:extLst>
          </p:cNvPr>
          <p:cNvSpPr/>
          <p:nvPr/>
        </p:nvSpPr>
        <p:spPr>
          <a:xfrm>
            <a:off x="6293647" y="355633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0.981</a:t>
            </a:r>
            <a:endParaRPr lang="en-US" sz="1050" dirty="0"/>
          </a:p>
        </p:txBody>
      </p:sp>
      <p:sp>
        <p:nvSpPr>
          <p:cNvPr id="317" name="Shape 71">
            <a:extLst>
              <a:ext uri="{FF2B5EF4-FFF2-40B4-BE49-F238E27FC236}">
                <a16:creationId xmlns:a16="http://schemas.microsoft.com/office/drawing/2014/main" id="{DB7D96F0-FE30-59C4-7CCF-A97B4BFDAD98}"/>
              </a:ext>
            </a:extLst>
          </p:cNvPr>
          <p:cNvSpPr/>
          <p:nvPr/>
        </p:nvSpPr>
        <p:spPr>
          <a:xfrm>
            <a:off x="7176043" y="348318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8" name="Text 72">
            <a:extLst>
              <a:ext uri="{FF2B5EF4-FFF2-40B4-BE49-F238E27FC236}">
                <a16:creationId xmlns:a16="http://schemas.microsoft.com/office/drawing/2014/main" id="{F19C3313-7B85-8431-720C-A3D55E25DE17}"/>
              </a:ext>
            </a:extLst>
          </p:cNvPr>
          <p:cNvSpPr/>
          <p:nvPr/>
        </p:nvSpPr>
        <p:spPr>
          <a:xfrm>
            <a:off x="7226335" y="355633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19" name="Shape 73">
            <a:extLst>
              <a:ext uri="{FF2B5EF4-FFF2-40B4-BE49-F238E27FC236}">
                <a16:creationId xmlns:a16="http://schemas.microsoft.com/office/drawing/2014/main" id="{21F8E39E-DC41-3469-9B8D-CEBDA0E1E6E1}"/>
              </a:ext>
            </a:extLst>
          </p:cNvPr>
          <p:cNvSpPr/>
          <p:nvPr/>
        </p:nvSpPr>
        <p:spPr>
          <a:xfrm>
            <a:off x="665515" y="386723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0" name="Text 74">
            <a:extLst>
              <a:ext uri="{FF2B5EF4-FFF2-40B4-BE49-F238E27FC236}">
                <a16:creationId xmlns:a16="http://schemas.microsoft.com/office/drawing/2014/main" id="{CF05382B-120D-A64A-4151-86AC0644855C}"/>
              </a:ext>
            </a:extLst>
          </p:cNvPr>
          <p:cNvSpPr/>
          <p:nvPr/>
        </p:nvSpPr>
        <p:spPr>
          <a:xfrm>
            <a:off x="715807" y="394038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21" name="Shape 75">
            <a:extLst>
              <a:ext uri="{FF2B5EF4-FFF2-40B4-BE49-F238E27FC236}">
                <a16:creationId xmlns:a16="http://schemas.microsoft.com/office/drawing/2014/main" id="{E36C59E2-C866-310F-7F08-4653DF83676E}"/>
              </a:ext>
            </a:extLst>
          </p:cNvPr>
          <p:cNvSpPr/>
          <p:nvPr/>
        </p:nvSpPr>
        <p:spPr>
          <a:xfrm>
            <a:off x="1232443" y="386723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22" name="Text 76">
            <a:extLst>
              <a:ext uri="{FF2B5EF4-FFF2-40B4-BE49-F238E27FC236}">
                <a16:creationId xmlns:a16="http://schemas.microsoft.com/office/drawing/2014/main" id="{A35245EA-3A12-FA98-B8D8-433700608777}"/>
              </a:ext>
            </a:extLst>
          </p:cNvPr>
          <p:cNvSpPr/>
          <p:nvPr/>
        </p:nvSpPr>
        <p:spPr>
          <a:xfrm>
            <a:off x="1282735" y="394038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9</a:t>
            </a:r>
            <a:endParaRPr lang="en-US" sz="1050" dirty="0"/>
          </a:p>
        </p:txBody>
      </p:sp>
      <p:sp>
        <p:nvSpPr>
          <p:cNvPr id="323" name="Shape 77">
            <a:extLst>
              <a:ext uri="{FF2B5EF4-FFF2-40B4-BE49-F238E27FC236}">
                <a16:creationId xmlns:a16="http://schemas.microsoft.com/office/drawing/2014/main" id="{F239F815-27AA-CE8D-2309-7D4CDD8A6F30}"/>
              </a:ext>
            </a:extLst>
          </p:cNvPr>
          <p:cNvSpPr/>
          <p:nvPr/>
        </p:nvSpPr>
        <p:spPr>
          <a:xfrm>
            <a:off x="1982251" y="386723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24" name="Text 78">
            <a:extLst>
              <a:ext uri="{FF2B5EF4-FFF2-40B4-BE49-F238E27FC236}">
                <a16:creationId xmlns:a16="http://schemas.microsoft.com/office/drawing/2014/main" id="{854ACF21-3A2F-B74F-C719-A78EEFE95FC1}"/>
              </a:ext>
            </a:extLst>
          </p:cNvPr>
          <p:cNvSpPr/>
          <p:nvPr/>
        </p:nvSpPr>
        <p:spPr>
          <a:xfrm>
            <a:off x="2032543" y="394038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0.7671</a:t>
            </a:r>
            <a:endParaRPr lang="en-US" sz="1050" dirty="0"/>
          </a:p>
        </p:txBody>
      </p:sp>
      <p:sp>
        <p:nvSpPr>
          <p:cNvPr id="325" name="Shape 79">
            <a:extLst>
              <a:ext uri="{FF2B5EF4-FFF2-40B4-BE49-F238E27FC236}">
                <a16:creationId xmlns:a16="http://schemas.microsoft.com/office/drawing/2014/main" id="{AAC1792A-6CC9-9A7B-CDFC-4DD205A8E279}"/>
              </a:ext>
            </a:extLst>
          </p:cNvPr>
          <p:cNvSpPr/>
          <p:nvPr/>
        </p:nvSpPr>
        <p:spPr>
          <a:xfrm>
            <a:off x="3097819" y="386723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6" name="Text 80">
            <a:extLst>
              <a:ext uri="{FF2B5EF4-FFF2-40B4-BE49-F238E27FC236}">
                <a16:creationId xmlns:a16="http://schemas.microsoft.com/office/drawing/2014/main" id="{4B29CA73-836B-B9E1-25AE-019537466A4C}"/>
              </a:ext>
            </a:extLst>
          </p:cNvPr>
          <p:cNvSpPr/>
          <p:nvPr/>
        </p:nvSpPr>
        <p:spPr>
          <a:xfrm>
            <a:off x="3148111" y="394038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407.6</a:t>
            </a:r>
            <a:endParaRPr lang="en-US" sz="1050" dirty="0"/>
          </a:p>
        </p:txBody>
      </p:sp>
      <p:sp>
        <p:nvSpPr>
          <p:cNvPr id="327" name="Shape 81">
            <a:extLst>
              <a:ext uri="{FF2B5EF4-FFF2-40B4-BE49-F238E27FC236}">
                <a16:creationId xmlns:a16="http://schemas.microsoft.com/office/drawing/2014/main" id="{CE95C744-60B7-5903-41B5-55DA43E75947}"/>
              </a:ext>
            </a:extLst>
          </p:cNvPr>
          <p:cNvSpPr/>
          <p:nvPr/>
        </p:nvSpPr>
        <p:spPr>
          <a:xfrm>
            <a:off x="4323115" y="386723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8" name="Text 82">
            <a:extLst>
              <a:ext uri="{FF2B5EF4-FFF2-40B4-BE49-F238E27FC236}">
                <a16:creationId xmlns:a16="http://schemas.microsoft.com/office/drawing/2014/main" id="{351BB76D-7C54-0F08-D027-4F2EE6500D79}"/>
              </a:ext>
            </a:extLst>
          </p:cNvPr>
          <p:cNvSpPr/>
          <p:nvPr/>
        </p:nvSpPr>
        <p:spPr>
          <a:xfrm>
            <a:off x="4373407" y="394038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0.0179</a:t>
            </a:r>
            <a:endParaRPr lang="en-US" sz="1050" dirty="0"/>
          </a:p>
        </p:txBody>
      </p:sp>
      <p:sp>
        <p:nvSpPr>
          <p:cNvPr id="329" name="Shape 83">
            <a:extLst>
              <a:ext uri="{FF2B5EF4-FFF2-40B4-BE49-F238E27FC236}">
                <a16:creationId xmlns:a16="http://schemas.microsoft.com/office/drawing/2014/main" id="{2F8F94F0-04C7-EB66-FDD3-6AD683BB43FE}"/>
              </a:ext>
            </a:extLst>
          </p:cNvPr>
          <p:cNvSpPr/>
          <p:nvPr/>
        </p:nvSpPr>
        <p:spPr>
          <a:xfrm>
            <a:off x="5310667" y="386723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0" name="Text 84">
            <a:extLst>
              <a:ext uri="{FF2B5EF4-FFF2-40B4-BE49-F238E27FC236}">
                <a16:creationId xmlns:a16="http://schemas.microsoft.com/office/drawing/2014/main" id="{F998787F-688F-FFFB-97B4-811FCDC0CAC2}"/>
              </a:ext>
            </a:extLst>
          </p:cNvPr>
          <p:cNvSpPr/>
          <p:nvPr/>
        </p:nvSpPr>
        <p:spPr>
          <a:xfrm>
            <a:off x="5360959" y="394038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59.39</a:t>
            </a:r>
            <a:endParaRPr lang="en-US" sz="1050" dirty="0"/>
          </a:p>
        </p:txBody>
      </p:sp>
      <p:sp>
        <p:nvSpPr>
          <p:cNvPr id="331" name="Shape 85">
            <a:extLst>
              <a:ext uri="{FF2B5EF4-FFF2-40B4-BE49-F238E27FC236}">
                <a16:creationId xmlns:a16="http://schemas.microsoft.com/office/drawing/2014/main" id="{C948F700-9A2F-CD1F-94CB-CBB48264BF68}"/>
              </a:ext>
            </a:extLst>
          </p:cNvPr>
          <p:cNvSpPr/>
          <p:nvPr/>
        </p:nvSpPr>
        <p:spPr>
          <a:xfrm>
            <a:off x="6243355" y="386723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2" name="Text 86">
            <a:extLst>
              <a:ext uri="{FF2B5EF4-FFF2-40B4-BE49-F238E27FC236}">
                <a16:creationId xmlns:a16="http://schemas.microsoft.com/office/drawing/2014/main" id="{417C78BE-FAF8-A317-5376-431D0EA3328B}"/>
              </a:ext>
            </a:extLst>
          </p:cNvPr>
          <p:cNvSpPr/>
          <p:nvPr/>
        </p:nvSpPr>
        <p:spPr>
          <a:xfrm>
            <a:off x="6293647" y="394038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0.981</a:t>
            </a:r>
            <a:endParaRPr lang="en-US" sz="1050" dirty="0"/>
          </a:p>
        </p:txBody>
      </p:sp>
      <p:sp>
        <p:nvSpPr>
          <p:cNvPr id="333" name="Shape 87">
            <a:extLst>
              <a:ext uri="{FF2B5EF4-FFF2-40B4-BE49-F238E27FC236}">
                <a16:creationId xmlns:a16="http://schemas.microsoft.com/office/drawing/2014/main" id="{2E0D19EF-0707-F29F-3190-B1E8BD72DB5B}"/>
              </a:ext>
            </a:extLst>
          </p:cNvPr>
          <p:cNvSpPr/>
          <p:nvPr/>
        </p:nvSpPr>
        <p:spPr>
          <a:xfrm>
            <a:off x="7176043" y="386723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4" name="Text 88">
            <a:extLst>
              <a:ext uri="{FF2B5EF4-FFF2-40B4-BE49-F238E27FC236}">
                <a16:creationId xmlns:a16="http://schemas.microsoft.com/office/drawing/2014/main" id="{410A7CAB-5C9E-BF3F-895F-AC6FE44693D0}"/>
              </a:ext>
            </a:extLst>
          </p:cNvPr>
          <p:cNvSpPr/>
          <p:nvPr/>
        </p:nvSpPr>
        <p:spPr>
          <a:xfrm>
            <a:off x="7226335" y="394038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35" name="Shape 89">
            <a:extLst>
              <a:ext uri="{FF2B5EF4-FFF2-40B4-BE49-F238E27FC236}">
                <a16:creationId xmlns:a16="http://schemas.microsoft.com/office/drawing/2014/main" id="{4F34A491-ABF5-D974-13BD-3FCFA2CF17D1}"/>
              </a:ext>
            </a:extLst>
          </p:cNvPr>
          <p:cNvSpPr/>
          <p:nvPr/>
        </p:nvSpPr>
        <p:spPr>
          <a:xfrm>
            <a:off x="665515" y="4251282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6" name="Text 90">
            <a:extLst>
              <a:ext uri="{FF2B5EF4-FFF2-40B4-BE49-F238E27FC236}">
                <a16:creationId xmlns:a16="http://schemas.microsoft.com/office/drawing/2014/main" id="{830179F0-36D6-5B73-1A07-A39FE5C3E5FA}"/>
              </a:ext>
            </a:extLst>
          </p:cNvPr>
          <p:cNvSpPr/>
          <p:nvPr/>
        </p:nvSpPr>
        <p:spPr>
          <a:xfrm>
            <a:off x="715807" y="432443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37" name="Shape 91">
            <a:extLst>
              <a:ext uri="{FF2B5EF4-FFF2-40B4-BE49-F238E27FC236}">
                <a16:creationId xmlns:a16="http://schemas.microsoft.com/office/drawing/2014/main" id="{9031463A-8A23-4001-AA4A-6356D2DC4719}"/>
              </a:ext>
            </a:extLst>
          </p:cNvPr>
          <p:cNvSpPr/>
          <p:nvPr/>
        </p:nvSpPr>
        <p:spPr>
          <a:xfrm>
            <a:off x="1232443" y="4251282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38" name="Text 92">
            <a:extLst>
              <a:ext uri="{FF2B5EF4-FFF2-40B4-BE49-F238E27FC236}">
                <a16:creationId xmlns:a16="http://schemas.microsoft.com/office/drawing/2014/main" id="{02EADE7F-A0D0-F8C6-1566-702F6B45BA09}"/>
              </a:ext>
            </a:extLst>
          </p:cNvPr>
          <p:cNvSpPr/>
          <p:nvPr/>
        </p:nvSpPr>
        <p:spPr>
          <a:xfrm>
            <a:off x="1282735" y="432443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50" dirty="0"/>
          </a:p>
        </p:txBody>
      </p:sp>
      <p:sp>
        <p:nvSpPr>
          <p:cNvPr id="339" name="Shape 93">
            <a:extLst>
              <a:ext uri="{FF2B5EF4-FFF2-40B4-BE49-F238E27FC236}">
                <a16:creationId xmlns:a16="http://schemas.microsoft.com/office/drawing/2014/main" id="{48275CBC-8C96-EE11-922E-05EFD3D926E8}"/>
              </a:ext>
            </a:extLst>
          </p:cNvPr>
          <p:cNvSpPr/>
          <p:nvPr/>
        </p:nvSpPr>
        <p:spPr>
          <a:xfrm>
            <a:off x="1982251" y="4251282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0" name="Text 94">
            <a:extLst>
              <a:ext uri="{FF2B5EF4-FFF2-40B4-BE49-F238E27FC236}">
                <a16:creationId xmlns:a16="http://schemas.microsoft.com/office/drawing/2014/main" id="{FD961A04-C69C-53F9-FD89-0196EA57BAAD}"/>
              </a:ext>
            </a:extLst>
          </p:cNvPr>
          <p:cNvSpPr/>
          <p:nvPr/>
        </p:nvSpPr>
        <p:spPr>
          <a:xfrm>
            <a:off x="2032543" y="432443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0.7351</a:t>
            </a:r>
            <a:endParaRPr lang="en-US" sz="1050" dirty="0"/>
          </a:p>
        </p:txBody>
      </p:sp>
      <p:sp>
        <p:nvSpPr>
          <p:cNvPr id="341" name="Shape 95">
            <a:extLst>
              <a:ext uri="{FF2B5EF4-FFF2-40B4-BE49-F238E27FC236}">
                <a16:creationId xmlns:a16="http://schemas.microsoft.com/office/drawing/2014/main" id="{628C2C7B-9A89-0878-AAAD-8FACC896F24F}"/>
              </a:ext>
            </a:extLst>
          </p:cNvPr>
          <p:cNvSpPr/>
          <p:nvPr/>
        </p:nvSpPr>
        <p:spPr>
          <a:xfrm>
            <a:off x="3097819" y="4251282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2" name="Text 96">
            <a:extLst>
              <a:ext uri="{FF2B5EF4-FFF2-40B4-BE49-F238E27FC236}">
                <a16:creationId xmlns:a16="http://schemas.microsoft.com/office/drawing/2014/main" id="{BCA156B6-837B-C831-611F-D35149B33768}"/>
              </a:ext>
            </a:extLst>
          </p:cNvPr>
          <p:cNvSpPr/>
          <p:nvPr/>
        </p:nvSpPr>
        <p:spPr>
          <a:xfrm>
            <a:off x="3148111" y="432443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407.6</a:t>
            </a:r>
            <a:endParaRPr lang="en-US" sz="1050" dirty="0"/>
          </a:p>
        </p:txBody>
      </p:sp>
      <p:sp>
        <p:nvSpPr>
          <p:cNvPr id="343" name="Shape 97">
            <a:extLst>
              <a:ext uri="{FF2B5EF4-FFF2-40B4-BE49-F238E27FC236}">
                <a16:creationId xmlns:a16="http://schemas.microsoft.com/office/drawing/2014/main" id="{B976F62C-E973-0A1E-1BF7-61D82E871FEE}"/>
              </a:ext>
            </a:extLst>
          </p:cNvPr>
          <p:cNvSpPr/>
          <p:nvPr/>
        </p:nvSpPr>
        <p:spPr>
          <a:xfrm>
            <a:off x="4323115" y="4251282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4" name="Text 98">
            <a:extLst>
              <a:ext uri="{FF2B5EF4-FFF2-40B4-BE49-F238E27FC236}">
                <a16:creationId xmlns:a16="http://schemas.microsoft.com/office/drawing/2014/main" id="{1DF06925-DDCA-A55C-E3F4-B45492EAD259}"/>
              </a:ext>
            </a:extLst>
          </p:cNvPr>
          <p:cNvSpPr/>
          <p:nvPr/>
        </p:nvSpPr>
        <p:spPr>
          <a:xfrm>
            <a:off x="4373407" y="432443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0.0179</a:t>
            </a:r>
            <a:endParaRPr lang="en-US" sz="1050" dirty="0"/>
          </a:p>
        </p:txBody>
      </p:sp>
      <p:sp>
        <p:nvSpPr>
          <p:cNvPr id="345" name="Shape 99">
            <a:extLst>
              <a:ext uri="{FF2B5EF4-FFF2-40B4-BE49-F238E27FC236}">
                <a16:creationId xmlns:a16="http://schemas.microsoft.com/office/drawing/2014/main" id="{EF87909C-B9CB-C5C9-FFDC-6997D3673AFA}"/>
              </a:ext>
            </a:extLst>
          </p:cNvPr>
          <p:cNvSpPr/>
          <p:nvPr/>
        </p:nvSpPr>
        <p:spPr>
          <a:xfrm>
            <a:off x="5310667" y="4251282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6" name="Text 100">
            <a:extLst>
              <a:ext uri="{FF2B5EF4-FFF2-40B4-BE49-F238E27FC236}">
                <a16:creationId xmlns:a16="http://schemas.microsoft.com/office/drawing/2014/main" id="{106AF3CE-FB41-486B-87DE-357114A24663}"/>
              </a:ext>
            </a:extLst>
          </p:cNvPr>
          <p:cNvSpPr/>
          <p:nvPr/>
        </p:nvSpPr>
        <p:spPr>
          <a:xfrm>
            <a:off x="5360959" y="432443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66.22</a:t>
            </a:r>
            <a:endParaRPr lang="en-US" sz="1050" dirty="0"/>
          </a:p>
        </p:txBody>
      </p:sp>
      <p:sp>
        <p:nvSpPr>
          <p:cNvPr id="347" name="Shape 101">
            <a:extLst>
              <a:ext uri="{FF2B5EF4-FFF2-40B4-BE49-F238E27FC236}">
                <a16:creationId xmlns:a16="http://schemas.microsoft.com/office/drawing/2014/main" id="{328CC3B3-A378-D552-731C-8C27FB306788}"/>
              </a:ext>
            </a:extLst>
          </p:cNvPr>
          <p:cNvSpPr/>
          <p:nvPr/>
        </p:nvSpPr>
        <p:spPr>
          <a:xfrm>
            <a:off x="6243355" y="4251282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8" name="Text 102">
            <a:extLst>
              <a:ext uri="{FF2B5EF4-FFF2-40B4-BE49-F238E27FC236}">
                <a16:creationId xmlns:a16="http://schemas.microsoft.com/office/drawing/2014/main" id="{2FF71321-1D1B-F538-DF59-FF0A6D04863F}"/>
              </a:ext>
            </a:extLst>
          </p:cNvPr>
          <p:cNvSpPr/>
          <p:nvPr/>
        </p:nvSpPr>
        <p:spPr>
          <a:xfrm>
            <a:off x="6293647" y="432443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8.022</a:t>
            </a:r>
            <a:endParaRPr lang="en-US" sz="1050" dirty="0"/>
          </a:p>
        </p:txBody>
      </p:sp>
      <p:sp>
        <p:nvSpPr>
          <p:cNvPr id="349" name="Shape 103">
            <a:extLst>
              <a:ext uri="{FF2B5EF4-FFF2-40B4-BE49-F238E27FC236}">
                <a16:creationId xmlns:a16="http://schemas.microsoft.com/office/drawing/2014/main" id="{5E2BC6B5-AA23-23F6-1554-3AE60E91AF77}"/>
              </a:ext>
            </a:extLst>
          </p:cNvPr>
          <p:cNvSpPr/>
          <p:nvPr/>
        </p:nvSpPr>
        <p:spPr>
          <a:xfrm>
            <a:off x="7176043" y="4251282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0" name="Text 104">
            <a:extLst>
              <a:ext uri="{FF2B5EF4-FFF2-40B4-BE49-F238E27FC236}">
                <a16:creationId xmlns:a16="http://schemas.microsoft.com/office/drawing/2014/main" id="{F36008BD-7932-78F6-FA6F-8D4338FF3D0B}"/>
              </a:ext>
            </a:extLst>
          </p:cNvPr>
          <p:cNvSpPr/>
          <p:nvPr/>
        </p:nvSpPr>
        <p:spPr>
          <a:xfrm>
            <a:off x="7226335" y="432443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63" name="Shape 153">
            <a:extLst>
              <a:ext uri="{FF2B5EF4-FFF2-40B4-BE49-F238E27FC236}">
                <a16:creationId xmlns:a16="http://schemas.microsoft.com/office/drawing/2014/main" id="{DAF60D1F-4F10-9F3C-B7D5-0ABD40007F33}"/>
              </a:ext>
            </a:extLst>
          </p:cNvPr>
          <p:cNvSpPr/>
          <p:nvPr/>
        </p:nvSpPr>
        <p:spPr>
          <a:xfrm>
            <a:off x="8365505" y="228532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0EE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Text 154">
            <a:extLst>
              <a:ext uri="{FF2B5EF4-FFF2-40B4-BE49-F238E27FC236}">
                <a16:creationId xmlns:a16="http://schemas.microsoft.com/office/drawing/2014/main" id="{38ABA092-BC77-D3FF-6D22-B731DFF90EDA}"/>
              </a:ext>
            </a:extLst>
          </p:cNvPr>
          <p:cNvSpPr/>
          <p:nvPr/>
        </p:nvSpPr>
        <p:spPr>
          <a:xfrm>
            <a:off x="8575817" y="254135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>
              <a:solidFill>
                <a:srgbClr val="C0392B"/>
              </a:solidFill>
            </a:endParaRPr>
          </a:p>
        </p:txBody>
      </p:sp>
      <p:sp>
        <p:nvSpPr>
          <p:cNvPr id="365" name="Text 155">
            <a:extLst>
              <a:ext uri="{FF2B5EF4-FFF2-40B4-BE49-F238E27FC236}">
                <a16:creationId xmlns:a16="http://schemas.microsoft.com/office/drawing/2014/main" id="{2414850D-8B44-CDB9-E21E-1C4441C41038}"/>
              </a:ext>
            </a:extLst>
          </p:cNvPr>
          <p:cNvSpPr/>
          <p:nvPr/>
        </p:nvSpPr>
        <p:spPr>
          <a:xfrm>
            <a:off x="8575817" y="287968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4  •  0.8992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865B"/>
          </a:solidFill>
          <a:ln w="12700">
            <a:solidFill>
              <a:srgbClr val="188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2104" y="4292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865B"/>
                </a:solidFill>
              </a:rPr>
              <a:t>TOPSIS Algorithm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6720" y="995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IoT-Sense — best ranked offer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022080" y="7030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12700">
            <a:solidFill>
              <a:srgbClr val="1886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13520" y="8128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865B"/>
                </a:solidFill>
              </a:rPr>
              <a:t>slice = mMTC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6720" y="1526032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16540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18865B"/>
                </a:solidFill>
              </a:rPr>
              <a:t>User Intent: User wants an mMTC slice for IoT sensing with throughput (≥ 20), latency (≤ 10), cost (≤ 50),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09600" y="2284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522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0.7791</a:t>
            </a:r>
            <a:endParaRPr lang="en-US" sz="3100" dirty="0">
              <a:solidFill>
                <a:srgbClr val="1886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13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13 • Feasible: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41520" y="2294128"/>
            <a:ext cx="2240280" cy="384048"/>
          </a:xfrm>
          <a:prstGeom prst="rect">
            <a:avLst/>
          </a:prstGeom>
          <a:solidFill>
            <a:srgbClr val="18865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1248" y="23444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81800" y="2294128"/>
            <a:ext cx="3794760" cy="384048"/>
          </a:xfrm>
          <a:prstGeom prst="rect">
            <a:avLst/>
          </a:prstGeom>
          <a:solidFill>
            <a:srgbClr val="18865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91528" y="23444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41520" y="2678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51248" y="27284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81800" y="26781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91528" y="27284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41520" y="30622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51248" y="31125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81800" y="30622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91528" y="31125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13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41520" y="34462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51248" y="34965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81800" y="34462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91528" y="34965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0.7791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41520" y="38303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51248" y="38806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81800" y="38303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91528" y="38806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312.1 Mbps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41520" y="42143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51248" y="42646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81800" y="42143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91528" y="42646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0.154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41520" y="45984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51248" y="46487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81800" y="45984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91528" y="46487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€10.39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41520" y="49824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51248" y="50327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81800" y="49824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91528" y="50327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5.786 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41520" y="53665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51248" y="54168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81800" y="53665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91528" y="54168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F1B62407-2263-A42D-F4DF-59F7FD10791C}"/>
              </a:ext>
            </a:extLst>
          </p:cNvPr>
          <p:cNvSpPr/>
          <p:nvPr/>
        </p:nvSpPr>
        <p:spPr>
          <a:xfrm>
            <a:off x="36271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9F04BA77-EB78-7AA6-9280-CB639B2A1A5E}"/>
              </a:ext>
            </a:extLst>
          </p:cNvPr>
          <p:cNvSpPr/>
          <p:nvPr/>
        </p:nvSpPr>
        <p:spPr>
          <a:xfrm>
            <a:off x="52730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842AAEBC-148C-6721-7418-8EA0F4278388}"/>
              </a:ext>
            </a:extLst>
          </p:cNvPr>
          <p:cNvSpPr/>
          <p:nvPr/>
        </p:nvSpPr>
        <p:spPr>
          <a:xfrm>
            <a:off x="52730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20.0 Mbps</a:t>
            </a:r>
            <a:endParaRPr lang="en-US" dirty="0"/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537CEB09-8721-73F1-E0F8-40EC4D8D78C0}"/>
              </a:ext>
            </a:extLst>
          </p:cNvPr>
          <p:cNvSpPr/>
          <p:nvPr/>
        </p:nvSpPr>
        <p:spPr>
          <a:xfrm>
            <a:off x="319735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852550C2-9AEC-20B3-E27C-C3608BD642C3}"/>
              </a:ext>
            </a:extLst>
          </p:cNvPr>
          <p:cNvSpPr/>
          <p:nvPr/>
        </p:nvSpPr>
        <p:spPr>
          <a:xfrm>
            <a:off x="336194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B465B296-83DC-1ED6-A9F1-C68C710A23E2}"/>
              </a:ext>
            </a:extLst>
          </p:cNvPr>
          <p:cNvSpPr/>
          <p:nvPr/>
        </p:nvSpPr>
        <p:spPr>
          <a:xfrm>
            <a:off x="336194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10.0 ms</a:t>
            </a:r>
            <a:endParaRPr lang="en-US" dirty="0"/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AC97FC7D-81F4-5BF9-5FF8-4637991D9550}"/>
              </a:ext>
            </a:extLst>
          </p:cNvPr>
          <p:cNvSpPr/>
          <p:nvPr/>
        </p:nvSpPr>
        <p:spPr>
          <a:xfrm>
            <a:off x="603199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F048995D-AC8D-A164-829E-EBA052D35ADD}"/>
              </a:ext>
            </a:extLst>
          </p:cNvPr>
          <p:cNvSpPr/>
          <p:nvPr/>
        </p:nvSpPr>
        <p:spPr>
          <a:xfrm>
            <a:off x="619658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4F9E57EB-99BF-8E16-6708-83D32E538C63}"/>
              </a:ext>
            </a:extLst>
          </p:cNvPr>
          <p:cNvSpPr/>
          <p:nvPr/>
        </p:nvSpPr>
        <p:spPr>
          <a:xfrm>
            <a:off x="619658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€50.0</a:t>
            </a:r>
            <a:endParaRPr lang="en-US" dirty="0"/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0CA84FD9-19F6-8729-EED3-3DA3459F2ACE}"/>
              </a:ext>
            </a:extLst>
          </p:cNvPr>
          <p:cNvSpPr/>
          <p:nvPr/>
        </p:nvSpPr>
        <p:spPr>
          <a:xfrm>
            <a:off x="886663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9D84B4F3-1699-104E-2342-835811707A9C}"/>
              </a:ext>
            </a:extLst>
          </p:cNvPr>
          <p:cNvSpPr/>
          <p:nvPr/>
        </p:nvSpPr>
        <p:spPr>
          <a:xfrm>
            <a:off x="903122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B25CEC17-E713-EEBC-3918-6AAEBC8A1BA3}"/>
              </a:ext>
            </a:extLst>
          </p:cNvPr>
          <p:cNvSpPr/>
          <p:nvPr/>
        </p:nvSpPr>
        <p:spPr>
          <a:xfrm>
            <a:off x="903122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100.0 W</a:t>
            </a:r>
            <a:endParaRPr lang="en-US" dirty="0"/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7121279C-2AB8-1CBC-7D5E-CD85CE2F5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15" y="246888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0A749075-4CAE-17D0-2A3D-972AABD7E5CB}"/>
              </a:ext>
            </a:extLst>
          </p:cNvPr>
          <p:cNvSpPr/>
          <p:nvPr/>
        </p:nvSpPr>
        <p:spPr>
          <a:xfrm>
            <a:off x="4532376" y="1096264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18865B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chemeClr val="bg1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65B"/>
          </a:solidFill>
          <a:ln w="12700">
            <a:solidFill>
              <a:srgbClr val="188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281160" y="32918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8F1"/>
          </a:solidFill>
          <a:ln w="12700">
            <a:solidFill>
              <a:srgbClr val="1886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00032" y="4480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IoT-Sense • mMTC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IoT-Sense: all ranked offers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8368" y="1225296"/>
            <a:ext cx="10863072" cy="566928"/>
          </a:xfrm>
          <a:prstGeom prst="roundRect">
            <a:avLst>
              <a:gd name="adj" fmla="val 9677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389888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0" b="1" dirty="0">
                <a:solidFill>
                  <a:srgbClr val="18865B"/>
                </a:solidFill>
              </a:rPr>
              <a:t>User Intent: User wants an mMTC slice for IoT sensing with throughput (≥ 20), latency (≤ 10), cost (≤ 50), and energy (≤ 100) limits.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975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0.2, 0.2, 0.3, 0.3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56692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" y="23591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25296" y="2286000"/>
            <a:ext cx="74980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75588" y="23591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75104" y="2286000"/>
            <a:ext cx="111556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25396" y="23591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90672" y="2286000"/>
            <a:ext cx="1225296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40964" y="23591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15968" y="2286000"/>
            <a:ext cx="987552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66260" y="23591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286000"/>
            <a:ext cx="93268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3812" y="23591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6208" y="2286000"/>
            <a:ext cx="93268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86500" y="23591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68896" y="2286000"/>
            <a:ext cx="74980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19188" y="23591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670048"/>
            <a:ext cx="56692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8660" y="27432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25296" y="2670048"/>
            <a:ext cx="74980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75588" y="27432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75104" y="2670048"/>
            <a:ext cx="111556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25396" y="27432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0.7791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90672" y="2670048"/>
            <a:ext cx="1225296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40964" y="27432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312.1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15968" y="2670048"/>
            <a:ext cx="987552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66260" y="27432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0.154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3520" y="2670048"/>
            <a:ext cx="93268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53812" y="27432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10.39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36208" y="2670048"/>
            <a:ext cx="93268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86500" y="27432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5.786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68896" y="2670048"/>
            <a:ext cx="74980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19188" y="27432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" y="3054096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8660" y="31272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225296" y="3054096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275588" y="31272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975104" y="3054096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025396" y="312724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itchFamily="34" charset="0"/>
                <a:ea typeface="Aptos" pitchFamily="34" charset="-122"/>
                <a:cs typeface="Aptos" pitchFamily="34" charset="-120"/>
              </a:rPr>
              <a:t>0.7091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090672" y="3054096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40964" y="31272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305.2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15968" y="3054096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66260" y="312724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0.1575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03520" y="3054096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353812" y="31272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16.31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36208" y="3054096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86500" y="31272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168896" y="3054096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19188" y="31272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58368" y="3438144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8660" y="35112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225296" y="3438144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275588" y="35112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975104" y="3438144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025396" y="351129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0.6819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090672" y="3438144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140964" y="35112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305.2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315968" y="3438144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366260" y="351129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0.1575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303520" y="3438144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53812" y="35112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18.39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236208" y="3438144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86500" y="35112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0.431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168896" y="3438144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219188" y="35112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58368" y="3822192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08660" y="389534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225296" y="3822192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275588" y="38953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975104" y="3822192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025396" y="389534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0.6631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090672" y="3822192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140964" y="389534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229.1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315968" y="3822192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366260" y="389534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0.21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303520" y="3822192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353812" y="389534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18.39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236208" y="3822192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86500" y="389534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0.431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7168896" y="3822192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219188" y="38953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658368" y="4206240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08660" y="427939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1225296" y="4206240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1275588" y="427939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1975104" y="4206240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2025396" y="427939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0.5813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3090672" y="4206240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140964" y="427939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305.2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4315968" y="4206240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366260" y="427939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0.1575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5303520" y="4206240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353812" y="427939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19.79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6236208" y="4206240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286500" y="427939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16.939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7168896" y="4206240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219188" y="427939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8366760" y="2286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8503920" y="2542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/>
          <p:cNvSpPr/>
          <p:nvPr/>
        </p:nvSpPr>
        <p:spPr>
          <a:xfrm>
            <a:off x="8577072" y="2880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13  •  0.7791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692</Words>
  <Application>Microsoft Office PowerPoint</Application>
  <PresentationFormat>Widescreen</PresentationFormat>
  <Paragraphs>282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Al Rawass</dc:creator>
  <cp:lastModifiedBy>Adnan Al Rawass</cp:lastModifiedBy>
  <cp:revision>21</cp:revision>
  <dcterms:created xsi:type="dcterms:W3CDTF">2026-04-24T09:03:09Z</dcterms:created>
  <dcterms:modified xsi:type="dcterms:W3CDTF">2026-06-07T16:24:13Z</dcterms:modified>
</cp:coreProperties>
</file>